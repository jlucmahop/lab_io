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Lst>
  <p:sldSz cy="6858000" cx="12192000"/>
  <p:notesSz cx="6858000" cy="12192000"/>
  <p:embeddedFontLst>
    <p:embeddedFont>
      <p:font typeface="IBM Plex Sans"/>
      <p:regular r:id="rId51"/>
      <p:bold r:id="rId52"/>
      <p:italic r:id="rId53"/>
      <p:boldItalic r:id="rId54"/>
    </p:embeddedFont>
    <p:embeddedFont>
      <p:font typeface="Comfortaa"/>
      <p:regular r:id="rId55"/>
      <p:bold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C9794BF-300B-47EC-A758-20547E4869C1}">
  <a:tblStyle styleId="{2C9794BF-300B-47EC-A758-20547E4869C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IBMPlexSans-regular.fntdata"/><Relationship Id="rId50" Type="http://schemas.openxmlformats.org/officeDocument/2006/relationships/slide" Target="slides/slide45.xml"/><Relationship Id="rId53" Type="http://schemas.openxmlformats.org/officeDocument/2006/relationships/font" Target="fonts/IBMPlexSans-italic.fntdata"/><Relationship Id="rId52" Type="http://schemas.openxmlformats.org/officeDocument/2006/relationships/font" Target="fonts/IBMPlexSans-bold.fntdata"/><Relationship Id="rId11" Type="http://schemas.openxmlformats.org/officeDocument/2006/relationships/slide" Target="slides/slide6.xml"/><Relationship Id="rId55" Type="http://schemas.openxmlformats.org/officeDocument/2006/relationships/font" Target="fonts/Comfortaa-regular.fntdata"/><Relationship Id="rId10" Type="http://schemas.openxmlformats.org/officeDocument/2006/relationships/slide" Target="slides/slide5.xml"/><Relationship Id="rId54" Type="http://schemas.openxmlformats.org/officeDocument/2006/relationships/font" Target="fonts/IBMPlexSans-boldItalic.fntdata"/><Relationship Id="rId13" Type="http://schemas.openxmlformats.org/officeDocument/2006/relationships/slide" Target="slides/slide8.xml"/><Relationship Id="rId12" Type="http://schemas.openxmlformats.org/officeDocument/2006/relationships/slide" Target="slides/slide7.xml"/><Relationship Id="rId56" Type="http://schemas.openxmlformats.org/officeDocument/2006/relationships/font" Target="fonts/Comfortaa-bold.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indent="-228600" lvl="1" marL="9144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2pPr>
            <a:lvl3pPr indent="-228600" lvl="2" marL="13716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3pPr>
            <a:lvl4pPr indent="-228600" lvl="3" marL="18288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4pPr>
            <a:lvl5pPr indent="-228600" lvl="4" marL="22860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5pPr>
            <a:lvl6pPr indent="-228600" lvl="5" marL="27432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6pPr>
            <a:lvl7pPr indent="-228600" lvl="6" marL="32004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7pPr>
            <a:lvl8pPr indent="-228600" lvl="7" marL="36576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8pPr>
            <a:lvl9pPr indent="-228600" lvl="8" marL="41148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IBM Plex Sans"/>
                <a:ea typeface="IBM Plex Sans"/>
                <a:cs typeface="IBM Plex Sans"/>
                <a:sym typeface="IBM Plex Sans"/>
              </a:rPr>
              <a:t>‹#›</a:t>
            </a:fld>
            <a:endParaRPr b="0" i="0" sz="1200" u="none" cap="none" strike="noStrike">
              <a:solidFill>
                <a:schemeClr val="dk1"/>
              </a:solidFill>
              <a:latin typeface="IBM Plex Sans"/>
              <a:ea typeface="IBM Plex Sans"/>
              <a:cs typeface="IBM Plex Sans"/>
              <a:sym typeface="IBM Plex Sans"/>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 name="Shape 18"/>
        <p:cNvGrpSpPr/>
        <p:nvPr/>
      </p:nvGrpSpPr>
      <p:grpSpPr>
        <a:xfrm>
          <a:off x="0" y="0"/>
          <a:ext cx="0" cy="0"/>
          <a:chOff x="0" y="0"/>
          <a:chExt cx="0" cy="0"/>
        </a:xfrm>
      </p:grpSpPr>
      <p:sp>
        <p:nvSpPr>
          <p:cNvPr id="19" name="Google Shape;1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 name="Google Shape;2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Introduce yourself in one sentence, including your thesis topic. The course ends exactly where your research begins, so say that up front — it gives the two hours a destination.</a:t>
            </a:r>
            <a:endParaRPr/>
          </a:p>
        </p:txBody>
      </p:sp>
      <p:sp>
        <p:nvSpPr>
          <p:cNvPr id="21" name="Google Shape;21;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 name="Google Shape;3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State the assumed background out loud. Everything else is built from scratch, so nobody should feel lost; conversely, we will not re-explain page tables.</a:t>
            </a:r>
            <a:endParaRPr/>
          </a:p>
        </p:txBody>
      </p:sp>
      <p:sp>
        <p:nvSpPr>
          <p:cNvPr id="32" name="Google Shape;3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 name="Google Shape;4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guiding question of the whole course. Come back to this slide at the end and answer it together with the room, in one sentence.</a:t>
            </a:r>
            <a:endParaRPr/>
          </a:p>
        </p:txBody>
      </p:sp>
      <p:sp>
        <p:nvSpPr>
          <p:cNvPr id="49" name="Google Shape;4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Do the arithmetic on the board with them rather than showing it. The 120 ns figure comes back in exercise 2, so leave it on screen for a moment.</a:t>
            </a:r>
            <a:endParaRPr/>
          </a:p>
        </p:txBody>
      </p:sp>
      <p:sp>
        <p:nvSpPr>
          <p:cNvPr id="57" name="Google Shape;5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h441ffef4f128eb26_20_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 name="Google Shape;80;h441ffef4f128eb26_20_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Mention cache coherence (coherent on x86, not always on ARM) and NAPI for interrupt coalescing. Keep the five boxes visible: every later part of the course modifies one of them.</a:t>
            </a:r>
            <a:endParaRPr/>
          </a:p>
        </p:txBody>
      </p:sp>
      <p:sp>
        <p:nvSpPr>
          <p:cNvPr id="81" name="Google Shape;81;h441ffef4f128eb26_20_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h441ffef4f128eb26_20_2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 name="Google Shape;90;h441ffef4f128eb26_20_2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Mention cache coherence (coherent on x86, not always on ARM) and NAPI for interrupt coalescing. Keep the five boxes visible: every later part of the course modifies one of them.</a:t>
            </a:r>
            <a:endParaRPr/>
          </a:p>
        </p:txBody>
      </p:sp>
      <p:sp>
        <p:nvSpPr>
          <p:cNvPr id="91" name="Google Shape;91;h441ffef4f128eb26_20_2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h12b3359a612eabcc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h12b3359a612eabcc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Mention cache coherence (coherent on x86, not always on ARM) and NAPI for interrupt coalescing. Keep the five boxes visible: every later part of the course modifies one of them.</a:t>
            </a:r>
            <a:endParaRPr/>
          </a:p>
        </p:txBody>
      </p:sp>
      <p:sp>
        <p:nvSpPr>
          <p:cNvPr id="100" name="Google Shape;100;h12b3359a612eabcc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h441ffef4f128eb26_20_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h441ffef4f128eb26_20_1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Mention cache coherence (coherent on x86, not always on ARM) and NAPI for interrupt coalescing. Keep the five boxes visible: every later part of the course modifies one of them.</a:t>
            </a:r>
            <a:endParaRPr/>
          </a:p>
        </p:txBody>
      </p:sp>
      <p:sp>
        <p:nvSpPr>
          <p:cNvPr id="110" name="Google Shape;110;h441ffef4f128eb26_20_1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h441ffef4f128eb26_20_1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h441ffef4f128eb26_20_1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Mention cache coherence (coherent on x86, not always on ARM) and NAPI for interrupt coalescing. Keep the five boxes visible: every later part of the course modifies one of them.</a:t>
            </a:r>
            <a:endParaRPr/>
          </a:p>
        </p:txBody>
      </p:sp>
      <p:sp>
        <p:nvSpPr>
          <p:cNvPr id="120" name="Google Shape;120;h441ffef4f128eb26_20_1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h441ffef4f128eb26_20_1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h441ffef4f128eb26_20_1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Mention cache coherence (coherent on x86, not always on ARM) and NAPI for interrupt coalescing. Keep the five boxes visible: every later part of the course modifies one of them.</a:t>
            </a:r>
            <a:endParaRPr/>
          </a:p>
        </p:txBody>
      </p:sp>
      <p:sp>
        <p:nvSpPr>
          <p:cNvPr id="130" name="Google Shape;130;h441ffef4f128eb26_20_1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h441ffef4f128eb26_20_1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h441ffef4f128eb26_20_1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Mention cache coherence (coherent on x86, not always on ARM) and NAPI for interrupt coalescing. Keep the five boxes visible: every later part of the course modifies one of them.</a:t>
            </a:r>
            <a:endParaRPr/>
          </a:p>
        </p:txBody>
      </p:sp>
      <p:sp>
        <p:nvSpPr>
          <p:cNvPr id="140" name="Google Shape;140;h441ffef4f128eb26_20_1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h441ffef4f128eb26_20_1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h441ffef4f128eb26_20_1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Mention cache coherence (coherent on x86, not always on ARM) and NAPI for interrupt coalescing. Keep the five boxes visible: every later part of the course modifies one of them.</a:t>
            </a:r>
            <a:endParaRPr/>
          </a:p>
        </p:txBody>
      </p:sp>
      <p:sp>
        <p:nvSpPr>
          <p:cNvPr id="150" name="Google Shape;150;h441ffef4f128eb26_20_17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h12b3359a612eabcc_1_2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h12b3359a612eabcc_1_2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Mention cache coherence (coherent on x86, not always on ARM) and NAPI for interrupt coalescing. Keep the five boxes visible: every later part of the course modifies one of them.</a:t>
            </a:r>
            <a:endParaRPr/>
          </a:p>
        </p:txBody>
      </p:sp>
      <p:sp>
        <p:nvSpPr>
          <p:cNvPr id="160" name="Google Shape;160;h12b3359a612eabcc_1_2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h441ffef4f128eb26_20_2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h441ffef4f128eb26_20_20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Mention cache coherence (coherent on x86, not always on ARM) and NAPI for interrupt coalescing. Keep the five boxes visible: every later part of the course modifies one of them.</a:t>
            </a:r>
            <a:endParaRPr/>
          </a:p>
        </p:txBody>
      </p:sp>
      <p:sp>
        <p:nvSpPr>
          <p:cNvPr id="170" name="Google Shape;170;h441ffef4f128eb26_20_20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h12b3359a612eabcc_1_2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h12b3359a612eabcc_1_2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Mention cache coherence (coherent on x86, not always on ARM) and NAPI for interrupt coalescing. Keep the five boxes visible: every later part of the course modifies one of them.</a:t>
            </a:r>
            <a:endParaRPr/>
          </a:p>
        </p:txBody>
      </p:sp>
      <p:sp>
        <p:nvSpPr>
          <p:cNvPr id="181" name="Google Shape;181;h12b3359a612eabcc_1_2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Ask them for the cure before revealing the last line. They know the MMU, so they will find it. That makes the IOMMU feel inevitable rather than arbitrary.</a:t>
            </a:r>
            <a:endParaRPr/>
          </a:p>
        </p:txBody>
      </p:sp>
      <p:sp>
        <p:nvSpPr>
          <p:cNvPr id="194" name="Google Shape;19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That last line is the seed of part 4. Plant it now and refer back to it when we reach pinning: no page fault means no demand paging, which means the whole guest must stay resident.</a:t>
            </a:r>
            <a:endParaRPr/>
          </a:p>
        </p:txBody>
      </p:sp>
      <p:sp>
        <p:nvSpPr>
          <p:cNvPr id="213" name="Google Shape;21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h12b3359a612eabcc_1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h12b3359a612eabcc_1_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That last line is the seed of part 4. Plant it now and refer back to it when we reach pinning: no page fault means no demand paging, which means the whole guest must stay resident.</a:t>
            </a:r>
            <a:endParaRPr/>
          </a:p>
        </p:txBody>
      </p:sp>
      <p:sp>
        <p:nvSpPr>
          <p:cNvPr id="234" name="Google Shape;234;h12b3359a612eabcc_1_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h12b3359a612eabcc_1_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h12b3359a612eabcc_1_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tables, then page tables: the identity of the requester is what selects the address space. The two stages of scalable mode are exactly what makes hardware nesting possible in part 4 — announce it here.</a:t>
            </a:r>
            <a:endParaRPr/>
          </a:p>
        </p:txBody>
      </p:sp>
      <p:sp>
        <p:nvSpPr>
          <p:cNvPr id="249" name="Google Shape;249;h12b3359a612eabcc_1_6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 name="Google Shape;25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identity is still common on servers, purely for performance. That is quiz question 1. Also mention swiotlb: bounce buffers when the device cannot address the memory, and in confidential computing.</a:t>
            </a:r>
            <a:endParaRPr/>
          </a:p>
        </p:txBody>
      </p:sp>
      <p:sp>
        <p:nvSpPr>
          <p:cNvPr id="259" name="Google Shape;25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 name="Google Shape;27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Do not give orders of magnitude here — exercise 2 asks them to compute the trade-off themselves. Linux also exposes this per group through sysfs, and switches untrusted external ports to strict automatically.</a:t>
            </a:r>
            <a:endParaRPr/>
          </a:p>
        </p:txBody>
      </p:sp>
      <p:sp>
        <p:nvSpPr>
          <p:cNvPr id="272" name="Google Shape;27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 Performance: no walk, no invalidation; we lose translation and isolation. 2. No — they can reach each other peer-to-peer without the IOMMU, so the VM could reach the host. 3. Because it is just a memory write: without remapping, a device, and therefore a guest, can inject arbitrary interrupts into the host.</a:t>
            </a:r>
            <a:endParaRPr/>
          </a:p>
        </p:txBody>
      </p:sp>
      <p:sp>
        <p:nvSpPr>
          <p:cNvPr id="289" name="Google Shape;289;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h441ffef4f128eb26_20_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7" name="Google Shape;297;h441ffef4f128eb26_20_7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 Performance: no walk, no invalidation; we lose translation and isolation. 2. No — they can reach each other peer-to-peer without the IOMMU, so the VM could reach the host. 3. Because it is just a memory write: without remapping, a device, and therefore a guest, can inject arbitrary interrupts into the host.</a:t>
            </a:r>
            <a:endParaRPr/>
          </a:p>
        </p:txBody>
      </p:sp>
      <p:sp>
        <p:nvSpPr>
          <p:cNvPr id="298" name="Google Shape;298;h441ffef4f128eb26_20_7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7" name="Google Shape;30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Announce the comparison table at the end of this part: performance, isolation, live migration, overcommit. Ask them to predict each column as we go.</a:t>
            </a:r>
            <a:endParaRPr/>
          </a:p>
        </p:txBody>
      </p:sp>
      <p:sp>
        <p:nvSpPr>
          <p:cNvPr id="308" name="Google Shape;308;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2" name="Google Shape;332;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Key point for later: the device DMA here is just a memcpy inside QEMU's address space. No IOMMU needed, and guest memory stays fully managed by the host — swappable, overcommittable. That property is what we lose at stage 3.</a:t>
            </a:r>
            <a:endParaRPr/>
          </a:p>
        </p:txBody>
      </p:sp>
      <p:sp>
        <p:nvSpPr>
          <p:cNvPr id="333" name="Google Shape;333;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h441ffef4f128eb26_20_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3" name="Google Shape;343;h441ffef4f128eb26_20_9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Key point for later: the device DMA here is just a memcpy inside QEMU's address space. No IOMMU needed, and guest memory stays fully managed by the host — swappable, overcommittable. That property is what we lose at stage 3.</a:t>
            </a:r>
            <a:endParaRPr/>
          </a:p>
        </p:txBody>
      </p:sp>
      <p:sp>
        <p:nvSpPr>
          <p:cNvPr id="344" name="Google Shape;344;h441ffef4f128eb26_20_9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5" name="Google Shape;355;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With vhost, the kernel thread attaches to QEMU's address space and uses userspace accessors, so guest pages still fault normally and stay swappable. With vDPA a real device does the DMA again — the IOMMU and pinning come back. That is the bridge to passthrough.</a:t>
            </a:r>
            <a:endParaRPr/>
          </a:p>
        </p:txBody>
      </p:sp>
      <p:sp>
        <p:nvSpPr>
          <p:cNvPr id="356" name="Google Shape;356;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h12b3359a612eabcc_1_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7" name="Google Shape;377;h12b3359a612eabcc_1_9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With vhost, the kernel thread attaches to QEMU's address space and uses userspace accessors, so guest pages still fault normally and stay swappable. With vDPA a real device does the DMA again — the IOMMU and pinning come back. That is the bridge to passthrough.</a:t>
            </a:r>
            <a:endParaRPr/>
          </a:p>
        </p:txBody>
      </p:sp>
      <p:sp>
        <p:nvSpPr>
          <p:cNvPr id="378" name="Google Shape;378;h12b3359a612eabcc_1_9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h12b3359a612eabcc_1_1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7" name="Google Shape;387;h12b3359a612eabcc_1_1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With vhost, the kernel thread attaches to QEMU's address space and uses userspace accessors, so guest pages still fault normally and stay swappable. With vDPA a real device does the DMA again — the IOMMU and pinning come back. That is the bridge to passthrough.</a:t>
            </a:r>
            <a:endParaRPr/>
          </a:p>
        </p:txBody>
      </p:sp>
      <p:sp>
        <p:nvSpPr>
          <p:cNvPr id="388" name="Google Shape;388;h12b3359a612eabcc_1_1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h12b3359a612eabcc_1_1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8" name="Google Shape;398;h12b3359a612eabcc_1_1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With vhost, the kernel thread attaches to QEMU's address space and uses userspace accessors, so guest pages still fault normally and stay swappable. With vDPA a real device does the DMA again — the IOMMU and pinning come back. That is the bridge to passthrough.</a:t>
            </a:r>
            <a:endParaRPr/>
          </a:p>
        </p:txBody>
      </p:sp>
      <p:sp>
        <p:nvSpPr>
          <p:cNvPr id="399" name="Google Shape;399;h12b3359a612eabcc_1_1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8" name="Google Shape;40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Point out that stage 3 reuses exactly the GPA → HPA mapping the EPT already holds, but in a different table. Then ask the question and do NOT answer it: what happens if the host wants to swap a page of this VM? We return to it in part 4.</a:t>
            </a:r>
            <a:endParaRPr/>
          </a:p>
        </p:txBody>
      </p:sp>
      <p:sp>
        <p:nvSpPr>
          <p:cNvPr id="409" name="Google Shape;409;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h12b3359a612eabcc_1_1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0" name="Google Shape;430;h12b3359a612eabcc_1_1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Point out that stage 3 reuses exactly the GPA → HPA mapping the EPT already holds, but in a different table. Then ask the question and do NOT answer it: what happens if the host wants to swap a page of this VM? We return to it in part 4.</a:t>
            </a:r>
            <a:endParaRPr/>
          </a:p>
        </p:txBody>
      </p:sp>
      <p:sp>
        <p:nvSpPr>
          <p:cNvPr id="431" name="Google Shape;431;h12b3359a612eabcc_1_1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9" name="Google Shape;439;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SR-IOV is limited by the number of VFs wired into the silicon; S-IOV moves the split to the PASID so it scales. Note that mdev and SR-IOV are still VFIO underneath, so they inherit the pinning constraint of the next part.</a:t>
            </a:r>
            <a:endParaRPr/>
          </a:p>
        </p:txBody>
      </p:sp>
      <p:sp>
        <p:nvSpPr>
          <p:cNvPr id="440" name="Google Shape;440;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9" name="Google Shape;459;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Fill this table with the room column by column before showing it. They have seen all four stages, so they can derive most of it. Spend the time on the last column: why does a real device doing DMA force full residency?</a:t>
            </a:r>
            <a:endParaRPr/>
          </a:p>
        </p:txBody>
      </p:sp>
      <p:sp>
        <p:nvSpPr>
          <p:cNvPr id="460" name="Google Shape;460;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1" name="Google Shape;471;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Draw the parallel with nested paging on the CPU side (EPT over guest page tables): they already know it. The difference is that here the second stage lives in the IOMMU and the guest's tables are driven by a driver the host does not trust.</a:t>
            </a:r>
            <a:endParaRPr/>
          </a:p>
        </p:txBody>
      </p:sp>
      <p:sp>
        <p:nvSpPr>
          <p:cNvPr id="472" name="Google Shape;472;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1" name="Google Shape;491;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caching-mode exists precisely so the hypervisor gets a trap on map as well as unmap — normally VT-d only requires invalidation on unmap. Hardware nesting is reaching upstream QEMU through iommufd; mention that the exact option names have changed several times.</a:t>
            </a:r>
            <a:endParaRPr/>
          </a:p>
        </p:txBody>
      </p:sp>
      <p:sp>
        <p:nvSpPr>
          <p:cNvPr id="492" name="Google Shape;492;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9" name="Google Shape;509;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slide exercise 1 is built on. Make sure the recursive structure is clear before the break: the guest's table pointers are guest-physical, so resolving one of them is itself a host walk.</a:t>
            </a:r>
            <a:endParaRPr/>
          </a:p>
        </p:txBody>
      </p:sp>
      <p:sp>
        <p:nvSpPr>
          <p:cNvPr id="510" name="Google Shape;510;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h12b3359a612eabcc_1_1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7" name="Google Shape;527;h12b3359a612eabcc_1_1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slide exercise 1 is built on. Make sure the recursive structure is clear before the break: the guest's table pointers are guest-physical, so resolving one of them is itself a host walk.</a:t>
            </a:r>
            <a:endParaRPr/>
          </a:p>
        </p:txBody>
      </p:sp>
      <p:sp>
        <p:nvSpPr>
          <p:cNvPr id="528" name="Google Shape;528;h12b3359a612eabcc_1_17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7" name="Google Shape;537;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answers the question left open on the passthrough slide. The device may write to any mapped page at any time; if the page is absent the DMA simply fails and the packet is lost. So QEMU maps the whole guest RAM through VFIO and the kernel pins every page. A 64 GB VM costs 64 GB of host memory, whatever it actually uses.</a:t>
            </a:r>
            <a:endParaRPr/>
          </a:p>
        </p:txBody>
      </p:sp>
      <p:sp>
        <p:nvSpPr>
          <p:cNvPr id="538" name="Google Shape;538;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9" name="Google Shape;549;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business framing lands well here: a provider pays for 64 GB of RAM per VM, 24 hours a day, to serve a load that only needs it for about three. With emulation or virtio those idle pages would be swapped, ballooned or shared with another tenant; with passthrough none of that is possible. Say it as a cost question rather than a technical one, then flip to the next slide for the ways out. If you want a laugh, the line that works is: we are paying rent on an empty flat, and we are not even allowed to visit it.</a:t>
            </a:r>
            <a:endParaRPr/>
          </a:p>
        </p:txBody>
      </p:sp>
      <p:sp>
        <p:nvSpPr>
          <p:cNvPr id="550" name="Google Shape;550;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1" name="Google Shape;561;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or three minutes on your own work: the idea, one number, one limitation. Fill in the bracketed placeholders before the lecture. This is also the bridge into exercise 3, which asks them to design the same mechanism from scratch.</a:t>
            </a:r>
            <a:endParaRPr/>
          </a:p>
        </p:txBody>
      </p:sp>
      <p:sp>
        <p:nvSpPr>
          <p:cNvPr id="562" name="Google Shape;562;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1" name="Google Shape;581;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Go back to the guiding question from slide 3 and answer it in one sentence with the room. Then point out that the third line is not a settled fact but an active research area — which is where they could contribute.</a:t>
            </a:r>
            <a:endParaRPr/>
          </a:p>
        </p:txBody>
      </p:sp>
      <p:sp>
        <p:nvSpPr>
          <p:cNvPr id="582" name="Google Shape;582;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6" name="Google Shape;596;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If there is time left, open on the research side: which of the three ways out of pinning would they bet on, and why. It is a good way to end on a discussion rather than on a summary.</a:t>
            </a:r>
            <a:endParaRPr/>
          </a:p>
        </p:txBody>
      </p:sp>
      <p:sp>
        <p:nvSpPr>
          <p:cNvPr id="597" name="Google Shape;597;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6" name="Google Shape;606;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Suggested order: is the IOMMU on, what are the groups, which domain type, which driver owns the NIC. Then boot a VM with an emulated vIOMMU and show the map and invalidation traces scrolling during a ping, and count exits with perf kvm stat. If the room has no machines, a recorded terminal works just as well.</a:t>
            </a:r>
            <a:endParaRPr/>
          </a:p>
        </p:txBody>
      </p:sp>
      <p:sp>
        <p:nvSpPr>
          <p:cNvPr id="607" name="Google Shape;607;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5" name="Google Shape;615;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 Each of the 4 guest levels costs a 4-access host walk to locate the entry, plus reading it: 5 each. The final GPA costs 4 more. Total (4+1)(4+1) − 1 = 24. 2. Host walk drops to 3 levels: (4+1)(3+1) − 1 = 19. 3. A CPU hides latency with out-of-order execution and other threads; a NIC has small internal buffers, so a long miss becomes a dropped packet. Ring buffers are also scattered, so IOTLB locality is poor.</a:t>
            </a:r>
            <a:endParaRPr/>
          </a:p>
        </p:txBody>
      </p:sp>
      <p:sp>
        <p:nvSpPr>
          <p:cNvPr id="616" name="Google Shape;616;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5F3EE"/>
        </a:solidFill>
      </p:bgPr>
    </p:bg>
    <p:spTree>
      <p:nvGrpSpPr>
        <p:cNvPr id="13" name="Shape 13"/>
        <p:cNvGrpSpPr/>
        <p:nvPr/>
      </p:nvGrpSpPr>
      <p:grpSpPr>
        <a:xfrm>
          <a:off x="0" y="0"/>
          <a:ext cx="0" cy="0"/>
          <a:chOff x="0" y="0"/>
          <a:chExt cx="0" cy="0"/>
        </a:xfrm>
      </p:grpSpPr>
      <p:sp>
        <p:nvSpPr>
          <p:cNvPr id="14" name="Google Shape;14;p2"/>
          <p:cNvSpPr txBox="1"/>
          <p:nvPr>
            <p:ph type="title"/>
          </p:nvPr>
        </p:nvSpPr>
        <p:spPr>
          <a:xfrm>
            <a:off x="812800" y="1102358"/>
            <a:ext cx="10566400" cy="4191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1C2230"/>
              </a:buClr>
              <a:buSzPts val="3000"/>
              <a:buFont typeface="IBM Plex Sans"/>
              <a:buNone/>
              <a:defRPr sz="3000">
                <a:solidFill>
                  <a:srgbClr val="1C2230"/>
                </a:solidFill>
                <a:latin typeface="IBM Plex Sans"/>
                <a:ea typeface="IBM Plex Sans"/>
                <a:cs typeface="IBM Plex Sans"/>
                <a:sym typeface="IBM Plex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2"/>
          <p:cNvSpPr txBox="1"/>
          <p:nvPr>
            <p:ph idx="1" type="body"/>
          </p:nvPr>
        </p:nvSpPr>
        <p:spPr>
          <a:xfrm>
            <a:off x="812800" y="1826258"/>
            <a:ext cx="10566400" cy="4218942"/>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1C2230"/>
              </a:buClr>
              <a:buSzPts val="1600"/>
              <a:buNone/>
              <a:defRPr sz="1600">
                <a:solidFill>
                  <a:srgbClr val="1C2230"/>
                </a:solidFill>
                <a:latin typeface="IBM Plex Sans"/>
                <a:ea typeface="IBM Plex Sans"/>
                <a:cs typeface="IBM Plex Sans"/>
                <a:sym typeface="IBM Plex Sans"/>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6" name="Google Shape;16;p2"/>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7" name="Shape 1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E"/>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12800" y="1102358"/>
            <a:ext cx="10566400" cy="419100"/>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1C2230"/>
              </a:buClr>
              <a:buSzPts val="3000"/>
              <a:buFont typeface="IBM Plex Sans"/>
              <a:buNone/>
              <a:defRPr b="0" i="0" sz="3000" u="none" cap="none" strike="noStrike">
                <a:solidFill>
                  <a:srgbClr val="1C2230"/>
                </a:solidFill>
                <a:latin typeface="IBM Plex Sans"/>
                <a:ea typeface="IBM Plex Sans"/>
                <a:cs typeface="IBM Plex Sans"/>
                <a:sym typeface="IBM Plex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12800" y="1826258"/>
            <a:ext cx="10566400" cy="4218942"/>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1C2230"/>
              </a:buClr>
              <a:buSzPts val="1600"/>
              <a:buFont typeface="Arial"/>
              <a:buNone/>
              <a:defRPr b="0" i="0" sz="1600" u="none" cap="none" strike="noStrike">
                <a:solidFill>
                  <a:srgbClr val="1C2230"/>
                </a:solidFill>
                <a:latin typeface="IBM Plex Sans"/>
                <a:ea typeface="IBM Plex Sans"/>
                <a:cs typeface="IBM Plex Sans"/>
                <a:sym typeface="IBM Plex Sans"/>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IBM Plex Sans"/>
                <a:ea typeface="IBM Plex Sans"/>
                <a:cs typeface="IBM Plex Sans"/>
                <a:sym typeface="IBM Plex Sans"/>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IBM Plex Sans"/>
                <a:ea typeface="IBM Plex Sans"/>
                <a:cs typeface="IBM Plex Sans"/>
                <a:sym typeface="IBM Plex Sans"/>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9pPr>
          </a:lstStyle>
          <a:p/>
        </p:txBody>
      </p:sp>
      <p:sp>
        <p:nvSpPr>
          <p:cNvPr id="12" name="Google Shape;12;p1"/>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lvl="0" algn="r">
              <a:buNone/>
              <a:defRPr sz="1300">
                <a:solidFill>
                  <a:srgbClr val="1C2230"/>
                </a:solidFill>
                <a:latin typeface="IBM Plex Sans"/>
                <a:ea typeface="IBM Plex Sans"/>
                <a:cs typeface="IBM Plex Sans"/>
                <a:sym typeface="IBM Plex Sans"/>
              </a:defRPr>
            </a:lvl1pPr>
            <a:lvl2pPr lvl="1" algn="r">
              <a:buNone/>
              <a:defRPr sz="1300">
                <a:solidFill>
                  <a:srgbClr val="1C2230"/>
                </a:solidFill>
                <a:latin typeface="IBM Plex Sans"/>
                <a:ea typeface="IBM Plex Sans"/>
                <a:cs typeface="IBM Plex Sans"/>
                <a:sym typeface="IBM Plex Sans"/>
              </a:defRPr>
            </a:lvl2pPr>
            <a:lvl3pPr lvl="2" algn="r">
              <a:buNone/>
              <a:defRPr sz="1300">
                <a:solidFill>
                  <a:srgbClr val="1C2230"/>
                </a:solidFill>
                <a:latin typeface="IBM Plex Sans"/>
                <a:ea typeface="IBM Plex Sans"/>
                <a:cs typeface="IBM Plex Sans"/>
                <a:sym typeface="IBM Plex Sans"/>
              </a:defRPr>
            </a:lvl3pPr>
            <a:lvl4pPr lvl="3" algn="r">
              <a:buNone/>
              <a:defRPr sz="1300">
                <a:solidFill>
                  <a:srgbClr val="1C2230"/>
                </a:solidFill>
                <a:latin typeface="IBM Plex Sans"/>
                <a:ea typeface="IBM Plex Sans"/>
                <a:cs typeface="IBM Plex Sans"/>
                <a:sym typeface="IBM Plex Sans"/>
              </a:defRPr>
            </a:lvl4pPr>
            <a:lvl5pPr lvl="4" algn="r">
              <a:buNone/>
              <a:defRPr sz="1300">
                <a:solidFill>
                  <a:srgbClr val="1C2230"/>
                </a:solidFill>
                <a:latin typeface="IBM Plex Sans"/>
                <a:ea typeface="IBM Plex Sans"/>
                <a:cs typeface="IBM Plex Sans"/>
                <a:sym typeface="IBM Plex Sans"/>
              </a:defRPr>
            </a:lvl5pPr>
            <a:lvl6pPr lvl="5" algn="r">
              <a:buNone/>
              <a:defRPr sz="1300">
                <a:solidFill>
                  <a:srgbClr val="1C2230"/>
                </a:solidFill>
                <a:latin typeface="IBM Plex Sans"/>
                <a:ea typeface="IBM Plex Sans"/>
                <a:cs typeface="IBM Plex Sans"/>
                <a:sym typeface="IBM Plex Sans"/>
              </a:defRPr>
            </a:lvl6pPr>
            <a:lvl7pPr lvl="6" algn="r">
              <a:buNone/>
              <a:defRPr sz="1300">
                <a:solidFill>
                  <a:srgbClr val="1C2230"/>
                </a:solidFill>
                <a:latin typeface="IBM Plex Sans"/>
                <a:ea typeface="IBM Plex Sans"/>
                <a:cs typeface="IBM Plex Sans"/>
                <a:sym typeface="IBM Plex Sans"/>
              </a:defRPr>
            </a:lvl7pPr>
            <a:lvl8pPr lvl="7" algn="r">
              <a:buNone/>
              <a:defRPr sz="1300">
                <a:solidFill>
                  <a:srgbClr val="1C2230"/>
                </a:solidFill>
                <a:latin typeface="IBM Plex Sans"/>
                <a:ea typeface="IBM Plex Sans"/>
                <a:cs typeface="IBM Plex Sans"/>
                <a:sym typeface="IBM Plex Sans"/>
              </a:defRPr>
            </a:lvl8pPr>
            <a:lvl9pPr lvl="8" algn="r">
              <a:buNone/>
              <a:defRPr sz="1300">
                <a:solidFill>
                  <a:srgbClr val="1C2230"/>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5.png"/><Relationship Id="rId4" Type="http://schemas.openxmlformats.org/officeDocument/2006/relationships/image" Target="../media/image3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8.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6.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7.png"/><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3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3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130"/>
        </a:solidFill>
      </p:bgPr>
    </p:bg>
    <p:spTree>
      <p:nvGrpSpPr>
        <p:cNvPr id="22" name="Shape 22"/>
        <p:cNvGrpSpPr/>
        <p:nvPr/>
      </p:nvGrpSpPr>
      <p:grpSpPr>
        <a:xfrm>
          <a:off x="0" y="0"/>
          <a:ext cx="0" cy="0"/>
          <a:chOff x="0" y="0"/>
          <a:chExt cx="0" cy="0"/>
        </a:xfrm>
      </p:grpSpPr>
      <p:sp>
        <p:nvSpPr>
          <p:cNvPr id="23" name="Google Shape;23;p4"/>
          <p:cNvSpPr/>
          <p:nvPr/>
        </p:nvSpPr>
        <p:spPr>
          <a:xfrm>
            <a:off x="812800" y="812800"/>
            <a:ext cx="10883392" cy="2743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08A4B"/>
              </a:buClr>
              <a:buSzPts val="1400"/>
              <a:buFont typeface="IBM Plex Mono"/>
              <a:buNone/>
            </a:pPr>
            <a:r>
              <a:t/>
            </a:r>
            <a:endParaRPr i="0" sz="1400" u="none" cap="none" strike="noStrike">
              <a:solidFill>
                <a:schemeClr val="dk1"/>
              </a:solidFill>
              <a:latin typeface="Comfortaa"/>
              <a:ea typeface="Comfortaa"/>
              <a:cs typeface="Comfortaa"/>
              <a:sym typeface="Comfortaa"/>
            </a:endParaRPr>
          </a:p>
        </p:txBody>
      </p:sp>
      <p:sp>
        <p:nvSpPr>
          <p:cNvPr id="24" name="Google Shape;24;p4"/>
          <p:cNvSpPr txBox="1"/>
          <p:nvPr>
            <p:ph type="title"/>
          </p:nvPr>
        </p:nvSpPr>
        <p:spPr>
          <a:xfrm>
            <a:off x="812800" y="2842260"/>
            <a:ext cx="10883392" cy="665480"/>
          </a:xfrm>
          <a:prstGeom prst="rect">
            <a:avLst/>
          </a:prstGeom>
          <a:noFill/>
          <a:ln>
            <a:noFill/>
          </a:ln>
        </p:spPr>
        <p:txBody>
          <a:bodyPr anchorCtr="0" anchor="t" bIns="0" lIns="0" spcFirstLastPara="1" rIns="0" wrap="square" tIns="0">
            <a:normAutofit fontScale="90000"/>
          </a:bodyPr>
          <a:lstStyle/>
          <a:p>
            <a:pPr indent="0" lvl="0" marL="0" rtl="0" algn="l">
              <a:lnSpc>
                <a:spcPct val="104999"/>
              </a:lnSpc>
              <a:spcBef>
                <a:spcPts val="0"/>
              </a:spcBef>
              <a:spcAft>
                <a:spcPts val="0"/>
              </a:spcAft>
              <a:buClr>
                <a:srgbClr val="F2EFE8"/>
              </a:buClr>
              <a:buSzPct val="100000"/>
              <a:buFont typeface="IBM Plex Sans"/>
              <a:buNone/>
            </a:pPr>
            <a:r>
              <a:rPr i="0" lang="en-US" sz="4800">
                <a:solidFill>
                  <a:srgbClr val="F2EFE8"/>
                </a:solidFill>
                <a:latin typeface="Comfortaa"/>
                <a:ea typeface="Comfortaa"/>
                <a:cs typeface="Comfortaa"/>
                <a:sym typeface="Comfortaa"/>
              </a:rPr>
              <a:t>Device Virtualization</a:t>
            </a:r>
            <a:endParaRPr sz="4800">
              <a:latin typeface="Comfortaa"/>
              <a:ea typeface="Comfortaa"/>
              <a:cs typeface="Comfortaa"/>
              <a:sym typeface="Comfortaa"/>
            </a:endParaRPr>
          </a:p>
        </p:txBody>
      </p:sp>
      <p:sp>
        <p:nvSpPr>
          <p:cNvPr id="25" name="Google Shape;25;p4"/>
          <p:cNvSpPr/>
          <p:nvPr/>
        </p:nvSpPr>
        <p:spPr>
          <a:xfrm>
            <a:off x="812800" y="3685540"/>
            <a:ext cx="10883392" cy="3556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C9C4B8"/>
              </a:buClr>
              <a:buSzPts val="2000"/>
              <a:buFont typeface="IBM Plex Sans"/>
              <a:buNone/>
            </a:pPr>
            <a:r>
              <a:rPr i="0" lang="en-US" sz="2000" u="none" cap="none" strike="noStrike">
                <a:solidFill>
                  <a:srgbClr val="C9C4B8"/>
                </a:solidFill>
                <a:latin typeface="Comfortaa"/>
                <a:ea typeface="Comfortaa"/>
                <a:cs typeface="Comfortaa"/>
                <a:sym typeface="Comfortaa"/>
              </a:rPr>
              <a:t>DMA, the IOMMU, and address translation</a:t>
            </a:r>
            <a:endParaRPr i="0" sz="2000" u="none" cap="none" strike="noStrike">
              <a:solidFill>
                <a:schemeClr val="dk1"/>
              </a:solidFill>
              <a:latin typeface="Comfortaa"/>
              <a:ea typeface="Comfortaa"/>
              <a:cs typeface="Comfortaa"/>
              <a:sym typeface="Comfortaa"/>
            </a:endParaRPr>
          </a:p>
        </p:txBody>
      </p:sp>
      <p:sp>
        <p:nvSpPr>
          <p:cNvPr id="26" name="Google Shape;26;p4"/>
          <p:cNvSpPr/>
          <p:nvPr/>
        </p:nvSpPr>
        <p:spPr>
          <a:xfrm>
            <a:off x="812800" y="5796280"/>
            <a:ext cx="10883392" cy="2743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9C4B8"/>
              </a:buClr>
              <a:buSzPts val="1400"/>
              <a:buFont typeface="IBM Plex Sans"/>
              <a:buNone/>
            </a:pPr>
            <a:r>
              <a:rPr i="0" lang="en-US" sz="1400" u="none" cap="none" strike="noStrike">
                <a:solidFill>
                  <a:srgbClr val="C9C4B8"/>
                </a:solidFill>
                <a:latin typeface="Comfortaa"/>
                <a:ea typeface="Comfortaa"/>
                <a:cs typeface="Comfortaa"/>
                <a:sym typeface="Comfortaa"/>
              </a:rPr>
              <a:t>Luc </a:t>
            </a:r>
            <a:r>
              <a:rPr lang="en-US">
                <a:solidFill>
                  <a:srgbClr val="C9C4B8"/>
                </a:solidFill>
                <a:latin typeface="Comfortaa"/>
                <a:ea typeface="Comfortaa"/>
                <a:cs typeface="Comfortaa"/>
                <a:sym typeface="Comfortaa"/>
              </a:rPr>
              <a:t>MAHOP</a:t>
            </a:r>
            <a:r>
              <a:rPr i="0" lang="en-US" sz="1400" u="none" cap="none" strike="noStrike">
                <a:solidFill>
                  <a:srgbClr val="C9C4B8"/>
                </a:solidFill>
                <a:latin typeface="Comfortaa"/>
                <a:ea typeface="Comfortaa"/>
                <a:cs typeface="Comfortaa"/>
                <a:sym typeface="Comfortaa"/>
              </a:rPr>
              <a:t> · PhD candidate, Université Grenoble Alpes · </a:t>
            </a:r>
            <a:r>
              <a:rPr lang="en-US">
                <a:solidFill>
                  <a:srgbClr val="C9C4B8"/>
                </a:solidFill>
                <a:latin typeface="Comfortaa"/>
                <a:ea typeface="Comfortaa"/>
                <a:cs typeface="Comfortaa"/>
                <a:sym typeface="Comfortaa"/>
              </a:rPr>
              <a:t>16th October 2026</a:t>
            </a:r>
            <a:endParaRPr i="0" sz="1400" u="none" cap="none" strike="noStrike">
              <a:solidFill>
                <a:schemeClr val="dk1"/>
              </a:solidFill>
              <a:latin typeface="Comfortaa"/>
              <a:ea typeface="Comfortaa"/>
              <a:cs typeface="Comfortaa"/>
              <a:sym typeface="Comfortaa"/>
            </a:endParaRPr>
          </a:p>
        </p:txBody>
      </p:sp>
      <p:pic>
        <p:nvPicPr>
          <p:cNvPr id="27" name="Google Shape;27;p4"/>
          <p:cNvPicPr preferRelativeResize="0"/>
          <p:nvPr/>
        </p:nvPicPr>
        <p:blipFill>
          <a:blip r:embed="rId3">
            <a:alphaModFix/>
          </a:blip>
          <a:stretch>
            <a:fillRect/>
          </a:stretch>
        </p:blipFill>
        <p:spPr>
          <a:xfrm>
            <a:off x="812798" y="669700"/>
            <a:ext cx="1854425" cy="940500"/>
          </a:xfrm>
          <a:prstGeom prst="rect">
            <a:avLst/>
          </a:prstGeom>
          <a:noFill/>
          <a:ln>
            <a:noFill/>
          </a:ln>
        </p:spPr>
      </p:pic>
      <p:pic>
        <p:nvPicPr>
          <p:cNvPr id="28" name="Google Shape;28;p4"/>
          <p:cNvPicPr preferRelativeResize="0"/>
          <p:nvPr/>
        </p:nvPicPr>
        <p:blipFill rotWithShape="1">
          <a:blip r:embed="rId4">
            <a:alphaModFix/>
          </a:blip>
          <a:srcRect b="-12193" l="0" r="0" t="-4371"/>
          <a:stretch/>
        </p:blipFill>
        <p:spPr>
          <a:xfrm>
            <a:off x="10088925" y="627225"/>
            <a:ext cx="1607284" cy="9829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E"/>
        </a:solidFill>
      </p:bgPr>
    </p:bg>
    <p:spTree>
      <p:nvGrpSpPr>
        <p:cNvPr id="33" name="Shape 33"/>
        <p:cNvGrpSpPr/>
        <p:nvPr/>
      </p:nvGrpSpPr>
      <p:grpSpPr>
        <a:xfrm>
          <a:off x="0" y="0"/>
          <a:ext cx="0" cy="0"/>
          <a:chOff x="0" y="0"/>
          <a:chExt cx="0" cy="0"/>
        </a:xfrm>
      </p:grpSpPr>
      <p:sp>
        <p:nvSpPr>
          <p:cNvPr id="34" name="Google Shape;34;p5"/>
          <p:cNvSpPr txBox="1"/>
          <p:nvPr>
            <p:ph type="title"/>
          </p:nvPr>
        </p:nvSpPr>
        <p:spPr>
          <a:xfrm>
            <a:off x="812800" y="1102360"/>
            <a:ext cx="10883392" cy="4445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C2230"/>
              </a:buClr>
              <a:buSzPct val="100000"/>
              <a:buFont typeface="IBM Plex Sans"/>
              <a:buNone/>
            </a:pPr>
            <a:r>
              <a:rPr b="1" lang="en-US">
                <a:latin typeface="Comfortaa"/>
                <a:ea typeface="Comfortaa"/>
                <a:cs typeface="Comfortaa"/>
                <a:sym typeface="Comfortaa"/>
              </a:rPr>
              <a:t>Course Contains</a:t>
            </a:r>
            <a:endParaRPr sz="3000">
              <a:latin typeface="Comfortaa"/>
              <a:ea typeface="Comfortaa"/>
              <a:cs typeface="Comfortaa"/>
              <a:sym typeface="Comfortaa"/>
            </a:endParaRPr>
          </a:p>
        </p:txBody>
      </p:sp>
      <p:sp>
        <p:nvSpPr>
          <p:cNvPr id="35" name="Google Shape;35;p5"/>
          <p:cNvSpPr/>
          <p:nvPr/>
        </p:nvSpPr>
        <p:spPr>
          <a:xfrm>
            <a:off x="812800" y="6238239"/>
            <a:ext cx="10883392"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673"/>
              </a:buClr>
              <a:buSzPts val="1200"/>
              <a:buFont typeface="IBM Plex Sans"/>
              <a:buNone/>
            </a:pPr>
            <a:r>
              <a:rPr i="0" lang="en-US" sz="1200" u="none" cap="none" strike="noStrike">
                <a:solidFill>
                  <a:srgbClr val="5F6673"/>
                </a:solidFill>
                <a:latin typeface="Comfortaa"/>
                <a:ea typeface="Comfortaa"/>
                <a:cs typeface="Comfortaa"/>
                <a:sym typeface="Comfortaa"/>
              </a:rPr>
              <a:t>Assumed background: MMU, page tables, TLB, CPU virtualization (VM exits, EPT/NPT)</a:t>
            </a:r>
            <a:endParaRPr i="0" sz="1200" u="none" cap="none" strike="noStrike">
              <a:solidFill>
                <a:schemeClr val="dk1"/>
              </a:solidFill>
              <a:latin typeface="Comfortaa"/>
              <a:ea typeface="Comfortaa"/>
              <a:cs typeface="Comfortaa"/>
              <a:sym typeface="Comfortaa"/>
            </a:endParaRPr>
          </a:p>
        </p:txBody>
      </p:sp>
      <p:sp>
        <p:nvSpPr>
          <p:cNvPr id="36" name="Google Shape;36;p5"/>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grpSp>
        <p:nvGrpSpPr>
          <p:cNvPr id="37" name="Google Shape;37;p5"/>
          <p:cNvGrpSpPr/>
          <p:nvPr/>
        </p:nvGrpSpPr>
        <p:grpSpPr>
          <a:xfrm>
            <a:off x="1151244" y="1997223"/>
            <a:ext cx="3338508" cy="436572"/>
            <a:chOff x="1156600" y="1997179"/>
            <a:chExt cx="3333175" cy="436572"/>
          </a:xfrm>
        </p:grpSpPr>
        <p:sp>
          <p:nvSpPr>
            <p:cNvPr id="38" name="Google Shape;38;p5"/>
            <p:cNvSpPr txBox="1"/>
            <p:nvPr/>
          </p:nvSpPr>
          <p:spPr>
            <a:xfrm>
              <a:off x="1489775" y="2018250"/>
              <a:ext cx="3000000" cy="4155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rPr b="1" lang="en-US" sz="1500">
                  <a:solidFill>
                    <a:schemeClr val="dk1"/>
                  </a:solidFill>
                  <a:latin typeface="Comfortaa"/>
                  <a:ea typeface="Comfortaa"/>
                  <a:cs typeface="Comfortaa"/>
                  <a:sym typeface="Comfortaa"/>
                </a:rPr>
                <a:t>1- DMA</a:t>
              </a:r>
              <a:endParaRPr b="1" sz="1500">
                <a:latin typeface="Comfortaa"/>
                <a:ea typeface="Comfortaa"/>
                <a:cs typeface="Comfortaa"/>
                <a:sym typeface="Comfortaa"/>
              </a:endParaRPr>
            </a:p>
          </p:txBody>
        </p:sp>
        <p:cxnSp>
          <p:nvCxnSpPr>
            <p:cNvPr id="39" name="Google Shape;39;p5"/>
            <p:cNvCxnSpPr/>
            <p:nvPr/>
          </p:nvCxnSpPr>
          <p:spPr>
            <a:xfrm>
              <a:off x="1156600" y="1997179"/>
              <a:ext cx="0" cy="386100"/>
            </a:xfrm>
            <a:prstGeom prst="straightConnector1">
              <a:avLst/>
            </a:prstGeom>
            <a:noFill/>
            <a:ln cap="flat" cmpd="sng" w="38100">
              <a:solidFill>
                <a:srgbClr val="B24A17"/>
              </a:solidFill>
              <a:prstDash val="solid"/>
              <a:round/>
              <a:headEnd len="sm" w="sm" type="none"/>
              <a:tailEnd len="sm" w="sm" type="none"/>
            </a:ln>
          </p:spPr>
        </p:cxnSp>
      </p:grpSp>
      <p:sp>
        <p:nvSpPr>
          <p:cNvPr id="40" name="Google Shape;40;p5"/>
          <p:cNvSpPr txBox="1"/>
          <p:nvPr/>
        </p:nvSpPr>
        <p:spPr>
          <a:xfrm>
            <a:off x="2171400" y="2643100"/>
            <a:ext cx="3000000" cy="4155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rPr b="1" lang="en-US" sz="1500">
                <a:solidFill>
                  <a:schemeClr val="dk1"/>
                </a:solidFill>
                <a:latin typeface="Comfortaa"/>
                <a:ea typeface="Comfortaa"/>
                <a:cs typeface="Comfortaa"/>
                <a:sym typeface="Comfortaa"/>
              </a:rPr>
              <a:t>2- The IOMMU</a:t>
            </a:r>
            <a:endParaRPr b="1" sz="1500">
              <a:solidFill>
                <a:schemeClr val="dk1"/>
              </a:solidFill>
              <a:latin typeface="Comfortaa"/>
              <a:ea typeface="Comfortaa"/>
              <a:cs typeface="Comfortaa"/>
              <a:sym typeface="Comfortaa"/>
            </a:endParaRPr>
          </a:p>
        </p:txBody>
      </p:sp>
      <p:cxnSp>
        <p:nvCxnSpPr>
          <p:cNvPr id="41" name="Google Shape;41;p5"/>
          <p:cNvCxnSpPr/>
          <p:nvPr/>
        </p:nvCxnSpPr>
        <p:spPr>
          <a:xfrm>
            <a:off x="1727275" y="2657791"/>
            <a:ext cx="0" cy="386100"/>
          </a:xfrm>
          <a:prstGeom prst="straightConnector1">
            <a:avLst/>
          </a:prstGeom>
          <a:noFill/>
          <a:ln cap="flat" cmpd="sng" w="38100">
            <a:solidFill>
              <a:srgbClr val="B24A17"/>
            </a:solidFill>
            <a:prstDash val="solid"/>
            <a:round/>
            <a:headEnd len="sm" w="sm" type="none"/>
            <a:tailEnd len="sm" w="sm" type="none"/>
          </a:ln>
        </p:spPr>
      </p:cxnSp>
      <p:cxnSp>
        <p:nvCxnSpPr>
          <p:cNvPr id="42" name="Google Shape;42;p5"/>
          <p:cNvCxnSpPr/>
          <p:nvPr/>
        </p:nvCxnSpPr>
        <p:spPr>
          <a:xfrm>
            <a:off x="2479625" y="3339491"/>
            <a:ext cx="0" cy="386100"/>
          </a:xfrm>
          <a:prstGeom prst="straightConnector1">
            <a:avLst/>
          </a:prstGeom>
          <a:noFill/>
          <a:ln cap="flat" cmpd="sng" w="38100">
            <a:solidFill>
              <a:srgbClr val="B24A17"/>
            </a:solidFill>
            <a:prstDash val="solid"/>
            <a:round/>
            <a:headEnd len="sm" w="sm" type="none"/>
            <a:tailEnd len="sm" w="sm" type="none"/>
          </a:ln>
        </p:spPr>
      </p:cxnSp>
      <p:sp>
        <p:nvSpPr>
          <p:cNvPr id="43" name="Google Shape;43;p5"/>
          <p:cNvSpPr txBox="1"/>
          <p:nvPr/>
        </p:nvSpPr>
        <p:spPr>
          <a:xfrm>
            <a:off x="2766825" y="3324800"/>
            <a:ext cx="3000000" cy="4155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rPr b="1" lang="en-US" sz="1500">
                <a:solidFill>
                  <a:schemeClr val="dk1"/>
                </a:solidFill>
                <a:latin typeface="Comfortaa"/>
                <a:ea typeface="Comfortaa"/>
                <a:cs typeface="Comfortaa"/>
                <a:sym typeface="Comfortaa"/>
              </a:rPr>
              <a:t>3- VIRTUALIZING DEVICES</a:t>
            </a:r>
            <a:endParaRPr b="1" sz="1500">
              <a:latin typeface="Comfortaa"/>
              <a:ea typeface="Comfortaa"/>
              <a:cs typeface="Comfortaa"/>
              <a:sym typeface="Comfortaa"/>
            </a:endParaRPr>
          </a:p>
        </p:txBody>
      </p:sp>
      <p:cxnSp>
        <p:nvCxnSpPr>
          <p:cNvPr id="44" name="Google Shape;44;p5"/>
          <p:cNvCxnSpPr/>
          <p:nvPr/>
        </p:nvCxnSpPr>
        <p:spPr>
          <a:xfrm>
            <a:off x="3077875" y="3926341"/>
            <a:ext cx="0" cy="386100"/>
          </a:xfrm>
          <a:prstGeom prst="straightConnector1">
            <a:avLst/>
          </a:prstGeom>
          <a:noFill/>
          <a:ln cap="flat" cmpd="sng" w="38100">
            <a:solidFill>
              <a:srgbClr val="B24A17"/>
            </a:solidFill>
            <a:prstDash val="solid"/>
            <a:round/>
            <a:headEnd len="sm" w="sm" type="none"/>
            <a:tailEnd len="sm" w="sm" type="none"/>
          </a:ln>
        </p:spPr>
      </p:cxnSp>
      <p:sp>
        <p:nvSpPr>
          <p:cNvPr id="45" name="Google Shape;45;p5"/>
          <p:cNvSpPr txBox="1"/>
          <p:nvPr/>
        </p:nvSpPr>
        <p:spPr>
          <a:xfrm>
            <a:off x="3333700" y="3911650"/>
            <a:ext cx="3000000" cy="4155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rPr b="1" lang="en-US" sz="1500">
                <a:solidFill>
                  <a:schemeClr val="dk1"/>
                </a:solidFill>
                <a:latin typeface="Comfortaa"/>
                <a:ea typeface="Comfortaa"/>
                <a:cs typeface="Comfortaa"/>
                <a:sym typeface="Comfortaa"/>
              </a:rPr>
              <a:t>4- NESTED TRANSLATION</a:t>
            </a:r>
            <a:endParaRPr b="1" sz="1500">
              <a:latin typeface="Comfortaa"/>
              <a:ea typeface="Comfortaa"/>
              <a:cs typeface="Comfortaa"/>
              <a:sym typeface="Comforta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24A17"/>
        </a:solidFill>
      </p:bgPr>
    </p:bg>
    <p:spTree>
      <p:nvGrpSpPr>
        <p:cNvPr id="50" name="Shape 50"/>
        <p:cNvGrpSpPr/>
        <p:nvPr/>
      </p:nvGrpSpPr>
      <p:grpSpPr>
        <a:xfrm>
          <a:off x="0" y="0"/>
          <a:ext cx="0" cy="0"/>
          <a:chOff x="0" y="0"/>
          <a:chExt cx="0" cy="0"/>
        </a:xfrm>
      </p:grpSpPr>
      <p:sp>
        <p:nvSpPr>
          <p:cNvPr id="51" name="Google Shape;51;p6"/>
          <p:cNvSpPr txBox="1"/>
          <p:nvPr>
            <p:ph type="title"/>
          </p:nvPr>
        </p:nvSpPr>
        <p:spPr>
          <a:xfrm>
            <a:off x="812800" y="2480311"/>
            <a:ext cx="10883392" cy="125476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FBF6EE"/>
              </a:buClr>
              <a:buSzPct val="100000"/>
              <a:buFont typeface="IBM Plex Sans"/>
              <a:buNone/>
            </a:pPr>
            <a:r>
              <a:rPr b="1" i="0" lang="en-US" sz="4400">
                <a:solidFill>
                  <a:srgbClr val="FBF6EE"/>
                </a:solidFill>
                <a:latin typeface="Comfortaa"/>
                <a:ea typeface="Comfortaa"/>
                <a:cs typeface="Comfortaa"/>
                <a:sym typeface="Comfortaa"/>
              </a:rPr>
              <a:t>A device reaches memory without </a:t>
            </a:r>
            <a:r>
              <a:rPr b="1" lang="en-US" sz="4400">
                <a:solidFill>
                  <a:srgbClr val="FBF6EE"/>
                </a:solidFill>
                <a:latin typeface="Comfortaa"/>
                <a:ea typeface="Comfortaa"/>
                <a:cs typeface="Comfortaa"/>
                <a:sym typeface="Comfortaa"/>
              </a:rPr>
              <a:t>CPU consent</a:t>
            </a:r>
            <a:r>
              <a:rPr b="1" i="0" lang="en-US" sz="4400">
                <a:solidFill>
                  <a:srgbClr val="FBF6EE"/>
                </a:solidFill>
                <a:latin typeface="Comfortaa"/>
                <a:ea typeface="Comfortaa"/>
                <a:cs typeface="Comfortaa"/>
                <a:sym typeface="Comfortaa"/>
              </a:rPr>
              <a:t>.</a:t>
            </a:r>
            <a:endParaRPr sz="4400">
              <a:latin typeface="Comfortaa"/>
              <a:ea typeface="Comfortaa"/>
              <a:cs typeface="Comfortaa"/>
              <a:sym typeface="Comfortaa"/>
            </a:endParaRPr>
          </a:p>
        </p:txBody>
      </p:sp>
      <p:sp>
        <p:nvSpPr>
          <p:cNvPr id="52" name="Google Shape;52;p6"/>
          <p:cNvSpPr/>
          <p:nvPr/>
        </p:nvSpPr>
        <p:spPr>
          <a:xfrm>
            <a:off x="812800" y="4014470"/>
            <a:ext cx="10883392" cy="38862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BF6EE"/>
              </a:buClr>
              <a:buSzPts val="2200"/>
              <a:buFont typeface="IBM Plex Sans"/>
              <a:buNone/>
            </a:pPr>
            <a:r>
              <a:rPr i="0" lang="en-US" sz="2200" u="none" cap="none" strike="noStrike">
                <a:solidFill>
                  <a:srgbClr val="FBF6EE"/>
                </a:solidFill>
                <a:latin typeface="Comfortaa"/>
                <a:ea typeface="Comfortaa"/>
                <a:cs typeface="Comfortaa"/>
                <a:sym typeface="Comfortaa"/>
              </a:rPr>
              <a:t>How do we isolate, virtualize and share those accesses</a:t>
            </a:r>
            <a:endParaRPr i="0" sz="2200" u="none" cap="none" strike="noStrike">
              <a:solidFill>
                <a:schemeClr val="dk1"/>
              </a:solidFill>
              <a:latin typeface="Comfortaa"/>
              <a:ea typeface="Comfortaa"/>
              <a:cs typeface="Comfortaa"/>
              <a:sym typeface="Comfortaa"/>
            </a:endParaRPr>
          </a:p>
        </p:txBody>
      </p:sp>
      <p:sp>
        <p:nvSpPr>
          <p:cNvPr id="53" name="Google Shape;53;p6"/>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E"/>
        </a:solidFill>
      </p:bgPr>
    </p:bg>
    <p:spTree>
      <p:nvGrpSpPr>
        <p:cNvPr id="58" name="Shape 58"/>
        <p:cNvGrpSpPr/>
        <p:nvPr/>
      </p:nvGrpSpPr>
      <p:grpSpPr>
        <a:xfrm>
          <a:off x="0" y="0"/>
          <a:ext cx="0" cy="0"/>
          <a:chOff x="0" y="0"/>
          <a:chExt cx="0" cy="0"/>
        </a:xfrm>
      </p:grpSpPr>
      <p:sp>
        <p:nvSpPr>
          <p:cNvPr id="59" name="Google Shape;59;p7"/>
          <p:cNvSpPr/>
          <p:nvPr/>
        </p:nvSpPr>
        <p:spPr>
          <a:xfrm>
            <a:off x="812800" y="812800"/>
            <a:ext cx="10883392" cy="23876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B24A17"/>
              </a:buClr>
              <a:buSzPts val="1200"/>
              <a:buFont typeface="IBM Plex Mono"/>
              <a:buNone/>
            </a:pPr>
            <a:r>
              <a:rPr lang="en-US" sz="1200">
                <a:solidFill>
                  <a:srgbClr val="B24A17"/>
                </a:solidFill>
                <a:latin typeface="Comfortaa"/>
                <a:ea typeface="Comfortaa"/>
                <a:cs typeface="Comfortaa"/>
                <a:sym typeface="Comfortaa"/>
              </a:rPr>
              <a:t>I </a:t>
            </a:r>
            <a:r>
              <a:rPr i="0" lang="en-US" sz="1200" u="none" cap="none" strike="noStrike">
                <a:solidFill>
                  <a:srgbClr val="B24A17"/>
                </a:solidFill>
                <a:latin typeface="Comfortaa"/>
                <a:ea typeface="Comfortaa"/>
                <a:cs typeface="Comfortaa"/>
                <a:sym typeface="Comfortaa"/>
              </a:rPr>
              <a:t>· DMA</a:t>
            </a:r>
            <a:endParaRPr i="0" sz="1200" u="none" cap="none" strike="noStrike">
              <a:solidFill>
                <a:schemeClr val="dk1"/>
              </a:solidFill>
              <a:latin typeface="Comfortaa"/>
              <a:ea typeface="Comfortaa"/>
              <a:cs typeface="Comfortaa"/>
              <a:sym typeface="Comfortaa"/>
            </a:endParaRPr>
          </a:p>
        </p:txBody>
      </p:sp>
      <p:sp>
        <p:nvSpPr>
          <p:cNvPr id="60" name="Google Shape;60;p7"/>
          <p:cNvSpPr txBox="1"/>
          <p:nvPr>
            <p:ph type="title"/>
          </p:nvPr>
        </p:nvSpPr>
        <p:spPr>
          <a:xfrm>
            <a:off x="812800" y="1102361"/>
            <a:ext cx="10883392" cy="4445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C2230"/>
              </a:buClr>
              <a:buSzPct val="100000"/>
              <a:buFont typeface="IBM Plex Sans"/>
              <a:buNone/>
            </a:pPr>
            <a:r>
              <a:rPr b="1" i="0" lang="en-US" sz="3000">
                <a:solidFill>
                  <a:srgbClr val="1C2230"/>
                </a:solidFill>
                <a:latin typeface="Comfortaa"/>
                <a:ea typeface="Comfortaa"/>
                <a:cs typeface="Comfortaa"/>
                <a:sym typeface="Comfortaa"/>
              </a:rPr>
              <a:t>The per-packet budget</a:t>
            </a:r>
            <a:endParaRPr sz="3000">
              <a:latin typeface="Comfortaa"/>
              <a:ea typeface="Comfortaa"/>
              <a:cs typeface="Comfortaa"/>
              <a:sym typeface="Comfortaa"/>
            </a:endParaRPr>
          </a:p>
        </p:txBody>
      </p:sp>
      <p:sp>
        <p:nvSpPr>
          <p:cNvPr id="61" name="Google Shape;61;p7"/>
          <p:cNvSpPr/>
          <p:nvPr/>
        </p:nvSpPr>
        <p:spPr>
          <a:xfrm>
            <a:off x="815975" y="1880236"/>
            <a:ext cx="2482850" cy="1655233"/>
          </a:xfrm>
          <a:prstGeom prst="roundRect">
            <a:avLst>
              <a:gd fmla="val 5946" name="adj"/>
            </a:avLst>
          </a:prstGeom>
          <a:solidFill>
            <a:srgbClr val="FDFCF9"/>
          </a:solidFill>
          <a:ln cap="flat" cmpd="sng" w="9525">
            <a:solidFill>
              <a:srgbClr val="D9D4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7"/>
          <p:cNvSpPr/>
          <p:nvPr/>
        </p:nvSpPr>
        <p:spPr>
          <a:xfrm>
            <a:off x="1072092" y="2136352"/>
            <a:ext cx="2029735" cy="5943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230"/>
              </a:buClr>
              <a:buSzPts val="3200"/>
              <a:buFont typeface="IBM Plex Sans"/>
              <a:buNone/>
            </a:pPr>
            <a:r>
              <a:rPr b="1" i="0" lang="en-US" sz="3200" u="none" cap="none" strike="noStrike">
                <a:solidFill>
                  <a:srgbClr val="1C2230"/>
                </a:solidFill>
                <a:latin typeface="Comfortaa"/>
                <a:ea typeface="Comfortaa"/>
                <a:cs typeface="Comfortaa"/>
                <a:sym typeface="Comfortaa"/>
              </a:rPr>
              <a:t>10 Gb/s</a:t>
            </a:r>
            <a:endParaRPr i="0" sz="3200" u="none" cap="none" strike="noStrike">
              <a:solidFill>
                <a:schemeClr val="dk1"/>
              </a:solidFill>
              <a:latin typeface="Comfortaa"/>
              <a:ea typeface="Comfortaa"/>
              <a:cs typeface="Comfortaa"/>
              <a:sym typeface="Comfortaa"/>
            </a:endParaRPr>
          </a:p>
        </p:txBody>
      </p:sp>
      <p:sp>
        <p:nvSpPr>
          <p:cNvPr id="63" name="Google Shape;63;p7"/>
          <p:cNvSpPr/>
          <p:nvPr/>
        </p:nvSpPr>
        <p:spPr>
          <a:xfrm>
            <a:off x="1072092" y="2781512"/>
            <a:ext cx="2029735" cy="2743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230"/>
              </a:buClr>
              <a:buSzPts val="1400"/>
              <a:buFont typeface="IBM Plex Sans"/>
              <a:buNone/>
            </a:pPr>
            <a:r>
              <a:rPr i="0" lang="en-US" sz="1400" u="none" cap="none" strike="noStrike">
                <a:solidFill>
                  <a:srgbClr val="1C2230"/>
                </a:solidFill>
                <a:latin typeface="Comfortaa"/>
                <a:ea typeface="Comfortaa"/>
                <a:cs typeface="Comfortaa"/>
                <a:sym typeface="Comfortaa"/>
              </a:rPr>
              <a:t>line rate</a:t>
            </a:r>
            <a:endParaRPr i="0" sz="1400" u="none" cap="none" strike="noStrike">
              <a:solidFill>
                <a:schemeClr val="dk1"/>
              </a:solidFill>
              <a:latin typeface="Comfortaa"/>
              <a:ea typeface="Comfortaa"/>
              <a:cs typeface="Comfortaa"/>
              <a:sym typeface="Comfortaa"/>
            </a:endParaRPr>
          </a:p>
        </p:txBody>
      </p:sp>
      <p:sp>
        <p:nvSpPr>
          <p:cNvPr id="64" name="Google Shape;64;p7"/>
          <p:cNvSpPr/>
          <p:nvPr/>
        </p:nvSpPr>
        <p:spPr>
          <a:xfrm>
            <a:off x="3508375" y="1880236"/>
            <a:ext cx="2482850" cy="1655233"/>
          </a:xfrm>
          <a:prstGeom prst="roundRect">
            <a:avLst>
              <a:gd fmla="val 5946" name="adj"/>
            </a:avLst>
          </a:prstGeom>
          <a:solidFill>
            <a:srgbClr val="FDFCF9"/>
          </a:solidFill>
          <a:ln cap="flat" cmpd="sng" w="9525">
            <a:solidFill>
              <a:srgbClr val="D9D4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a:off x="3764492" y="2136352"/>
            <a:ext cx="2029735" cy="5943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230"/>
              </a:buClr>
              <a:buSzPts val="3200"/>
              <a:buFont typeface="IBM Plex Sans"/>
              <a:buNone/>
            </a:pPr>
            <a:r>
              <a:rPr b="1" i="0" lang="en-US" sz="3200" u="none" cap="none" strike="noStrike">
                <a:solidFill>
                  <a:srgbClr val="1C2230"/>
                </a:solidFill>
                <a:latin typeface="Comfortaa"/>
                <a:ea typeface="Comfortaa"/>
                <a:cs typeface="Comfortaa"/>
                <a:sym typeface="Comfortaa"/>
              </a:rPr>
              <a:t>833 000</a:t>
            </a:r>
            <a:endParaRPr i="0" sz="3200" u="none" cap="none" strike="noStrike">
              <a:solidFill>
                <a:schemeClr val="dk1"/>
              </a:solidFill>
              <a:latin typeface="Comfortaa"/>
              <a:ea typeface="Comfortaa"/>
              <a:cs typeface="Comfortaa"/>
              <a:sym typeface="Comfortaa"/>
            </a:endParaRPr>
          </a:p>
        </p:txBody>
      </p:sp>
      <p:sp>
        <p:nvSpPr>
          <p:cNvPr id="66" name="Google Shape;66;p7"/>
          <p:cNvSpPr/>
          <p:nvPr/>
        </p:nvSpPr>
        <p:spPr>
          <a:xfrm>
            <a:off x="3764492" y="2781512"/>
            <a:ext cx="2029735" cy="5232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230"/>
              </a:buClr>
              <a:buSzPts val="1400"/>
              <a:buFont typeface="IBM Plex Sans"/>
              <a:buNone/>
            </a:pPr>
            <a:r>
              <a:rPr i="0" lang="en-US" sz="1400" u="none" cap="none" strike="noStrike">
                <a:solidFill>
                  <a:srgbClr val="1C2230"/>
                </a:solidFill>
                <a:latin typeface="Comfortaa"/>
                <a:ea typeface="Comfortaa"/>
                <a:cs typeface="Comfortaa"/>
                <a:sym typeface="Comfortaa"/>
              </a:rPr>
              <a:t>1500-byte frames per second</a:t>
            </a:r>
            <a:endParaRPr i="0" sz="1400" u="none" cap="none" strike="noStrike">
              <a:solidFill>
                <a:schemeClr val="dk1"/>
              </a:solidFill>
              <a:latin typeface="Comfortaa"/>
              <a:ea typeface="Comfortaa"/>
              <a:cs typeface="Comfortaa"/>
              <a:sym typeface="Comfortaa"/>
            </a:endParaRPr>
          </a:p>
        </p:txBody>
      </p:sp>
      <p:sp>
        <p:nvSpPr>
          <p:cNvPr id="67" name="Google Shape;67;p7"/>
          <p:cNvSpPr/>
          <p:nvPr/>
        </p:nvSpPr>
        <p:spPr>
          <a:xfrm>
            <a:off x="6200775" y="1880236"/>
            <a:ext cx="2482850" cy="1655233"/>
          </a:xfrm>
          <a:prstGeom prst="roundRect">
            <a:avLst>
              <a:gd fmla="val 5946" name="adj"/>
            </a:avLst>
          </a:prstGeom>
          <a:solidFill>
            <a:srgbClr val="FDFCF9"/>
          </a:solidFill>
          <a:ln cap="flat" cmpd="sng" w="9525">
            <a:solidFill>
              <a:srgbClr val="D9D4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7"/>
          <p:cNvSpPr/>
          <p:nvPr/>
        </p:nvSpPr>
        <p:spPr>
          <a:xfrm>
            <a:off x="6456892" y="2136352"/>
            <a:ext cx="2029735" cy="5943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4A17"/>
              </a:buClr>
              <a:buSzPts val="3200"/>
              <a:buFont typeface="IBM Plex Sans"/>
              <a:buNone/>
            </a:pPr>
            <a:r>
              <a:rPr b="1" i="0" lang="en-US" sz="3200" u="none" cap="none" strike="noStrike">
                <a:solidFill>
                  <a:srgbClr val="B24A17"/>
                </a:solidFill>
                <a:latin typeface="Comfortaa"/>
                <a:ea typeface="Comfortaa"/>
                <a:cs typeface="Comfortaa"/>
                <a:sym typeface="Comfortaa"/>
              </a:rPr>
              <a:t>1.2 µs</a:t>
            </a:r>
            <a:endParaRPr i="0" sz="3200" u="none" cap="none" strike="noStrike">
              <a:solidFill>
                <a:schemeClr val="dk1"/>
              </a:solidFill>
              <a:latin typeface="Comfortaa"/>
              <a:ea typeface="Comfortaa"/>
              <a:cs typeface="Comfortaa"/>
              <a:sym typeface="Comfortaa"/>
            </a:endParaRPr>
          </a:p>
        </p:txBody>
      </p:sp>
      <p:sp>
        <p:nvSpPr>
          <p:cNvPr id="69" name="Google Shape;69;p7"/>
          <p:cNvSpPr/>
          <p:nvPr/>
        </p:nvSpPr>
        <p:spPr>
          <a:xfrm>
            <a:off x="6456892" y="2781512"/>
            <a:ext cx="2223558" cy="2743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230"/>
              </a:buClr>
              <a:buSzPts val="1400"/>
              <a:buFont typeface="IBM Plex Sans"/>
              <a:buNone/>
            </a:pPr>
            <a:r>
              <a:rPr i="0" lang="en-US" sz="1400" u="none" cap="none" strike="noStrike">
                <a:solidFill>
                  <a:srgbClr val="1C2230"/>
                </a:solidFill>
                <a:latin typeface="Comfortaa"/>
                <a:ea typeface="Comfortaa"/>
                <a:cs typeface="Comfortaa"/>
                <a:sym typeface="Comfortaa"/>
              </a:rPr>
              <a:t>of CPU budget per frame</a:t>
            </a:r>
            <a:endParaRPr i="0" sz="1400" u="none" cap="none" strike="noStrike">
              <a:solidFill>
                <a:schemeClr val="dk1"/>
              </a:solidFill>
              <a:latin typeface="Comfortaa"/>
              <a:ea typeface="Comfortaa"/>
              <a:cs typeface="Comfortaa"/>
              <a:sym typeface="Comfortaa"/>
            </a:endParaRPr>
          </a:p>
        </p:txBody>
      </p:sp>
      <p:sp>
        <p:nvSpPr>
          <p:cNvPr id="70" name="Google Shape;70;p7"/>
          <p:cNvSpPr/>
          <p:nvPr/>
        </p:nvSpPr>
        <p:spPr>
          <a:xfrm>
            <a:off x="8893175" y="1880236"/>
            <a:ext cx="2482850" cy="1655233"/>
          </a:xfrm>
          <a:prstGeom prst="roundRect">
            <a:avLst>
              <a:gd fmla="val 5946" name="adj"/>
            </a:avLst>
          </a:prstGeom>
          <a:solidFill>
            <a:srgbClr val="FDFCF9"/>
          </a:solidFill>
          <a:ln cap="flat" cmpd="sng" w="9525">
            <a:solidFill>
              <a:srgbClr val="D9D4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7"/>
          <p:cNvSpPr/>
          <p:nvPr/>
        </p:nvSpPr>
        <p:spPr>
          <a:xfrm>
            <a:off x="9149292" y="2136352"/>
            <a:ext cx="2029735" cy="5943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4A17"/>
              </a:buClr>
              <a:buSzPts val="3200"/>
              <a:buFont typeface="IBM Plex Sans"/>
              <a:buNone/>
            </a:pPr>
            <a:r>
              <a:rPr b="1" i="0" lang="en-US" sz="3200" u="none" cap="none" strike="noStrike">
                <a:solidFill>
                  <a:srgbClr val="B24A17"/>
                </a:solidFill>
                <a:latin typeface="Comfortaa"/>
                <a:ea typeface="Comfortaa"/>
                <a:cs typeface="Comfortaa"/>
                <a:sym typeface="Comfortaa"/>
              </a:rPr>
              <a:t>120 ns</a:t>
            </a:r>
            <a:endParaRPr i="0" sz="3200" u="none" cap="none" strike="noStrike">
              <a:solidFill>
                <a:schemeClr val="dk1"/>
              </a:solidFill>
              <a:latin typeface="Comfortaa"/>
              <a:ea typeface="Comfortaa"/>
              <a:cs typeface="Comfortaa"/>
              <a:sym typeface="Comfortaa"/>
            </a:endParaRPr>
          </a:p>
        </p:txBody>
      </p:sp>
      <p:sp>
        <p:nvSpPr>
          <p:cNvPr id="72" name="Google Shape;72;p7"/>
          <p:cNvSpPr/>
          <p:nvPr/>
        </p:nvSpPr>
        <p:spPr>
          <a:xfrm>
            <a:off x="9149292" y="2781512"/>
            <a:ext cx="2029735" cy="2743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230"/>
              </a:buClr>
              <a:buSzPts val="1400"/>
              <a:buFont typeface="IBM Plex Sans"/>
              <a:buNone/>
            </a:pPr>
            <a:r>
              <a:rPr i="0" lang="en-US" sz="1400" u="none" cap="none" strike="noStrike">
                <a:solidFill>
                  <a:srgbClr val="1C2230"/>
                </a:solidFill>
                <a:latin typeface="Comfortaa"/>
                <a:ea typeface="Comfortaa"/>
                <a:cs typeface="Comfortaa"/>
                <a:sym typeface="Comfortaa"/>
              </a:rPr>
              <a:t>the same, at 100 Gb/s</a:t>
            </a:r>
            <a:endParaRPr i="0" sz="1400" u="none" cap="none" strike="noStrike">
              <a:solidFill>
                <a:schemeClr val="dk1"/>
              </a:solidFill>
              <a:latin typeface="Comfortaa"/>
              <a:ea typeface="Comfortaa"/>
              <a:cs typeface="Comfortaa"/>
              <a:sym typeface="Comfortaa"/>
            </a:endParaRPr>
          </a:p>
        </p:txBody>
      </p:sp>
      <p:cxnSp>
        <p:nvCxnSpPr>
          <p:cNvPr id="73" name="Google Shape;73;p7"/>
          <p:cNvCxnSpPr/>
          <p:nvPr/>
        </p:nvCxnSpPr>
        <p:spPr>
          <a:xfrm>
            <a:off x="831850" y="3894243"/>
            <a:ext cx="0" cy="386100"/>
          </a:xfrm>
          <a:prstGeom prst="straightConnector1">
            <a:avLst/>
          </a:prstGeom>
          <a:noFill/>
          <a:ln cap="flat" cmpd="sng" w="38100">
            <a:solidFill>
              <a:srgbClr val="B24A17"/>
            </a:solidFill>
            <a:prstDash val="solid"/>
            <a:round/>
            <a:headEnd len="sm" w="sm" type="none"/>
            <a:tailEnd len="sm" w="sm" type="none"/>
          </a:ln>
        </p:spPr>
      </p:cxnSp>
      <p:sp>
        <p:nvSpPr>
          <p:cNvPr id="74" name="Google Shape;74;p7"/>
          <p:cNvSpPr/>
          <p:nvPr/>
        </p:nvSpPr>
        <p:spPr>
          <a:xfrm>
            <a:off x="1027642" y="3945043"/>
            <a:ext cx="10662105" cy="3098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230"/>
              </a:buClr>
              <a:buSzPts val="1600"/>
              <a:buFont typeface="IBM Plex Sans"/>
              <a:buNone/>
            </a:pPr>
            <a:r>
              <a:rPr i="0" lang="en-US" sz="1600" u="none" cap="none" strike="noStrike">
                <a:solidFill>
                  <a:srgbClr val="1C2230"/>
                </a:solidFill>
                <a:latin typeface="Comfortaa"/>
                <a:ea typeface="Comfortaa"/>
                <a:cs typeface="Comfortaa"/>
                <a:sym typeface="Comfortaa"/>
              </a:rPr>
              <a:t>Moving the bytes with the CPU would consume that budget on its own.</a:t>
            </a:r>
            <a:endParaRPr i="0" sz="1600" u="none" cap="none" strike="noStrike">
              <a:solidFill>
                <a:schemeClr val="dk1"/>
              </a:solidFill>
              <a:latin typeface="Comfortaa"/>
              <a:ea typeface="Comfortaa"/>
              <a:cs typeface="Comfortaa"/>
              <a:sym typeface="Comfortaa"/>
            </a:endParaRPr>
          </a:p>
        </p:txBody>
      </p:sp>
      <p:sp>
        <p:nvSpPr>
          <p:cNvPr id="75" name="Google Shape;75;p7"/>
          <p:cNvSpPr/>
          <p:nvPr/>
        </p:nvSpPr>
        <p:spPr>
          <a:xfrm>
            <a:off x="812800" y="6238239"/>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673"/>
              </a:buClr>
              <a:buSzPts val="1200"/>
              <a:buFont typeface="IBM Plex Sans"/>
              <a:buNone/>
            </a:pPr>
            <a:r>
              <a:rPr i="0" lang="en-US" sz="1200" u="none" cap="none" strike="noStrike">
                <a:solidFill>
                  <a:srgbClr val="5F6673"/>
                </a:solidFill>
                <a:latin typeface="Comfortaa"/>
                <a:ea typeface="Comfortaa"/>
                <a:cs typeface="Comfortaa"/>
                <a:sym typeface="Comfortaa"/>
              </a:rPr>
              <a:t>10</a:t>
            </a:r>
            <a:r>
              <a:rPr lang="en-US" sz="1200">
                <a:solidFill>
                  <a:srgbClr val="5F6673"/>
                </a:solidFill>
                <a:latin typeface="Comfortaa"/>
                <a:ea typeface="Comfortaa"/>
                <a:cs typeface="Comfortaa"/>
                <a:sym typeface="Comfortaa"/>
              </a:rPr>
              <a:t>Gb</a:t>
            </a:r>
            <a:r>
              <a:rPr i="0" lang="en-US" sz="1200" u="none" cap="none" strike="noStrike">
                <a:solidFill>
                  <a:srgbClr val="5F6673"/>
                </a:solidFill>
                <a:latin typeface="Comfortaa"/>
                <a:ea typeface="Comfortaa"/>
                <a:cs typeface="Comfortaa"/>
                <a:sym typeface="Comfortaa"/>
              </a:rPr>
              <a:t> / (1500 × 8) ≈ 833 333 frames/s, Ethernet overhead ignored</a:t>
            </a:r>
            <a:endParaRPr i="0" sz="1200" u="none" cap="none" strike="noStrike">
              <a:solidFill>
                <a:schemeClr val="dk1"/>
              </a:solidFill>
              <a:latin typeface="Comfortaa"/>
              <a:ea typeface="Comfortaa"/>
              <a:cs typeface="Comfortaa"/>
              <a:sym typeface="Comfortaa"/>
            </a:endParaRPr>
          </a:p>
        </p:txBody>
      </p:sp>
      <p:sp>
        <p:nvSpPr>
          <p:cNvPr id="76" name="Google Shape;76;p7"/>
          <p:cNvSpPr/>
          <p:nvPr/>
        </p:nvSpPr>
        <p:spPr>
          <a:xfrm>
            <a:off x="1027692" y="4492093"/>
            <a:ext cx="10662000" cy="309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230"/>
              </a:buClr>
              <a:buSzPts val="1600"/>
              <a:buFont typeface="IBM Plex Sans"/>
              <a:buNone/>
            </a:pPr>
            <a:r>
              <a:rPr lang="en-US" sz="1600">
                <a:solidFill>
                  <a:srgbClr val="1C2230"/>
                </a:solidFill>
                <a:latin typeface="Comfortaa"/>
                <a:ea typeface="Comfortaa"/>
                <a:cs typeface="Comfortaa"/>
                <a:sym typeface="Comfortaa"/>
              </a:rPr>
              <a:t>CPU end up busy moving frames most of </a:t>
            </a:r>
            <a:r>
              <a:rPr lang="en-US" sz="1600">
                <a:solidFill>
                  <a:srgbClr val="1C2230"/>
                </a:solidFill>
                <a:latin typeface="Comfortaa"/>
                <a:ea typeface="Comfortaa"/>
                <a:cs typeface="Comfortaa"/>
                <a:sym typeface="Comfortaa"/>
              </a:rPr>
              <a:t>its</a:t>
            </a:r>
            <a:r>
              <a:rPr lang="en-US" sz="1600">
                <a:solidFill>
                  <a:srgbClr val="1C2230"/>
                </a:solidFill>
                <a:latin typeface="Comfortaa"/>
                <a:ea typeface="Comfortaa"/>
                <a:cs typeface="Comfortaa"/>
                <a:sym typeface="Comfortaa"/>
              </a:rPr>
              <a:t> time.</a:t>
            </a:r>
            <a:endParaRPr i="0" sz="1600" u="none" cap="none" strike="noStrike">
              <a:solidFill>
                <a:schemeClr val="dk1"/>
              </a:solidFill>
              <a:latin typeface="Comfortaa"/>
              <a:ea typeface="Comfortaa"/>
              <a:cs typeface="Comfortaa"/>
              <a:sym typeface="Comfortaa"/>
            </a:endParaRPr>
          </a:p>
        </p:txBody>
      </p:sp>
      <p:sp>
        <p:nvSpPr>
          <p:cNvPr id="77" name="Google Shape;77;p7"/>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3EE"/>
        </a:solidFill>
      </p:bgPr>
    </p:bg>
    <p:spTree>
      <p:nvGrpSpPr>
        <p:cNvPr id="82" name="Shape 82"/>
        <p:cNvGrpSpPr/>
        <p:nvPr/>
      </p:nvGrpSpPr>
      <p:grpSpPr>
        <a:xfrm>
          <a:off x="0" y="0"/>
          <a:ext cx="0" cy="0"/>
          <a:chOff x="0" y="0"/>
          <a:chExt cx="0" cy="0"/>
        </a:xfrm>
      </p:grpSpPr>
      <p:sp>
        <p:nvSpPr>
          <p:cNvPr id="83" name="Google Shape;83;p8"/>
          <p:cNvSpPr txBox="1"/>
          <p:nvPr>
            <p:ph type="title"/>
          </p:nvPr>
        </p:nvSpPr>
        <p:spPr>
          <a:xfrm>
            <a:off x="812800" y="1102361"/>
            <a:ext cx="10883400" cy="4446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C2230"/>
              </a:buClr>
              <a:buSzPct val="100000"/>
              <a:buFont typeface="IBM Plex Sans"/>
              <a:buNone/>
            </a:pPr>
            <a:r>
              <a:rPr b="1" lang="en-US"/>
              <a:t>Interrupt-Driven</a:t>
            </a:r>
            <a:r>
              <a:rPr b="1" lang="en-US"/>
              <a:t> I/O</a:t>
            </a:r>
            <a:endParaRPr sz="3000"/>
          </a:p>
        </p:txBody>
      </p:sp>
      <p:sp>
        <p:nvSpPr>
          <p:cNvPr id="84" name="Google Shape;84;p8"/>
          <p:cNvSpPr/>
          <p:nvPr/>
        </p:nvSpPr>
        <p:spPr>
          <a:xfrm>
            <a:off x="812800" y="6238239"/>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673"/>
              </a:buClr>
              <a:buSzPts val="1200"/>
              <a:buFont typeface="IBM Plex Sans"/>
              <a:buNone/>
            </a:pPr>
            <a:r>
              <a:rPr b="0" i="0" lang="en-US" sz="1200" u="none" cap="none" strike="noStrike">
                <a:solidFill>
                  <a:srgbClr val="5F6673"/>
                </a:solidFill>
                <a:latin typeface="IBM Plex Sans"/>
                <a:ea typeface="IBM Plex Sans"/>
                <a:cs typeface="IBM Plex Sans"/>
                <a:sym typeface="IBM Plex Sans"/>
              </a:rPr>
              <a:t>This packet is the running example for the next two hours</a:t>
            </a:r>
            <a:endParaRPr b="0" i="0" sz="1200" u="none" cap="none" strike="noStrike">
              <a:solidFill>
                <a:schemeClr val="dk1"/>
              </a:solidFill>
              <a:latin typeface="IBM Plex Sans"/>
              <a:ea typeface="IBM Plex Sans"/>
              <a:cs typeface="IBM Plex Sans"/>
              <a:sym typeface="IBM Plex Sans"/>
            </a:endParaRPr>
          </a:p>
        </p:txBody>
      </p:sp>
      <p:sp>
        <p:nvSpPr>
          <p:cNvPr id="85" name="Google Shape;85;p8"/>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86" name="Google Shape;86;p8"/>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B24A17"/>
              </a:buClr>
              <a:buSzPts val="1200"/>
              <a:buFont typeface="IBM Plex Mono"/>
              <a:buNone/>
            </a:pPr>
            <a:r>
              <a:rPr lang="en-US" sz="1200">
                <a:solidFill>
                  <a:srgbClr val="B24A17"/>
                </a:solidFill>
                <a:latin typeface="Comfortaa"/>
                <a:ea typeface="Comfortaa"/>
                <a:cs typeface="Comfortaa"/>
                <a:sym typeface="Comfortaa"/>
              </a:rPr>
              <a:t>I </a:t>
            </a:r>
            <a:r>
              <a:rPr i="0" lang="en-US" sz="1200" u="none" cap="none" strike="noStrike">
                <a:solidFill>
                  <a:srgbClr val="B24A17"/>
                </a:solidFill>
                <a:latin typeface="Comfortaa"/>
                <a:ea typeface="Comfortaa"/>
                <a:cs typeface="Comfortaa"/>
                <a:sym typeface="Comfortaa"/>
              </a:rPr>
              <a:t>· DMA</a:t>
            </a:r>
            <a:endParaRPr i="0" sz="1200" u="none" cap="none" strike="noStrike">
              <a:solidFill>
                <a:schemeClr val="dk1"/>
              </a:solidFill>
              <a:latin typeface="Comfortaa"/>
              <a:ea typeface="Comfortaa"/>
              <a:cs typeface="Comfortaa"/>
              <a:sym typeface="Comfortaa"/>
            </a:endParaRPr>
          </a:p>
        </p:txBody>
      </p:sp>
      <p:pic>
        <p:nvPicPr>
          <p:cNvPr id="87" name="Google Shape;87;p8"/>
          <p:cNvPicPr preferRelativeResize="0"/>
          <p:nvPr/>
        </p:nvPicPr>
        <p:blipFill>
          <a:blip r:embed="rId3">
            <a:alphaModFix/>
          </a:blip>
          <a:stretch>
            <a:fillRect/>
          </a:stretch>
        </p:blipFill>
        <p:spPr>
          <a:xfrm>
            <a:off x="946288" y="2212999"/>
            <a:ext cx="10299423" cy="318895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E"/>
        </a:solidFill>
      </p:bgPr>
    </p:bg>
    <p:spTree>
      <p:nvGrpSpPr>
        <p:cNvPr id="92" name="Shape 92"/>
        <p:cNvGrpSpPr/>
        <p:nvPr/>
      </p:nvGrpSpPr>
      <p:grpSpPr>
        <a:xfrm>
          <a:off x="0" y="0"/>
          <a:ext cx="0" cy="0"/>
          <a:chOff x="0" y="0"/>
          <a:chExt cx="0" cy="0"/>
        </a:xfrm>
      </p:grpSpPr>
      <p:sp>
        <p:nvSpPr>
          <p:cNvPr id="93" name="Google Shape;93;p9"/>
          <p:cNvSpPr txBox="1"/>
          <p:nvPr>
            <p:ph type="title"/>
          </p:nvPr>
        </p:nvSpPr>
        <p:spPr>
          <a:xfrm>
            <a:off x="812800" y="1102361"/>
            <a:ext cx="10883400" cy="4446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C2230"/>
              </a:buClr>
              <a:buSzPct val="100000"/>
              <a:buFont typeface="IBM Plex Sans"/>
              <a:buNone/>
            </a:pPr>
            <a:r>
              <a:rPr b="1" lang="en-US"/>
              <a:t>Interrupt-Driven I/O </a:t>
            </a:r>
            <a:r>
              <a:rPr lang="en-US"/>
              <a:t>(Historical)</a:t>
            </a:r>
            <a:endParaRPr sz="3000"/>
          </a:p>
        </p:txBody>
      </p:sp>
      <p:sp>
        <p:nvSpPr>
          <p:cNvPr id="94" name="Google Shape;94;p9"/>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95" name="Google Shape;95;p9"/>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B24A17"/>
              </a:buClr>
              <a:buSzPts val="1200"/>
              <a:buFont typeface="IBM Plex Mono"/>
              <a:buNone/>
            </a:pPr>
            <a:r>
              <a:rPr lang="en-US" sz="1200">
                <a:solidFill>
                  <a:srgbClr val="B24A17"/>
                </a:solidFill>
                <a:latin typeface="Comfortaa"/>
                <a:ea typeface="Comfortaa"/>
                <a:cs typeface="Comfortaa"/>
                <a:sym typeface="Comfortaa"/>
              </a:rPr>
              <a:t>I </a:t>
            </a:r>
            <a:r>
              <a:rPr i="0" lang="en-US" sz="1200" u="none" cap="none" strike="noStrike">
                <a:solidFill>
                  <a:srgbClr val="B24A17"/>
                </a:solidFill>
                <a:latin typeface="Comfortaa"/>
                <a:ea typeface="Comfortaa"/>
                <a:cs typeface="Comfortaa"/>
                <a:sym typeface="Comfortaa"/>
              </a:rPr>
              <a:t>· DMA</a:t>
            </a:r>
            <a:endParaRPr i="0" sz="1200" u="none" cap="none" strike="noStrike">
              <a:solidFill>
                <a:schemeClr val="dk1"/>
              </a:solidFill>
              <a:latin typeface="Comfortaa"/>
              <a:ea typeface="Comfortaa"/>
              <a:cs typeface="Comfortaa"/>
              <a:sym typeface="Comfortaa"/>
            </a:endParaRPr>
          </a:p>
        </p:txBody>
      </p:sp>
      <p:pic>
        <p:nvPicPr>
          <p:cNvPr id="96" name="Google Shape;96;p9"/>
          <p:cNvPicPr preferRelativeResize="0"/>
          <p:nvPr/>
        </p:nvPicPr>
        <p:blipFill>
          <a:blip r:embed="rId3">
            <a:alphaModFix/>
          </a:blip>
          <a:stretch>
            <a:fillRect/>
          </a:stretch>
        </p:blipFill>
        <p:spPr>
          <a:xfrm>
            <a:off x="1033050" y="2159100"/>
            <a:ext cx="9991850" cy="339312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E"/>
        </a:solidFill>
      </p:bgPr>
    </p:bg>
    <p:spTree>
      <p:nvGrpSpPr>
        <p:cNvPr id="101" name="Shape 101"/>
        <p:cNvGrpSpPr/>
        <p:nvPr/>
      </p:nvGrpSpPr>
      <p:grpSpPr>
        <a:xfrm>
          <a:off x="0" y="0"/>
          <a:ext cx="0" cy="0"/>
          <a:chOff x="0" y="0"/>
          <a:chExt cx="0" cy="0"/>
        </a:xfrm>
      </p:grpSpPr>
      <p:sp>
        <p:nvSpPr>
          <p:cNvPr id="102" name="Google Shape;102;p10"/>
          <p:cNvSpPr txBox="1"/>
          <p:nvPr>
            <p:ph type="title"/>
          </p:nvPr>
        </p:nvSpPr>
        <p:spPr>
          <a:xfrm>
            <a:off x="812800" y="1102361"/>
            <a:ext cx="10883400" cy="4446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C2230"/>
              </a:buClr>
              <a:buSzPct val="100000"/>
              <a:buFont typeface="IBM Plex Sans"/>
              <a:buNone/>
            </a:pPr>
            <a:r>
              <a:rPr b="1" lang="en-US"/>
              <a:t>Direct Memory Access</a:t>
            </a:r>
            <a:endParaRPr sz="3000"/>
          </a:p>
        </p:txBody>
      </p:sp>
      <p:sp>
        <p:nvSpPr>
          <p:cNvPr id="103" name="Google Shape;103;p10"/>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104" name="Google Shape;104;p10"/>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B24A17"/>
              </a:buClr>
              <a:buSzPts val="1200"/>
              <a:buFont typeface="IBM Plex Mono"/>
              <a:buNone/>
            </a:pPr>
            <a:r>
              <a:rPr lang="en-US" sz="1200">
                <a:solidFill>
                  <a:srgbClr val="B24A17"/>
                </a:solidFill>
                <a:latin typeface="Comfortaa"/>
                <a:ea typeface="Comfortaa"/>
                <a:cs typeface="Comfortaa"/>
                <a:sym typeface="Comfortaa"/>
              </a:rPr>
              <a:t>I </a:t>
            </a:r>
            <a:r>
              <a:rPr i="0" lang="en-US" sz="1200" u="none" cap="none" strike="noStrike">
                <a:solidFill>
                  <a:srgbClr val="B24A17"/>
                </a:solidFill>
                <a:latin typeface="Comfortaa"/>
                <a:ea typeface="Comfortaa"/>
                <a:cs typeface="Comfortaa"/>
                <a:sym typeface="Comfortaa"/>
              </a:rPr>
              <a:t>· DMA</a:t>
            </a:r>
            <a:endParaRPr i="0" sz="1200" u="none" cap="none" strike="noStrike">
              <a:solidFill>
                <a:schemeClr val="dk1"/>
              </a:solidFill>
              <a:latin typeface="Comfortaa"/>
              <a:ea typeface="Comfortaa"/>
              <a:cs typeface="Comfortaa"/>
              <a:sym typeface="Comfortaa"/>
            </a:endParaRPr>
          </a:p>
        </p:txBody>
      </p:sp>
      <p:pic>
        <p:nvPicPr>
          <p:cNvPr id="105" name="Google Shape;105;p10"/>
          <p:cNvPicPr preferRelativeResize="0"/>
          <p:nvPr/>
        </p:nvPicPr>
        <p:blipFill>
          <a:blip r:embed="rId3">
            <a:alphaModFix/>
          </a:blip>
          <a:stretch>
            <a:fillRect/>
          </a:stretch>
        </p:blipFill>
        <p:spPr>
          <a:xfrm>
            <a:off x="670075" y="1597700"/>
            <a:ext cx="5256951" cy="3954299"/>
          </a:xfrm>
          <a:prstGeom prst="rect">
            <a:avLst/>
          </a:prstGeom>
          <a:noFill/>
          <a:ln>
            <a:noFill/>
          </a:ln>
        </p:spPr>
      </p:pic>
      <p:sp>
        <p:nvSpPr>
          <p:cNvPr id="106" name="Google Shape;106;p10"/>
          <p:cNvSpPr/>
          <p:nvPr/>
        </p:nvSpPr>
        <p:spPr>
          <a:xfrm>
            <a:off x="8159775" y="2040894"/>
            <a:ext cx="1741200" cy="1614900"/>
          </a:xfrm>
          <a:prstGeom prst="roundRect">
            <a:avLst>
              <a:gd fmla="val 6927" name="adj"/>
            </a:avLst>
          </a:prstGeom>
          <a:solidFill>
            <a:srgbClr val="FDFCF9"/>
          </a:solidFill>
          <a:ln cap="flat" cmpd="sng" w="9525">
            <a:solidFill>
              <a:srgbClr val="D9D4C9"/>
            </a:solidFill>
            <a:prstDash val="solid"/>
            <a:round/>
            <a:headEnd len="sm" w="sm" type="none"/>
            <a:tailEnd len="sm" w="sm" type="none"/>
          </a:ln>
        </p:spPr>
        <p:txBody>
          <a:bodyPr anchorCtr="0" anchor="t" bIns="133125" lIns="158525" spcFirstLastPara="1" rIns="107725" wrap="square" tIns="158525">
            <a:noAutofit/>
          </a:bodyPr>
          <a:lstStyle/>
          <a:p>
            <a:pPr indent="0" lvl="0" marL="0" marR="0" rtl="0" algn="l">
              <a:lnSpc>
                <a:spcPct val="135037"/>
              </a:lnSpc>
              <a:spcBef>
                <a:spcPts val="0"/>
              </a:spcBef>
              <a:spcAft>
                <a:spcPts val="0"/>
              </a:spcAft>
              <a:buClr>
                <a:srgbClr val="1C2230"/>
              </a:buClr>
              <a:buSzPts val="1350"/>
              <a:buFont typeface="IBM Plex Sans"/>
              <a:buNone/>
            </a:pPr>
            <a:r>
              <a:rPr b="1" i="0" lang="en-US" sz="1350" u="none" cap="none" strike="noStrike">
                <a:solidFill>
                  <a:srgbClr val="1C2230"/>
                </a:solidFill>
                <a:latin typeface="IBM Plex Sans"/>
                <a:ea typeface="IBM Plex Sans"/>
                <a:cs typeface="IBM Plex Sans"/>
                <a:sym typeface="IBM Plex Sans"/>
              </a:rPr>
              <a:t>1.</a:t>
            </a:r>
            <a:r>
              <a:rPr b="0" i="0" lang="en-US" sz="1350" u="none" cap="none" strike="noStrike">
                <a:solidFill>
                  <a:srgbClr val="1C2230"/>
                </a:solidFill>
                <a:latin typeface="IBM Plex Sans"/>
                <a:ea typeface="IBM Plex Sans"/>
                <a:cs typeface="IBM Plex Sans"/>
                <a:sym typeface="IBM Plex Sans"/>
              </a:rPr>
              <a:t> </a:t>
            </a:r>
            <a:r>
              <a:rPr lang="en-US" sz="1350">
                <a:solidFill>
                  <a:srgbClr val="1C2230"/>
                </a:solidFill>
                <a:latin typeface="IBM Plex Sans"/>
                <a:ea typeface="IBM Plex Sans"/>
                <a:cs typeface="IBM Plex Sans"/>
                <a:sym typeface="IBM Plex Sans"/>
              </a:rPr>
              <a:t> driver creates a descriptor for a DMA buffer.</a:t>
            </a:r>
            <a:endParaRPr b="0" i="0" sz="135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E"/>
        </a:solidFill>
      </p:bgPr>
    </p:bg>
    <p:spTree>
      <p:nvGrpSpPr>
        <p:cNvPr id="111" name="Shape 111"/>
        <p:cNvGrpSpPr/>
        <p:nvPr/>
      </p:nvGrpSpPr>
      <p:grpSpPr>
        <a:xfrm>
          <a:off x="0" y="0"/>
          <a:ext cx="0" cy="0"/>
          <a:chOff x="0" y="0"/>
          <a:chExt cx="0" cy="0"/>
        </a:xfrm>
      </p:grpSpPr>
      <p:sp>
        <p:nvSpPr>
          <p:cNvPr id="112" name="Google Shape;112;p11"/>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113" name="Google Shape;113;p11"/>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B24A17"/>
              </a:buClr>
              <a:buSzPts val="1200"/>
              <a:buFont typeface="IBM Plex Mono"/>
              <a:buNone/>
            </a:pPr>
            <a:r>
              <a:rPr lang="en-US" sz="1200">
                <a:solidFill>
                  <a:srgbClr val="B24A17"/>
                </a:solidFill>
                <a:latin typeface="Comfortaa"/>
                <a:ea typeface="Comfortaa"/>
                <a:cs typeface="Comfortaa"/>
                <a:sym typeface="Comfortaa"/>
              </a:rPr>
              <a:t>I </a:t>
            </a:r>
            <a:r>
              <a:rPr i="0" lang="en-US" sz="1200" u="none" cap="none" strike="noStrike">
                <a:solidFill>
                  <a:srgbClr val="B24A17"/>
                </a:solidFill>
                <a:latin typeface="Comfortaa"/>
                <a:ea typeface="Comfortaa"/>
                <a:cs typeface="Comfortaa"/>
                <a:sym typeface="Comfortaa"/>
              </a:rPr>
              <a:t>· DMA</a:t>
            </a:r>
            <a:endParaRPr i="0" sz="1200" u="none" cap="none" strike="noStrike">
              <a:solidFill>
                <a:schemeClr val="dk1"/>
              </a:solidFill>
              <a:latin typeface="Comfortaa"/>
              <a:ea typeface="Comfortaa"/>
              <a:cs typeface="Comfortaa"/>
              <a:sym typeface="Comfortaa"/>
            </a:endParaRPr>
          </a:p>
        </p:txBody>
      </p:sp>
      <p:pic>
        <p:nvPicPr>
          <p:cNvPr id="114" name="Google Shape;114;p11"/>
          <p:cNvPicPr preferRelativeResize="0"/>
          <p:nvPr/>
        </p:nvPicPr>
        <p:blipFill>
          <a:blip r:embed="rId3">
            <a:alphaModFix/>
          </a:blip>
          <a:stretch>
            <a:fillRect/>
          </a:stretch>
        </p:blipFill>
        <p:spPr>
          <a:xfrm>
            <a:off x="619975" y="1666325"/>
            <a:ext cx="5930426" cy="3832526"/>
          </a:xfrm>
          <a:prstGeom prst="rect">
            <a:avLst/>
          </a:prstGeom>
          <a:noFill/>
          <a:ln>
            <a:noFill/>
          </a:ln>
        </p:spPr>
      </p:pic>
      <p:sp>
        <p:nvSpPr>
          <p:cNvPr id="115" name="Google Shape;115;p11"/>
          <p:cNvSpPr/>
          <p:nvPr/>
        </p:nvSpPr>
        <p:spPr>
          <a:xfrm>
            <a:off x="7978875" y="2024850"/>
            <a:ext cx="1845900" cy="1614900"/>
          </a:xfrm>
          <a:prstGeom prst="roundRect">
            <a:avLst>
              <a:gd fmla="val 6927" name="adj"/>
            </a:avLst>
          </a:prstGeom>
          <a:solidFill>
            <a:srgbClr val="FDFCF9"/>
          </a:solidFill>
          <a:ln cap="flat" cmpd="sng" w="9525">
            <a:solidFill>
              <a:srgbClr val="D9D4C9"/>
            </a:solidFill>
            <a:prstDash val="solid"/>
            <a:round/>
            <a:headEnd len="sm" w="sm" type="none"/>
            <a:tailEnd len="sm" w="sm" type="none"/>
          </a:ln>
        </p:spPr>
        <p:txBody>
          <a:bodyPr anchorCtr="0" anchor="t" bIns="133125" lIns="158525" spcFirstLastPara="1" rIns="107725" wrap="square" tIns="158525">
            <a:noAutofit/>
          </a:bodyPr>
          <a:lstStyle/>
          <a:p>
            <a:pPr indent="0" lvl="0" marL="0" marR="0" rtl="0" algn="l">
              <a:lnSpc>
                <a:spcPct val="135037"/>
              </a:lnSpc>
              <a:spcBef>
                <a:spcPts val="0"/>
              </a:spcBef>
              <a:spcAft>
                <a:spcPts val="0"/>
              </a:spcAft>
              <a:buClr>
                <a:srgbClr val="1C2230"/>
              </a:buClr>
              <a:buSzPts val="1350"/>
              <a:buFont typeface="IBM Plex Sans"/>
              <a:buNone/>
            </a:pPr>
            <a:r>
              <a:rPr b="1" i="0" lang="en-US" sz="1350" u="none" cap="none" strike="noStrike">
                <a:solidFill>
                  <a:srgbClr val="1C2230"/>
                </a:solidFill>
                <a:latin typeface="IBM Plex Sans"/>
                <a:ea typeface="IBM Plex Sans"/>
                <a:cs typeface="IBM Plex Sans"/>
                <a:sym typeface="IBM Plex Sans"/>
              </a:rPr>
              <a:t>2.</a:t>
            </a:r>
            <a:r>
              <a:rPr b="0" i="0" lang="en-US" sz="1350" u="none" cap="none" strike="noStrike">
                <a:solidFill>
                  <a:srgbClr val="1C2230"/>
                </a:solidFill>
                <a:latin typeface="IBM Plex Sans"/>
                <a:ea typeface="IBM Plex Sans"/>
                <a:cs typeface="IBM Plex Sans"/>
                <a:sym typeface="IBM Plex Sans"/>
              </a:rPr>
              <a:t> </a:t>
            </a:r>
            <a:r>
              <a:rPr lang="en-US" sz="1350">
                <a:solidFill>
                  <a:srgbClr val="1C2230"/>
                </a:solidFill>
                <a:latin typeface="IBM Plex Sans"/>
                <a:ea typeface="IBM Plex Sans"/>
                <a:cs typeface="IBM Plex Sans"/>
                <a:sym typeface="IBM Plex Sans"/>
              </a:rPr>
              <a:t>driver allocates a DMA buffer and initializes the descriptor</a:t>
            </a:r>
            <a:endParaRPr b="0" i="0" sz="1350" u="none" cap="none" strike="noStrike">
              <a:solidFill>
                <a:schemeClr val="dk1"/>
              </a:solidFill>
              <a:latin typeface="IBM Plex Sans"/>
              <a:ea typeface="IBM Plex Sans"/>
              <a:cs typeface="IBM Plex Sans"/>
              <a:sym typeface="IBM Plex Sans"/>
            </a:endParaRPr>
          </a:p>
        </p:txBody>
      </p:sp>
      <p:sp>
        <p:nvSpPr>
          <p:cNvPr id="116" name="Google Shape;116;p11"/>
          <p:cNvSpPr txBox="1"/>
          <p:nvPr>
            <p:ph type="title"/>
          </p:nvPr>
        </p:nvSpPr>
        <p:spPr>
          <a:xfrm>
            <a:off x="812800" y="1102361"/>
            <a:ext cx="10883400" cy="4446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C2230"/>
              </a:buClr>
              <a:buSzPct val="100000"/>
              <a:buFont typeface="IBM Plex Sans"/>
              <a:buNone/>
            </a:pPr>
            <a:r>
              <a:rPr b="1" lang="en-US"/>
              <a:t>Direct Memory Access</a:t>
            </a:r>
            <a:endParaRPr sz="3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E"/>
        </a:solidFill>
      </p:bgPr>
    </p:bg>
    <p:spTree>
      <p:nvGrpSpPr>
        <p:cNvPr id="121" name="Shape 121"/>
        <p:cNvGrpSpPr/>
        <p:nvPr/>
      </p:nvGrpSpPr>
      <p:grpSpPr>
        <a:xfrm>
          <a:off x="0" y="0"/>
          <a:ext cx="0" cy="0"/>
          <a:chOff x="0" y="0"/>
          <a:chExt cx="0" cy="0"/>
        </a:xfrm>
      </p:grpSpPr>
      <p:sp>
        <p:nvSpPr>
          <p:cNvPr id="122" name="Google Shape;122;p12"/>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123" name="Google Shape;123;p12"/>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B24A17"/>
              </a:buClr>
              <a:buSzPts val="1200"/>
              <a:buFont typeface="IBM Plex Mono"/>
              <a:buNone/>
            </a:pPr>
            <a:r>
              <a:rPr lang="en-US" sz="1200">
                <a:solidFill>
                  <a:srgbClr val="B24A17"/>
                </a:solidFill>
                <a:latin typeface="Comfortaa"/>
                <a:ea typeface="Comfortaa"/>
                <a:cs typeface="Comfortaa"/>
                <a:sym typeface="Comfortaa"/>
              </a:rPr>
              <a:t>I </a:t>
            </a:r>
            <a:r>
              <a:rPr i="0" lang="en-US" sz="1200" u="none" cap="none" strike="noStrike">
                <a:solidFill>
                  <a:srgbClr val="B24A17"/>
                </a:solidFill>
                <a:latin typeface="Comfortaa"/>
                <a:ea typeface="Comfortaa"/>
                <a:cs typeface="Comfortaa"/>
                <a:sym typeface="Comfortaa"/>
              </a:rPr>
              <a:t>· DMA</a:t>
            </a:r>
            <a:endParaRPr i="0" sz="1200" u="none" cap="none" strike="noStrike">
              <a:solidFill>
                <a:schemeClr val="dk1"/>
              </a:solidFill>
              <a:latin typeface="Comfortaa"/>
              <a:ea typeface="Comfortaa"/>
              <a:cs typeface="Comfortaa"/>
              <a:sym typeface="Comfortaa"/>
            </a:endParaRPr>
          </a:p>
        </p:txBody>
      </p:sp>
      <p:pic>
        <p:nvPicPr>
          <p:cNvPr id="124" name="Google Shape;124;p12"/>
          <p:cNvPicPr preferRelativeResize="0"/>
          <p:nvPr/>
        </p:nvPicPr>
        <p:blipFill>
          <a:blip r:embed="rId3">
            <a:alphaModFix/>
          </a:blip>
          <a:stretch>
            <a:fillRect/>
          </a:stretch>
        </p:blipFill>
        <p:spPr>
          <a:xfrm>
            <a:off x="474125" y="1640225"/>
            <a:ext cx="6493925" cy="4084951"/>
          </a:xfrm>
          <a:prstGeom prst="rect">
            <a:avLst/>
          </a:prstGeom>
          <a:noFill/>
          <a:ln>
            <a:noFill/>
          </a:ln>
        </p:spPr>
      </p:pic>
      <p:sp>
        <p:nvSpPr>
          <p:cNvPr id="125" name="Google Shape;125;p12"/>
          <p:cNvSpPr/>
          <p:nvPr/>
        </p:nvSpPr>
        <p:spPr>
          <a:xfrm>
            <a:off x="7942050" y="2115603"/>
            <a:ext cx="1741200" cy="1614900"/>
          </a:xfrm>
          <a:prstGeom prst="roundRect">
            <a:avLst>
              <a:gd fmla="val 6927" name="adj"/>
            </a:avLst>
          </a:prstGeom>
          <a:solidFill>
            <a:srgbClr val="FDFCF9"/>
          </a:solidFill>
          <a:ln cap="flat" cmpd="sng" w="9525">
            <a:solidFill>
              <a:srgbClr val="D9D4C9"/>
            </a:solidFill>
            <a:prstDash val="solid"/>
            <a:round/>
            <a:headEnd len="sm" w="sm" type="none"/>
            <a:tailEnd len="sm" w="sm" type="none"/>
          </a:ln>
        </p:spPr>
        <p:txBody>
          <a:bodyPr anchorCtr="0" anchor="t" bIns="133125" lIns="158525" spcFirstLastPara="1" rIns="107725" wrap="square" tIns="158525">
            <a:noAutofit/>
          </a:bodyPr>
          <a:lstStyle/>
          <a:p>
            <a:pPr indent="0" lvl="0" marL="0" marR="0" rtl="0" algn="l">
              <a:lnSpc>
                <a:spcPct val="135037"/>
              </a:lnSpc>
              <a:spcBef>
                <a:spcPts val="0"/>
              </a:spcBef>
              <a:spcAft>
                <a:spcPts val="0"/>
              </a:spcAft>
              <a:buClr>
                <a:srgbClr val="1C2230"/>
              </a:buClr>
              <a:buSzPts val="1350"/>
              <a:buFont typeface="IBM Plex Sans"/>
              <a:buNone/>
            </a:pPr>
            <a:r>
              <a:rPr b="1" i="0" lang="en-US" sz="1350" u="none" cap="none" strike="noStrike">
                <a:solidFill>
                  <a:srgbClr val="1C2230"/>
                </a:solidFill>
                <a:latin typeface="IBM Plex Sans"/>
                <a:ea typeface="IBM Plex Sans"/>
                <a:cs typeface="IBM Plex Sans"/>
                <a:sym typeface="IBM Plex Sans"/>
              </a:rPr>
              <a:t>3.</a:t>
            </a:r>
            <a:r>
              <a:rPr b="0" i="0" lang="en-US" sz="1350" u="none" cap="none" strike="noStrike">
                <a:solidFill>
                  <a:srgbClr val="1C2230"/>
                </a:solidFill>
                <a:latin typeface="IBM Plex Sans"/>
                <a:ea typeface="IBM Plex Sans"/>
                <a:cs typeface="IBM Plex Sans"/>
                <a:sym typeface="IBM Plex Sans"/>
              </a:rPr>
              <a:t> </a:t>
            </a:r>
            <a:r>
              <a:rPr lang="en-US" sz="1350">
                <a:solidFill>
                  <a:srgbClr val="1C2230"/>
                </a:solidFill>
                <a:latin typeface="IBM Plex Sans"/>
                <a:ea typeface="IBM Plex Sans"/>
                <a:cs typeface="IBM Plex Sans"/>
                <a:sym typeface="IBM Plex Sans"/>
              </a:rPr>
              <a:t>The driver informs the DMA engine of the descriptor start address.</a:t>
            </a:r>
            <a:endParaRPr b="0" i="0" sz="1350" u="none" cap="none" strike="noStrike">
              <a:solidFill>
                <a:schemeClr val="dk1"/>
              </a:solidFill>
              <a:latin typeface="IBM Plex Sans"/>
              <a:ea typeface="IBM Plex Sans"/>
              <a:cs typeface="IBM Plex Sans"/>
              <a:sym typeface="IBM Plex Sans"/>
            </a:endParaRPr>
          </a:p>
        </p:txBody>
      </p:sp>
      <p:sp>
        <p:nvSpPr>
          <p:cNvPr id="126" name="Google Shape;126;p12"/>
          <p:cNvSpPr txBox="1"/>
          <p:nvPr>
            <p:ph type="title"/>
          </p:nvPr>
        </p:nvSpPr>
        <p:spPr>
          <a:xfrm>
            <a:off x="812800" y="1102361"/>
            <a:ext cx="10883400" cy="4446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C2230"/>
              </a:buClr>
              <a:buSzPct val="100000"/>
              <a:buFont typeface="IBM Plex Sans"/>
              <a:buNone/>
            </a:pPr>
            <a:r>
              <a:rPr b="1" lang="en-US"/>
              <a:t>Direct Memory Access</a:t>
            </a:r>
            <a:endParaRPr sz="3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E"/>
        </a:solidFill>
      </p:bgPr>
    </p:bg>
    <p:spTree>
      <p:nvGrpSpPr>
        <p:cNvPr id="131" name="Shape 131"/>
        <p:cNvGrpSpPr/>
        <p:nvPr/>
      </p:nvGrpSpPr>
      <p:grpSpPr>
        <a:xfrm>
          <a:off x="0" y="0"/>
          <a:ext cx="0" cy="0"/>
          <a:chOff x="0" y="0"/>
          <a:chExt cx="0" cy="0"/>
        </a:xfrm>
      </p:grpSpPr>
      <p:sp>
        <p:nvSpPr>
          <p:cNvPr id="132" name="Google Shape;132;p13"/>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133" name="Google Shape;133;p13"/>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B24A17"/>
              </a:buClr>
              <a:buSzPts val="1200"/>
              <a:buFont typeface="IBM Plex Mono"/>
              <a:buNone/>
            </a:pPr>
            <a:r>
              <a:rPr lang="en-US" sz="1200">
                <a:solidFill>
                  <a:srgbClr val="B24A17"/>
                </a:solidFill>
                <a:latin typeface="Comfortaa"/>
                <a:ea typeface="Comfortaa"/>
                <a:cs typeface="Comfortaa"/>
                <a:sym typeface="Comfortaa"/>
              </a:rPr>
              <a:t>I </a:t>
            </a:r>
            <a:r>
              <a:rPr i="0" lang="en-US" sz="1200" u="none" cap="none" strike="noStrike">
                <a:solidFill>
                  <a:srgbClr val="B24A17"/>
                </a:solidFill>
                <a:latin typeface="Comfortaa"/>
                <a:ea typeface="Comfortaa"/>
                <a:cs typeface="Comfortaa"/>
                <a:sym typeface="Comfortaa"/>
              </a:rPr>
              <a:t>· DMA</a:t>
            </a:r>
            <a:endParaRPr i="0" sz="1200" u="none" cap="none" strike="noStrike">
              <a:solidFill>
                <a:schemeClr val="dk1"/>
              </a:solidFill>
              <a:latin typeface="Comfortaa"/>
              <a:ea typeface="Comfortaa"/>
              <a:cs typeface="Comfortaa"/>
              <a:sym typeface="Comfortaa"/>
            </a:endParaRPr>
          </a:p>
        </p:txBody>
      </p:sp>
      <p:pic>
        <p:nvPicPr>
          <p:cNvPr id="134" name="Google Shape;134;p13"/>
          <p:cNvPicPr preferRelativeResize="0"/>
          <p:nvPr/>
        </p:nvPicPr>
        <p:blipFill>
          <a:blip r:embed="rId3">
            <a:alphaModFix/>
          </a:blip>
          <a:stretch>
            <a:fillRect/>
          </a:stretch>
        </p:blipFill>
        <p:spPr>
          <a:xfrm>
            <a:off x="189750" y="1694775"/>
            <a:ext cx="6132226" cy="3857450"/>
          </a:xfrm>
          <a:prstGeom prst="rect">
            <a:avLst/>
          </a:prstGeom>
          <a:noFill/>
          <a:ln>
            <a:noFill/>
          </a:ln>
        </p:spPr>
      </p:pic>
      <p:sp>
        <p:nvSpPr>
          <p:cNvPr id="135" name="Google Shape;135;p13"/>
          <p:cNvSpPr/>
          <p:nvPr/>
        </p:nvSpPr>
        <p:spPr>
          <a:xfrm>
            <a:off x="8055250" y="2065275"/>
            <a:ext cx="1906200" cy="1789500"/>
          </a:xfrm>
          <a:prstGeom prst="roundRect">
            <a:avLst>
              <a:gd fmla="val 6927" name="adj"/>
            </a:avLst>
          </a:prstGeom>
          <a:solidFill>
            <a:srgbClr val="FDFCF9"/>
          </a:solidFill>
          <a:ln cap="flat" cmpd="sng" w="9525">
            <a:solidFill>
              <a:srgbClr val="D9D4C9"/>
            </a:solidFill>
            <a:prstDash val="solid"/>
            <a:round/>
            <a:headEnd len="sm" w="sm" type="none"/>
            <a:tailEnd len="sm" w="sm" type="none"/>
          </a:ln>
        </p:spPr>
        <p:txBody>
          <a:bodyPr anchorCtr="0" anchor="t" bIns="133125" lIns="158525" spcFirstLastPara="1" rIns="107725" wrap="square" tIns="158525">
            <a:noAutofit/>
          </a:bodyPr>
          <a:lstStyle/>
          <a:p>
            <a:pPr indent="0" lvl="0" marL="0" marR="0" rtl="0" algn="l">
              <a:lnSpc>
                <a:spcPct val="135037"/>
              </a:lnSpc>
              <a:spcBef>
                <a:spcPts val="0"/>
              </a:spcBef>
              <a:spcAft>
                <a:spcPts val="0"/>
              </a:spcAft>
              <a:buClr>
                <a:srgbClr val="1C2230"/>
              </a:buClr>
              <a:buSzPts val="1350"/>
              <a:buFont typeface="IBM Plex Sans"/>
              <a:buNone/>
            </a:pPr>
            <a:r>
              <a:rPr b="1" i="0" lang="en-US" sz="1350" u="none" cap="none" strike="noStrike">
                <a:solidFill>
                  <a:srgbClr val="1C2230"/>
                </a:solidFill>
                <a:latin typeface="IBM Plex Sans"/>
                <a:ea typeface="IBM Plex Sans"/>
                <a:cs typeface="IBM Plex Sans"/>
                <a:sym typeface="IBM Plex Sans"/>
              </a:rPr>
              <a:t>4.</a:t>
            </a:r>
            <a:r>
              <a:rPr b="0" i="0" lang="en-US" sz="1350" u="none" cap="none" strike="noStrike">
                <a:solidFill>
                  <a:srgbClr val="1C2230"/>
                </a:solidFill>
                <a:latin typeface="IBM Plex Sans"/>
                <a:ea typeface="IBM Plex Sans"/>
                <a:cs typeface="IBM Plex Sans"/>
                <a:sym typeface="IBM Plex Sans"/>
              </a:rPr>
              <a:t> </a:t>
            </a:r>
            <a:r>
              <a:rPr lang="en-US" sz="1350">
                <a:solidFill>
                  <a:srgbClr val="1C2230"/>
                </a:solidFill>
                <a:latin typeface="IBM Plex Sans"/>
                <a:ea typeface="IBM Plex Sans"/>
                <a:cs typeface="IBM Plex Sans"/>
                <a:sym typeface="IBM Plex Sans"/>
              </a:rPr>
              <a:t>The DMA engine loads the descriptor's content from the memory.</a:t>
            </a:r>
            <a:endParaRPr b="0" i="0" sz="1350" u="none" cap="none" strike="noStrike">
              <a:solidFill>
                <a:schemeClr val="dk1"/>
              </a:solidFill>
              <a:latin typeface="IBM Plex Sans"/>
              <a:ea typeface="IBM Plex Sans"/>
              <a:cs typeface="IBM Plex Sans"/>
              <a:sym typeface="IBM Plex Sans"/>
            </a:endParaRPr>
          </a:p>
        </p:txBody>
      </p:sp>
      <p:sp>
        <p:nvSpPr>
          <p:cNvPr id="136" name="Google Shape;136;p13"/>
          <p:cNvSpPr txBox="1"/>
          <p:nvPr>
            <p:ph type="title"/>
          </p:nvPr>
        </p:nvSpPr>
        <p:spPr>
          <a:xfrm>
            <a:off x="812800" y="1102361"/>
            <a:ext cx="10883400" cy="4446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C2230"/>
              </a:buClr>
              <a:buSzPct val="100000"/>
              <a:buFont typeface="IBM Plex Sans"/>
              <a:buNone/>
            </a:pPr>
            <a:r>
              <a:rPr b="1" lang="en-US"/>
              <a:t>Direct Memory Access</a:t>
            </a:r>
            <a:endParaRPr sz="3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E"/>
        </a:solidFill>
      </p:bgPr>
    </p:bg>
    <p:spTree>
      <p:nvGrpSpPr>
        <p:cNvPr id="141" name="Shape 141"/>
        <p:cNvGrpSpPr/>
        <p:nvPr/>
      </p:nvGrpSpPr>
      <p:grpSpPr>
        <a:xfrm>
          <a:off x="0" y="0"/>
          <a:ext cx="0" cy="0"/>
          <a:chOff x="0" y="0"/>
          <a:chExt cx="0" cy="0"/>
        </a:xfrm>
      </p:grpSpPr>
      <p:sp>
        <p:nvSpPr>
          <p:cNvPr id="142" name="Google Shape;142;p14"/>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143" name="Google Shape;143;p14"/>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B24A17"/>
              </a:buClr>
              <a:buSzPts val="1200"/>
              <a:buFont typeface="IBM Plex Mono"/>
              <a:buNone/>
            </a:pPr>
            <a:r>
              <a:rPr lang="en-US" sz="1200">
                <a:solidFill>
                  <a:srgbClr val="B24A17"/>
                </a:solidFill>
                <a:latin typeface="Comfortaa"/>
                <a:ea typeface="Comfortaa"/>
                <a:cs typeface="Comfortaa"/>
                <a:sym typeface="Comfortaa"/>
              </a:rPr>
              <a:t>I </a:t>
            </a:r>
            <a:r>
              <a:rPr i="0" lang="en-US" sz="1200" u="none" cap="none" strike="noStrike">
                <a:solidFill>
                  <a:srgbClr val="B24A17"/>
                </a:solidFill>
                <a:latin typeface="Comfortaa"/>
                <a:ea typeface="Comfortaa"/>
                <a:cs typeface="Comfortaa"/>
                <a:sym typeface="Comfortaa"/>
              </a:rPr>
              <a:t>· DMA</a:t>
            </a:r>
            <a:endParaRPr i="0" sz="1200" u="none" cap="none" strike="noStrike">
              <a:solidFill>
                <a:schemeClr val="dk1"/>
              </a:solidFill>
              <a:latin typeface="Comfortaa"/>
              <a:ea typeface="Comfortaa"/>
              <a:cs typeface="Comfortaa"/>
              <a:sym typeface="Comfortaa"/>
            </a:endParaRPr>
          </a:p>
        </p:txBody>
      </p:sp>
      <p:pic>
        <p:nvPicPr>
          <p:cNvPr id="144" name="Google Shape;144;p14"/>
          <p:cNvPicPr preferRelativeResize="0"/>
          <p:nvPr/>
        </p:nvPicPr>
        <p:blipFill>
          <a:blip r:embed="rId3">
            <a:alphaModFix/>
          </a:blip>
          <a:stretch>
            <a:fillRect/>
          </a:stretch>
        </p:blipFill>
        <p:spPr>
          <a:xfrm>
            <a:off x="428525" y="1688975"/>
            <a:ext cx="6531574" cy="4223000"/>
          </a:xfrm>
          <a:prstGeom prst="rect">
            <a:avLst/>
          </a:prstGeom>
          <a:noFill/>
          <a:ln>
            <a:noFill/>
          </a:ln>
        </p:spPr>
      </p:pic>
      <p:sp>
        <p:nvSpPr>
          <p:cNvPr id="145" name="Google Shape;145;p14"/>
          <p:cNvSpPr/>
          <p:nvPr/>
        </p:nvSpPr>
        <p:spPr>
          <a:xfrm>
            <a:off x="8071500" y="2075923"/>
            <a:ext cx="1741200" cy="1822500"/>
          </a:xfrm>
          <a:prstGeom prst="roundRect">
            <a:avLst>
              <a:gd fmla="val 6927" name="adj"/>
            </a:avLst>
          </a:prstGeom>
          <a:solidFill>
            <a:srgbClr val="FDFCF9"/>
          </a:solidFill>
          <a:ln cap="flat" cmpd="sng" w="9525">
            <a:solidFill>
              <a:srgbClr val="D9D4C9"/>
            </a:solidFill>
            <a:prstDash val="solid"/>
            <a:round/>
            <a:headEnd len="sm" w="sm" type="none"/>
            <a:tailEnd len="sm" w="sm" type="none"/>
          </a:ln>
        </p:spPr>
        <p:txBody>
          <a:bodyPr anchorCtr="0" anchor="t" bIns="133125" lIns="158525" spcFirstLastPara="1" rIns="107725" wrap="square" tIns="158525">
            <a:noAutofit/>
          </a:bodyPr>
          <a:lstStyle/>
          <a:p>
            <a:pPr indent="0" lvl="0" marL="0" marR="0" rtl="0" algn="l">
              <a:lnSpc>
                <a:spcPct val="135037"/>
              </a:lnSpc>
              <a:spcBef>
                <a:spcPts val="0"/>
              </a:spcBef>
              <a:spcAft>
                <a:spcPts val="0"/>
              </a:spcAft>
              <a:buClr>
                <a:srgbClr val="1C2230"/>
              </a:buClr>
              <a:buSzPts val="1350"/>
              <a:buFont typeface="IBM Plex Sans"/>
              <a:buNone/>
            </a:pPr>
            <a:r>
              <a:rPr b="1" i="0" lang="en-US" sz="1350" u="none" cap="none" strike="noStrike">
                <a:solidFill>
                  <a:srgbClr val="1C2230"/>
                </a:solidFill>
                <a:latin typeface="IBM Plex Sans"/>
                <a:ea typeface="IBM Plex Sans"/>
                <a:cs typeface="IBM Plex Sans"/>
                <a:sym typeface="IBM Plex Sans"/>
              </a:rPr>
              <a:t>5.</a:t>
            </a:r>
            <a:r>
              <a:rPr b="0" i="0" lang="en-US" sz="1350" u="none" cap="none" strike="noStrike">
                <a:solidFill>
                  <a:srgbClr val="1C2230"/>
                </a:solidFill>
                <a:latin typeface="IBM Plex Sans"/>
                <a:ea typeface="IBM Plex Sans"/>
                <a:cs typeface="IBM Plex Sans"/>
                <a:sym typeface="IBM Plex Sans"/>
              </a:rPr>
              <a:t> </a:t>
            </a:r>
            <a:r>
              <a:rPr lang="en-US" sz="1350">
                <a:solidFill>
                  <a:srgbClr val="1C2230"/>
                </a:solidFill>
                <a:latin typeface="IBM Plex Sans"/>
                <a:ea typeface="IBM Plex Sans"/>
                <a:cs typeface="IBM Plex Sans"/>
                <a:sym typeface="IBM Plex Sans"/>
              </a:rPr>
              <a:t>the DMA engine receives the data from the I/O device and update the DMA buffer.</a:t>
            </a:r>
            <a:endParaRPr b="0" i="0" sz="1350" u="none" cap="none" strike="noStrike">
              <a:solidFill>
                <a:schemeClr val="dk1"/>
              </a:solidFill>
              <a:latin typeface="IBM Plex Sans"/>
              <a:ea typeface="IBM Plex Sans"/>
              <a:cs typeface="IBM Plex Sans"/>
              <a:sym typeface="IBM Plex Sans"/>
            </a:endParaRPr>
          </a:p>
        </p:txBody>
      </p:sp>
      <p:sp>
        <p:nvSpPr>
          <p:cNvPr id="146" name="Google Shape;146;p14"/>
          <p:cNvSpPr txBox="1"/>
          <p:nvPr>
            <p:ph type="title"/>
          </p:nvPr>
        </p:nvSpPr>
        <p:spPr>
          <a:xfrm>
            <a:off x="812800" y="1102361"/>
            <a:ext cx="10883400" cy="4446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C2230"/>
              </a:buClr>
              <a:buSzPct val="100000"/>
              <a:buFont typeface="IBM Plex Sans"/>
              <a:buNone/>
            </a:pPr>
            <a:r>
              <a:rPr b="1" lang="en-US"/>
              <a:t>Direct Memory Access</a:t>
            </a:r>
            <a:endParaRPr sz="3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E"/>
        </a:solidFill>
      </p:bgPr>
    </p:bg>
    <p:spTree>
      <p:nvGrpSpPr>
        <p:cNvPr id="151" name="Shape 151"/>
        <p:cNvGrpSpPr/>
        <p:nvPr/>
      </p:nvGrpSpPr>
      <p:grpSpPr>
        <a:xfrm>
          <a:off x="0" y="0"/>
          <a:ext cx="0" cy="0"/>
          <a:chOff x="0" y="0"/>
          <a:chExt cx="0" cy="0"/>
        </a:xfrm>
      </p:grpSpPr>
      <p:sp>
        <p:nvSpPr>
          <p:cNvPr id="152" name="Google Shape;152;p15"/>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153" name="Google Shape;153;p15"/>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B24A17"/>
              </a:buClr>
              <a:buSzPts val="1200"/>
              <a:buFont typeface="IBM Plex Mono"/>
              <a:buNone/>
            </a:pPr>
            <a:r>
              <a:rPr lang="en-US" sz="1200">
                <a:solidFill>
                  <a:srgbClr val="B24A17"/>
                </a:solidFill>
                <a:latin typeface="Comfortaa"/>
                <a:ea typeface="Comfortaa"/>
                <a:cs typeface="Comfortaa"/>
                <a:sym typeface="Comfortaa"/>
              </a:rPr>
              <a:t>I </a:t>
            </a:r>
            <a:r>
              <a:rPr i="0" lang="en-US" sz="1200" u="none" cap="none" strike="noStrike">
                <a:solidFill>
                  <a:srgbClr val="B24A17"/>
                </a:solidFill>
                <a:latin typeface="Comfortaa"/>
                <a:ea typeface="Comfortaa"/>
                <a:cs typeface="Comfortaa"/>
                <a:sym typeface="Comfortaa"/>
              </a:rPr>
              <a:t>· DMA</a:t>
            </a:r>
            <a:endParaRPr i="0" sz="1200" u="none" cap="none" strike="noStrike">
              <a:solidFill>
                <a:schemeClr val="dk1"/>
              </a:solidFill>
              <a:latin typeface="Comfortaa"/>
              <a:ea typeface="Comfortaa"/>
              <a:cs typeface="Comfortaa"/>
              <a:sym typeface="Comfortaa"/>
            </a:endParaRPr>
          </a:p>
        </p:txBody>
      </p:sp>
      <p:pic>
        <p:nvPicPr>
          <p:cNvPr id="154" name="Google Shape;154;p15"/>
          <p:cNvPicPr preferRelativeResize="0"/>
          <p:nvPr/>
        </p:nvPicPr>
        <p:blipFill>
          <a:blip r:embed="rId3">
            <a:alphaModFix/>
          </a:blip>
          <a:stretch>
            <a:fillRect/>
          </a:stretch>
        </p:blipFill>
        <p:spPr>
          <a:xfrm>
            <a:off x="498475" y="1546950"/>
            <a:ext cx="6227824" cy="4026600"/>
          </a:xfrm>
          <a:prstGeom prst="rect">
            <a:avLst/>
          </a:prstGeom>
          <a:noFill/>
          <a:ln>
            <a:noFill/>
          </a:ln>
        </p:spPr>
      </p:pic>
      <p:sp>
        <p:nvSpPr>
          <p:cNvPr id="155" name="Google Shape;155;p15"/>
          <p:cNvSpPr/>
          <p:nvPr/>
        </p:nvSpPr>
        <p:spPr>
          <a:xfrm>
            <a:off x="7975975" y="1926502"/>
            <a:ext cx="1741200" cy="1855500"/>
          </a:xfrm>
          <a:prstGeom prst="roundRect">
            <a:avLst>
              <a:gd fmla="val 6927" name="adj"/>
            </a:avLst>
          </a:prstGeom>
          <a:solidFill>
            <a:srgbClr val="FDFCF9"/>
          </a:solidFill>
          <a:ln cap="flat" cmpd="sng" w="9525">
            <a:solidFill>
              <a:srgbClr val="D9D4C9"/>
            </a:solidFill>
            <a:prstDash val="solid"/>
            <a:round/>
            <a:headEnd len="sm" w="sm" type="none"/>
            <a:tailEnd len="sm" w="sm" type="none"/>
          </a:ln>
        </p:spPr>
        <p:txBody>
          <a:bodyPr anchorCtr="0" anchor="t" bIns="133125" lIns="158525" spcFirstLastPara="1" rIns="107725" wrap="square" tIns="158525">
            <a:noAutofit/>
          </a:bodyPr>
          <a:lstStyle/>
          <a:p>
            <a:pPr indent="0" lvl="0" marL="0" marR="0" rtl="0" algn="l">
              <a:lnSpc>
                <a:spcPct val="135037"/>
              </a:lnSpc>
              <a:spcBef>
                <a:spcPts val="0"/>
              </a:spcBef>
              <a:spcAft>
                <a:spcPts val="0"/>
              </a:spcAft>
              <a:buClr>
                <a:srgbClr val="1C2230"/>
              </a:buClr>
              <a:buSzPts val="1350"/>
              <a:buFont typeface="IBM Plex Sans"/>
              <a:buNone/>
            </a:pPr>
            <a:r>
              <a:rPr b="1" lang="en-US" sz="1350">
                <a:solidFill>
                  <a:srgbClr val="1C2230"/>
                </a:solidFill>
                <a:latin typeface="IBM Plex Sans"/>
                <a:ea typeface="IBM Plex Sans"/>
                <a:cs typeface="IBM Plex Sans"/>
                <a:sym typeface="IBM Plex Sans"/>
              </a:rPr>
              <a:t>6</a:t>
            </a:r>
            <a:r>
              <a:rPr b="1" i="0" lang="en-US" sz="1350" u="none" cap="none" strike="noStrike">
                <a:solidFill>
                  <a:srgbClr val="1C2230"/>
                </a:solidFill>
                <a:latin typeface="IBM Plex Sans"/>
                <a:ea typeface="IBM Plex Sans"/>
                <a:cs typeface="IBM Plex Sans"/>
                <a:sym typeface="IBM Plex Sans"/>
              </a:rPr>
              <a:t>.</a:t>
            </a:r>
            <a:r>
              <a:rPr b="0" i="0" lang="en-US" sz="1350" u="none" cap="none" strike="noStrike">
                <a:solidFill>
                  <a:srgbClr val="1C2230"/>
                </a:solidFill>
                <a:latin typeface="IBM Plex Sans"/>
                <a:ea typeface="IBM Plex Sans"/>
                <a:cs typeface="IBM Plex Sans"/>
                <a:sym typeface="IBM Plex Sans"/>
              </a:rPr>
              <a:t> </a:t>
            </a:r>
            <a:r>
              <a:rPr lang="en-US" sz="1350">
                <a:solidFill>
                  <a:srgbClr val="1C2230"/>
                </a:solidFill>
                <a:latin typeface="IBM Plex Sans"/>
                <a:ea typeface="IBM Plex Sans"/>
                <a:cs typeface="IBM Plex Sans"/>
                <a:sym typeface="IBM Plex Sans"/>
              </a:rPr>
              <a:t>At the end the DMA buffer, the owner status of the descriptor is modified to be the DMA engine.</a:t>
            </a:r>
            <a:endParaRPr b="0" i="0" sz="1350" u="none" cap="none" strike="noStrike">
              <a:solidFill>
                <a:schemeClr val="dk1"/>
              </a:solidFill>
              <a:latin typeface="IBM Plex Sans"/>
              <a:ea typeface="IBM Plex Sans"/>
              <a:cs typeface="IBM Plex Sans"/>
              <a:sym typeface="IBM Plex Sans"/>
            </a:endParaRPr>
          </a:p>
        </p:txBody>
      </p:sp>
      <p:sp>
        <p:nvSpPr>
          <p:cNvPr id="156" name="Google Shape;156;p15"/>
          <p:cNvSpPr txBox="1"/>
          <p:nvPr>
            <p:ph type="title"/>
          </p:nvPr>
        </p:nvSpPr>
        <p:spPr>
          <a:xfrm>
            <a:off x="812800" y="1102361"/>
            <a:ext cx="10883400" cy="4446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C2230"/>
              </a:buClr>
              <a:buSzPct val="100000"/>
              <a:buFont typeface="IBM Plex Sans"/>
              <a:buNone/>
            </a:pPr>
            <a:r>
              <a:rPr b="1" lang="en-US"/>
              <a:t>Direct Memory Access</a:t>
            </a:r>
            <a:endParaRPr sz="3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E"/>
        </a:solidFill>
      </p:bgPr>
    </p:bg>
    <p:spTree>
      <p:nvGrpSpPr>
        <p:cNvPr id="161" name="Shape 161"/>
        <p:cNvGrpSpPr/>
        <p:nvPr/>
      </p:nvGrpSpPr>
      <p:grpSpPr>
        <a:xfrm>
          <a:off x="0" y="0"/>
          <a:ext cx="0" cy="0"/>
          <a:chOff x="0" y="0"/>
          <a:chExt cx="0" cy="0"/>
        </a:xfrm>
      </p:grpSpPr>
      <p:sp>
        <p:nvSpPr>
          <p:cNvPr id="162" name="Google Shape;162;p16"/>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163" name="Google Shape;163;p16"/>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B24A17"/>
              </a:buClr>
              <a:buSzPts val="1200"/>
              <a:buFont typeface="IBM Plex Mono"/>
              <a:buNone/>
            </a:pPr>
            <a:r>
              <a:rPr lang="en-US" sz="1200">
                <a:solidFill>
                  <a:srgbClr val="B24A17"/>
                </a:solidFill>
                <a:latin typeface="Comfortaa"/>
                <a:ea typeface="Comfortaa"/>
                <a:cs typeface="Comfortaa"/>
                <a:sym typeface="Comfortaa"/>
              </a:rPr>
              <a:t>I </a:t>
            </a:r>
            <a:r>
              <a:rPr i="0" lang="en-US" sz="1200" u="none" cap="none" strike="noStrike">
                <a:solidFill>
                  <a:srgbClr val="B24A17"/>
                </a:solidFill>
                <a:latin typeface="Comfortaa"/>
                <a:ea typeface="Comfortaa"/>
                <a:cs typeface="Comfortaa"/>
                <a:sym typeface="Comfortaa"/>
              </a:rPr>
              <a:t>· DMA</a:t>
            </a:r>
            <a:endParaRPr i="0" sz="1200" u="none" cap="none" strike="noStrike">
              <a:solidFill>
                <a:schemeClr val="dk1"/>
              </a:solidFill>
              <a:latin typeface="Comfortaa"/>
              <a:ea typeface="Comfortaa"/>
              <a:cs typeface="Comfortaa"/>
              <a:sym typeface="Comfortaa"/>
            </a:endParaRPr>
          </a:p>
        </p:txBody>
      </p:sp>
      <p:pic>
        <p:nvPicPr>
          <p:cNvPr id="164" name="Google Shape;164;p16"/>
          <p:cNvPicPr preferRelativeResize="0"/>
          <p:nvPr/>
        </p:nvPicPr>
        <p:blipFill>
          <a:blip r:embed="rId3">
            <a:alphaModFix/>
          </a:blip>
          <a:stretch>
            <a:fillRect/>
          </a:stretch>
        </p:blipFill>
        <p:spPr>
          <a:xfrm>
            <a:off x="253775" y="1675050"/>
            <a:ext cx="6486225" cy="4193674"/>
          </a:xfrm>
          <a:prstGeom prst="rect">
            <a:avLst/>
          </a:prstGeom>
          <a:noFill/>
          <a:ln>
            <a:noFill/>
          </a:ln>
        </p:spPr>
      </p:pic>
      <p:sp>
        <p:nvSpPr>
          <p:cNvPr id="165" name="Google Shape;165;p16"/>
          <p:cNvSpPr/>
          <p:nvPr/>
        </p:nvSpPr>
        <p:spPr>
          <a:xfrm>
            <a:off x="7608400" y="2062177"/>
            <a:ext cx="1741200" cy="1945200"/>
          </a:xfrm>
          <a:prstGeom prst="roundRect">
            <a:avLst>
              <a:gd fmla="val 6927" name="adj"/>
            </a:avLst>
          </a:prstGeom>
          <a:solidFill>
            <a:srgbClr val="FDFCF9"/>
          </a:solidFill>
          <a:ln cap="flat" cmpd="sng" w="9525">
            <a:solidFill>
              <a:srgbClr val="D9D4C9"/>
            </a:solidFill>
            <a:prstDash val="solid"/>
            <a:round/>
            <a:headEnd len="sm" w="sm" type="none"/>
            <a:tailEnd len="sm" w="sm" type="none"/>
          </a:ln>
        </p:spPr>
        <p:txBody>
          <a:bodyPr anchorCtr="0" anchor="t" bIns="133125" lIns="158525" spcFirstLastPara="1" rIns="107725" wrap="square" tIns="158525">
            <a:noAutofit/>
          </a:bodyPr>
          <a:lstStyle/>
          <a:p>
            <a:pPr indent="0" lvl="0" marL="0" marR="0" rtl="0" algn="l">
              <a:lnSpc>
                <a:spcPct val="135037"/>
              </a:lnSpc>
              <a:spcBef>
                <a:spcPts val="0"/>
              </a:spcBef>
              <a:spcAft>
                <a:spcPts val="0"/>
              </a:spcAft>
              <a:buClr>
                <a:srgbClr val="1C2230"/>
              </a:buClr>
              <a:buSzPts val="1350"/>
              <a:buFont typeface="IBM Plex Sans"/>
              <a:buNone/>
            </a:pPr>
            <a:r>
              <a:rPr b="1" lang="en-US" sz="1350">
                <a:solidFill>
                  <a:srgbClr val="1C2230"/>
                </a:solidFill>
                <a:latin typeface="IBM Plex Sans"/>
                <a:ea typeface="IBM Plex Sans"/>
                <a:cs typeface="IBM Plex Sans"/>
                <a:sym typeface="IBM Plex Sans"/>
              </a:rPr>
              <a:t>7</a:t>
            </a:r>
            <a:r>
              <a:rPr b="1" i="0" lang="en-US" sz="1350" u="none" cap="none" strike="noStrike">
                <a:solidFill>
                  <a:srgbClr val="1C2230"/>
                </a:solidFill>
                <a:latin typeface="IBM Plex Sans"/>
                <a:ea typeface="IBM Plex Sans"/>
                <a:cs typeface="IBM Plex Sans"/>
                <a:sym typeface="IBM Plex Sans"/>
              </a:rPr>
              <a:t>.</a:t>
            </a:r>
            <a:r>
              <a:rPr b="0" i="0" lang="en-US" sz="1350" u="none" cap="none" strike="noStrike">
                <a:solidFill>
                  <a:srgbClr val="1C2230"/>
                </a:solidFill>
                <a:latin typeface="IBM Plex Sans"/>
                <a:ea typeface="IBM Plex Sans"/>
                <a:cs typeface="IBM Plex Sans"/>
                <a:sym typeface="IBM Plex Sans"/>
              </a:rPr>
              <a:t> </a:t>
            </a:r>
            <a:r>
              <a:rPr lang="en-US" sz="1350">
                <a:solidFill>
                  <a:srgbClr val="1C2230"/>
                </a:solidFill>
                <a:latin typeface="IBM Plex Sans"/>
                <a:ea typeface="IBM Plex Sans"/>
                <a:cs typeface="IBM Plex Sans"/>
                <a:sym typeface="IBM Plex Sans"/>
              </a:rPr>
              <a:t>The DMA engine sends an interrupt to the processor to indicate the completion.</a:t>
            </a:r>
            <a:endParaRPr b="0" i="0" sz="1350" u="none" cap="none" strike="noStrike">
              <a:solidFill>
                <a:schemeClr val="dk1"/>
              </a:solidFill>
              <a:latin typeface="IBM Plex Sans"/>
              <a:ea typeface="IBM Plex Sans"/>
              <a:cs typeface="IBM Plex Sans"/>
              <a:sym typeface="IBM Plex Sans"/>
            </a:endParaRPr>
          </a:p>
        </p:txBody>
      </p:sp>
      <p:sp>
        <p:nvSpPr>
          <p:cNvPr id="166" name="Google Shape;166;p16"/>
          <p:cNvSpPr txBox="1"/>
          <p:nvPr>
            <p:ph type="title"/>
          </p:nvPr>
        </p:nvSpPr>
        <p:spPr>
          <a:xfrm>
            <a:off x="812800" y="1102361"/>
            <a:ext cx="10883400" cy="4446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C2230"/>
              </a:buClr>
              <a:buSzPct val="100000"/>
              <a:buFont typeface="IBM Plex Sans"/>
              <a:buNone/>
            </a:pPr>
            <a:r>
              <a:rPr b="1" lang="en-US"/>
              <a:t>Direct Memory Access</a:t>
            </a:r>
            <a:endParaRPr sz="3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E"/>
        </a:solidFill>
      </p:bgPr>
    </p:bg>
    <p:spTree>
      <p:nvGrpSpPr>
        <p:cNvPr id="171" name="Shape 171"/>
        <p:cNvGrpSpPr/>
        <p:nvPr/>
      </p:nvGrpSpPr>
      <p:grpSpPr>
        <a:xfrm>
          <a:off x="0" y="0"/>
          <a:ext cx="0" cy="0"/>
          <a:chOff x="0" y="0"/>
          <a:chExt cx="0" cy="0"/>
        </a:xfrm>
      </p:grpSpPr>
      <p:sp>
        <p:nvSpPr>
          <p:cNvPr id="172" name="Google Shape;172;p17"/>
          <p:cNvSpPr/>
          <p:nvPr/>
        </p:nvSpPr>
        <p:spPr>
          <a:xfrm>
            <a:off x="994900" y="6110825"/>
            <a:ext cx="27681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673"/>
              </a:buClr>
              <a:buSzPts val="1200"/>
              <a:buFont typeface="IBM Plex Sans"/>
              <a:buNone/>
            </a:pPr>
            <a:r>
              <a:rPr lang="en-US" sz="1200">
                <a:solidFill>
                  <a:srgbClr val="5F6673"/>
                </a:solidFill>
                <a:latin typeface="IBM Plex Sans"/>
                <a:ea typeface="IBM Plex Sans"/>
                <a:cs typeface="IBM Plex Sans"/>
                <a:sym typeface="IBM Plex Sans"/>
              </a:rPr>
              <a:t>See </a:t>
            </a:r>
            <a:r>
              <a:rPr lang="en-US" sz="1200">
                <a:solidFill>
                  <a:srgbClr val="5F6673"/>
                </a:solidFill>
                <a:latin typeface="IBM Plex Sans"/>
                <a:ea typeface="IBM Plex Sans"/>
                <a:cs typeface="IBM Plex Sans"/>
                <a:sym typeface="IBM Plex Sans"/>
              </a:rPr>
              <a:t>Tang &amp; al, DMA cache (HPCA 2010)</a:t>
            </a:r>
            <a:endParaRPr b="0" i="0" sz="1200" u="none" cap="none" strike="noStrike">
              <a:solidFill>
                <a:schemeClr val="dk1"/>
              </a:solidFill>
              <a:latin typeface="IBM Plex Sans"/>
              <a:ea typeface="IBM Plex Sans"/>
              <a:cs typeface="IBM Plex Sans"/>
              <a:sym typeface="IBM Plex Sans"/>
            </a:endParaRPr>
          </a:p>
        </p:txBody>
      </p:sp>
      <p:sp>
        <p:nvSpPr>
          <p:cNvPr id="173" name="Google Shape;173;p17"/>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174" name="Google Shape;174;p17"/>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B24A17"/>
              </a:buClr>
              <a:buSzPts val="1200"/>
              <a:buFont typeface="IBM Plex Mono"/>
              <a:buNone/>
            </a:pPr>
            <a:r>
              <a:rPr lang="en-US" sz="1200">
                <a:solidFill>
                  <a:srgbClr val="B24A17"/>
                </a:solidFill>
                <a:latin typeface="Comfortaa"/>
                <a:ea typeface="Comfortaa"/>
                <a:cs typeface="Comfortaa"/>
                <a:sym typeface="Comfortaa"/>
              </a:rPr>
              <a:t>I </a:t>
            </a:r>
            <a:r>
              <a:rPr i="0" lang="en-US" sz="1200" u="none" cap="none" strike="noStrike">
                <a:solidFill>
                  <a:srgbClr val="B24A17"/>
                </a:solidFill>
                <a:latin typeface="Comfortaa"/>
                <a:ea typeface="Comfortaa"/>
                <a:cs typeface="Comfortaa"/>
                <a:sym typeface="Comfortaa"/>
              </a:rPr>
              <a:t>· DMA</a:t>
            </a:r>
            <a:endParaRPr i="0" sz="1200" u="none" cap="none" strike="noStrike">
              <a:solidFill>
                <a:schemeClr val="dk1"/>
              </a:solidFill>
              <a:latin typeface="Comfortaa"/>
              <a:ea typeface="Comfortaa"/>
              <a:cs typeface="Comfortaa"/>
              <a:sym typeface="Comfortaa"/>
            </a:endParaRPr>
          </a:p>
        </p:txBody>
      </p:sp>
      <p:pic>
        <p:nvPicPr>
          <p:cNvPr id="175" name="Google Shape;175;p17"/>
          <p:cNvPicPr preferRelativeResize="0"/>
          <p:nvPr/>
        </p:nvPicPr>
        <p:blipFill>
          <a:blip r:embed="rId3">
            <a:alphaModFix/>
          </a:blip>
          <a:stretch>
            <a:fillRect/>
          </a:stretch>
        </p:blipFill>
        <p:spPr>
          <a:xfrm>
            <a:off x="494000" y="1849375"/>
            <a:ext cx="6123299" cy="3959024"/>
          </a:xfrm>
          <a:prstGeom prst="rect">
            <a:avLst/>
          </a:prstGeom>
          <a:noFill/>
          <a:ln>
            <a:noFill/>
          </a:ln>
        </p:spPr>
      </p:pic>
      <p:sp>
        <p:nvSpPr>
          <p:cNvPr id="176" name="Google Shape;176;p17"/>
          <p:cNvSpPr/>
          <p:nvPr/>
        </p:nvSpPr>
        <p:spPr>
          <a:xfrm>
            <a:off x="7941475" y="2126225"/>
            <a:ext cx="1741200" cy="1945200"/>
          </a:xfrm>
          <a:prstGeom prst="roundRect">
            <a:avLst>
              <a:gd fmla="val 6927" name="adj"/>
            </a:avLst>
          </a:prstGeom>
          <a:solidFill>
            <a:srgbClr val="FDFCF9"/>
          </a:solidFill>
          <a:ln cap="flat" cmpd="sng" w="9525">
            <a:solidFill>
              <a:srgbClr val="D9D4C9"/>
            </a:solidFill>
            <a:prstDash val="solid"/>
            <a:round/>
            <a:headEnd len="sm" w="sm" type="none"/>
            <a:tailEnd len="sm" w="sm" type="none"/>
          </a:ln>
        </p:spPr>
        <p:txBody>
          <a:bodyPr anchorCtr="0" anchor="t" bIns="133125" lIns="158525" spcFirstLastPara="1" rIns="107725" wrap="square" tIns="158525">
            <a:noAutofit/>
          </a:bodyPr>
          <a:lstStyle/>
          <a:p>
            <a:pPr indent="0" lvl="0" marL="0" marR="0" rtl="0" algn="l">
              <a:lnSpc>
                <a:spcPct val="135037"/>
              </a:lnSpc>
              <a:spcBef>
                <a:spcPts val="0"/>
              </a:spcBef>
              <a:spcAft>
                <a:spcPts val="0"/>
              </a:spcAft>
              <a:buClr>
                <a:srgbClr val="1C2230"/>
              </a:buClr>
              <a:buSzPts val="1350"/>
              <a:buFont typeface="IBM Plex Sans"/>
              <a:buNone/>
            </a:pPr>
            <a:r>
              <a:rPr b="1" lang="en-US" sz="1350">
                <a:solidFill>
                  <a:srgbClr val="1C2230"/>
                </a:solidFill>
                <a:latin typeface="IBM Plex Sans"/>
                <a:ea typeface="IBM Plex Sans"/>
                <a:cs typeface="IBM Plex Sans"/>
                <a:sym typeface="IBM Plex Sans"/>
              </a:rPr>
              <a:t>8.</a:t>
            </a:r>
            <a:r>
              <a:rPr b="0" i="0" lang="en-US" sz="1350" u="none" cap="none" strike="noStrike">
                <a:solidFill>
                  <a:srgbClr val="1C2230"/>
                </a:solidFill>
                <a:latin typeface="IBM Plex Sans"/>
                <a:ea typeface="IBM Plex Sans"/>
                <a:cs typeface="IBM Plex Sans"/>
                <a:sym typeface="IBM Plex Sans"/>
              </a:rPr>
              <a:t> </a:t>
            </a:r>
            <a:r>
              <a:rPr lang="en-US" sz="1350">
                <a:solidFill>
                  <a:srgbClr val="1C2230"/>
                </a:solidFill>
                <a:latin typeface="IBM Plex Sans"/>
                <a:ea typeface="IBM Plex Sans"/>
                <a:cs typeface="IBM Plex Sans"/>
                <a:sym typeface="IBM Plex Sans"/>
              </a:rPr>
              <a:t>driver handles the interrupt  and copies DMA buffer to the Dest. buffer. Then frees DMA buffer</a:t>
            </a:r>
            <a:endParaRPr b="0" i="0" sz="1350" u="none" cap="none" strike="noStrike">
              <a:solidFill>
                <a:schemeClr val="dk1"/>
              </a:solidFill>
              <a:latin typeface="IBM Plex Sans"/>
              <a:ea typeface="IBM Plex Sans"/>
              <a:cs typeface="IBM Plex Sans"/>
              <a:sym typeface="IBM Plex Sans"/>
            </a:endParaRPr>
          </a:p>
        </p:txBody>
      </p:sp>
      <p:sp>
        <p:nvSpPr>
          <p:cNvPr id="177" name="Google Shape;177;p17"/>
          <p:cNvSpPr txBox="1"/>
          <p:nvPr>
            <p:ph type="title"/>
          </p:nvPr>
        </p:nvSpPr>
        <p:spPr>
          <a:xfrm>
            <a:off x="812800" y="1102361"/>
            <a:ext cx="10883400" cy="4446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C2230"/>
              </a:buClr>
              <a:buSzPct val="100000"/>
              <a:buFont typeface="IBM Plex Sans"/>
              <a:buNone/>
            </a:pPr>
            <a:r>
              <a:rPr b="1" lang="en-US"/>
              <a:t>Direct Memory Access</a:t>
            </a:r>
            <a:endParaRPr sz="3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3EE"/>
        </a:solidFill>
      </p:bgPr>
    </p:bg>
    <p:spTree>
      <p:nvGrpSpPr>
        <p:cNvPr id="182" name="Shape 182"/>
        <p:cNvGrpSpPr/>
        <p:nvPr/>
      </p:nvGrpSpPr>
      <p:grpSpPr>
        <a:xfrm>
          <a:off x="0" y="0"/>
          <a:ext cx="0" cy="0"/>
          <a:chOff x="0" y="0"/>
          <a:chExt cx="0" cy="0"/>
        </a:xfrm>
      </p:grpSpPr>
      <p:sp>
        <p:nvSpPr>
          <p:cNvPr id="183" name="Google Shape;183;p18"/>
          <p:cNvSpPr txBox="1"/>
          <p:nvPr>
            <p:ph type="title"/>
          </p:nvPr>
        </p:nvSpPr>
        <p:spPr>
          <a:xfrm>
            <a:off x="812800" y="1102361"/>
            <a:ext cx="10883400" cy="4446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C2230"/>
              </a:buClr>
              <a:buSzPct val="100000"/>
              <a:buFont typeface="IBM Plex Sans"/>
              <a:buNone/>
            </a:pPr>
            <a:r>
              <a:rPr b="1" lang="en-US"/>
              <a:t>How Do DMA Operates </a:t>
            </a:r>
            <a:r>
              <a:rPr b="1" lang="en-US">
                <a:solidFill>
                  <a:schemeClr val="dk1"/>
                </a:solidFill>
              </a:rPr>
              <a:t>(3/3)</a:t>
            </a:r>
            <a:endParaRPr sz="3000"/>
          </a:p>
        </p:txBody>
      </p:sp>
      <p:pic>
        <p:nvPicPr>
          <p:cNvPr descr="arrow-right" id="184" name="Google Shape;184;p18"/>
          <p:cNvPicPr preferRelativeResize="0"/>
          <p:nvPr/>
        </p:nvPicPr>
        <p:blipFill rotWithShape="1">
          <a:blip r:embed="rId3">
            <a:alphaModFix/>
          </a:blip>
          <a:srcRect b="0" l="0" r="0" t="0"/>
          <a:stretch/>
        </p:blipFill>
        <p:spPr>
          <a:xfrm>
            <a:off x="7636095" y="2465086"/>
            <a:ext cx="254000" cy="152400"/>
          </a:xfrm>
          <a:prstGeom prst="rect">
            <a:avLst/>
          </a:prstGeom>
          <a:noFill/>
          <a:ln>
            <a:noFill/>
          </a:ln>
        </p:spPr>
      </p:pic>
      <p:sp>
        <p:nvSpPr>
          <p:cNvPr id="185" name="Google Shape;185;p18"/>
          <p:cNvSpPr/>
          <p:nvPr/>
        </p:nvSpPr>
        <p:spPr>
          <a:xfrm>
            <a:off x="5729800" y="2014152"/>
            <a:ext cx="1741200" cy="1945200"/>
          </a:xfrm>
          <a:prstGeom prst="roundRect">
            <a:avLst>
              <a:gd fmla="val 6927" name="adj"/>
            </a:avLst>
          </a:prstGeom>
          <a:solidFill>
            <a:srgbClr val="FDFCF9"/>
          </a:solidFill>
          <a:ln cap="flat" cmpd="sng" w="9525">
            <a:solidFill>
              <a:srgbClr val="D9D4C9"/>
            </a:solidFill>
            <a:prstDash val="solid"/>
            <a:round/>
            <a:headEnd len="sm" w="sm" type="none"/>
            <a:tailEnd len="sm" w="sm" type="none"/>
          </a:ln>
        </p:spPr>
        <p:txBody>
          <a:bodyPr anchorCtr="0" anchor="t" bIns="133125" lIns="158525" spcFirstLastPara="1" rIns="107725" wrap="square" tIns="158525">
            <a:noAutofit/>
          </a:bodyPr>
          <a:lstStyle/>
          <a:p>
            <a:pPr indent="0" lvl="0" marL="0" marR="0" rtl="0" algn="l">
              <a:lnSpc>
                <a:spcPct val="135037"/>
              </a:lnSpc>
              <a:spcBef>
                <a:spcPts val="0"/>
              </a:spcBef>
              <a:spcAft>
                <a:spcPts val="0"/>
              </a:spcAft>
              <a:buClr>
                <a:srgbClr val="1C2230"/>
              </a:buClr>
              <a:buSzPts val="1350"/>
              <a:buFont typeface="IBM Plex Sans"/>
              <a:buNone/>
            </a:pPr>
            <a:r>
              <a:rPr b="1" lang="en-US" sz="1350">
                <a:solidFill>
                  <a:srgbClr val="1C2230"/>
                </a:solidFill>
                <a:latin typeface="IBM Plex Sans"/>
                <a:ea typeface="IBM Plex Sans"/>
                <a:cs typeface="IBM Plex Sans"/>
                <a:sym typeface="IBM Plex Sans"/>
              </a:rPr>
              <a:t>7</a:t>
            </a:r>
            <a:r>
              <a:rPr b="1" i="0" lang="en-US" sz="1350" u="none" cap="none" strike="noStrike">
                <a:solidFill>
                  <a:srgbClr val="1C2230"/>
                </a:solidFill>
                <a:latin typeface="IBM Plex Sans"/>
                <a:ea typeface="IBM Plex Sans"/>
                <a:cs typeface="IBM Plex Sans"/>
                <a:sym typeface="IBM Plex Sans"/>
              </a:rPr>
              <a:t>.</a:t>
            </a:r>
            <a:r>
              <a:rPr b="0" i="0" lang="en-US" sz="1350" u="none" cap="none" strike="noStrike">
                <a:solidFill>
                  <a:srgbClr val="1C2230"/>
                </a:solidFill>
                <a:latin typeface="IBM Plex Sans"/>
                <a:ea typeface="IBM Plex Sans"/>
                <a:cs typeface="IBM Plex Sans"/>
                <a:sym typeface="IBM Plex Sans"/>
              </a:rPr>
              <a:t> </a:t>
            </a:r>
            <a:r>
              <a:rPr lang="en-US" sz="1350">
                <a:solidFill>
                  <a:srgbClr val="1C2230"/>
                </a:solidFill>
                <a:latin typeface="IBM Plex Sans"/>
                <a:ea typeface="IBM Plex Sans"/>
                <a:cs typeface="IBM Plex Sans"/>
                <a:sym typeface="IBM Plex Sans"/>
              </a:rPr>
              <a:t>The DMA engine sends an interrupt to the processor to indicate the completion.</a:t>
            </a:r>
            <a:endParaRPr b="0" i="0" sz="1350" u="none" cap="none" strike="noStrike">
              <a:solidFill>
                <a:schemeClr val="dk1"/>
              </a:solidFill>
              <a:latin typeface="IBM Plex Sans"/>
              <a:ea typeface="IBM Plex Sans"/>
              <a:cs typeface="IBM Plex Sans"/>
              <a:sym typeface="IBM Plex Sans"/>
            </a:endParaRPr>
          </a:p>
        </p:txBody>
      </p:sp>
      <p:sp>
        <p:nvSpPr>
          <p:cNvPr id="186" name="Google Shape;186;p18"/>
          <p:cNvSpPr/>
          <p:nvPr/>
        </p:nvSpPr>
        <p:spPr>
          <a:xfrm>
            <a:off x="7994850" y="2014150"/>
            <a:ext cx="1741200" cy="1945200"/>
          </a:xfrm>
          <a:prstGeom prst="roundRect">
            <a:avLst>
              <a:gd fmla="val 6927" name="adj"/>
            </a:avLst>
          </a:prstGeom>
          <a:solidFill>
            <a:srgbClr val="FDFCF9"/>
          </a:solidFill>
          <a:ln cap="flat" cmpd="sng" w="9525">
            <a:solidFill>
              <a:srgbClr val="D9D4C9"/>
            </a:solidFill>
            <a:prstDash val="solid"/>
            <a:round/>
            <a:headEnd len="sm" w="sm" type="none"/>
            <a:tailEnd len="sm" w="sm" type="none"/>
          </a:ln>
        </p:spPr>
        <p:txBody>
          <a:bodyPr anchorCtr="0" anchor="t" bIns="133125" lIns="158525" spcFirstLastPara="1" rIns="107725" wrap="square" tIns="158525">
            <a:noAutofit/>
          </a:bodyPr>
          <a:lstStyle/>
          <a:p>
            <a:pPr indent="0" lvl="0" marL="0" marR="0" rtl="0" algn="l">
              <a:lnSpc>
                <a:spcPct val="135037"/>
              </a:lnSpc>
              <a:spcBef>
                <a:spcPts val="0"/>
              </a:spcBef>
              <a:spcAft>
                <a:spcPts val="0"/>
              </a:spcAft>
              <a:buClr>
                <a:srgbClr val="1C2230"/>
              </a:buClr>
              <a:buSzPts val="1350"/>
              <a:buFont typeface="IBM Plex Sans"/>
              <a:buNone/>
            </a:pPr>
            <a:r>
              <a:rPr b="1" lang="en-US" sz="1350">
                <a:solidFill>
                  <a:srgbClr val="1C2230"/>
                </a:solidFill>
                <a:latin typeface="IBM Plex Sans"/>
                <a:ea typeface="IBM Plex Sans"/>
                <a:cs typeface="IBM Plex Sans"/>
                <a:sym typeface="IBM Plex Sans"/>
              </a:rPr>
              <a:t>8.</a:t>
            </a:r>
            <a:r>
              <a:rPr b="0" i="0" lang="en-US" sz="1350" u="none" cap="none" strike="noStrike">
                <a:solidFill>
                  <a:srgbClr val="1C2230"/>
                </a:solidFill>
                <a:latin typeface="IBM Plex Sans"/>
                <a:ea typeface="IBM Plex Sans"/>
                <a:cs typeface="IBM Plex Sans"/>
                <a:sym typeface="IBM Plex Sans"/>
              </a:rPr>
              <a:t> </a:t>
            </a:r>
            <a:r>
              <a:rPr lang="en-US" sz="1350">
                <a:solidFill>
                  <a:srgbClr val="1C2230"/>
                </a:solidFill>
                <a:latin typeface="IBM Plex Sans"/>
                <a:ea typeface="IBM Plex Sans"/>
                <a:cs typeface="IBM Plex Sans"/>
                <a:sym typeface="IBM Plex Sans"/>
              </a:rPr>
              <a:t>driver handles the interrupt  and copies DMA buffer to the Dest. buffer. Then frees DMA buffer</a:t>
            </a:r>
            <a:endParaRPr b="0" i="0" sz="1350" u="none" cap="none" strike="noStrike">
              <a:solidFill>
                <a:schemeClr val="dk1"/>
              </a:solidFill>
              <a:latin typeface="IBM Plex Sans"/>
              <a:ea typeface="IBM Plex Sans"/>
              <a:cs typeface="IBM Plex Sans"/>
              <a:sym typeface="IBM Plex Sans"/>
            </a:endParaRPr>
          </a:p>
        </p:txBody>
      </p:sp>
      <p:pic>
        <p:nvPicPr>
          <p:cNvPr id="187" name="Google Shape;187;p18"/>
          <p:cNvPicPr preferRelativeResize="0"/>
          <p:nvPr/>
        </p:nvPicPr>
        <p:blipFill>
          <a:blip r:embed="rId4">
            <a:alphaModFix/>
          </a:blip>
          <a:stretch>
            <a:fillRect/>
          </a:stretch>
        </p:blipFill>
        <p:spPr>
          <a:xfrm>
            <a:off x="812790" y="2014149"/>
            <a:ext cx="4028913" cy="2999014"/>
          </a:xfrm>
          <a:prstGeom prst="rect">
            <a:avLst/>
          </a:prstGeom>
          <a:noFill/>
          <a:ln>
            <a:noFill/>
          </a:ln>
          <a:effectLst>
            <a:outerShdw blurRad="57150" rotWithShape="0" algn="bl" dir="5400000" dist="19050">
              <a:srgbClr val="000000">
                <a:alpha val="50000"/>
              </a:srgbClr>
            </a:outerShdw>
          </a:effectLst>
        </p:spPr>
      </p:pic>
      <p:sp>
        <p:nvSpPr>
          <p:cNvPr id="188" name="Google Shape;188;p18"/>
          <p:cNvSpPr/>
          <p:nvPr/>
        </p:nvSpPr>
        <p:spPr>
          <a:xfrm>
            <a:off x="1443200" y="5241350"/>
            <a:ext cx="27681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673"/>
              </a:buClr>
              <a:buSzPts val="1200"/>
              <a:buFont typeface="IBM Plex Sans"/>
              <a:buNone/>
            </a:pPr>
            <a:r>
              <a:rPr lang="en-US" sz="1200">
                <a:solidFill>
                  <a:srgbClr val="5F6673"/>
                </a:solidFill>
                <a:latin typeface="IBM Plex Sans"/>
                <a:ea typeface="IBM Plex Sans"/>
                <a:cs typeface="IBM Plex Sans"/>
                <a:sym typeface="IBM Plex Sans"/>
              </a:rPr>
              <a:t>Tang &amp; al, DMA cache (HPCA 2010)</a:t>
            </a:r>
            <a:endParaRPr b="0" i="0" sz="1200" u="none" cap="none" strike="noStrike">
              <a:solidFill>
                <a:schemeClr val="dk1"/>
              </a:solidFill>
              <a:latin typeface="IBM Plex Sans"/>
              <a:ea typeface="IBM Plex Sans"/>
              <a:cs typeface="IBM Plex Sans"/>
              <a:sym typeface="IBM Plex Sans"/>
            </a:endParaRPr>
          </a:p>
        </p:txBody>
      </p:sp>
      <p:sp>
        <p:nvSpPr>
          <p:cNvPr id="189" name="Google Shape;189;p18"/>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190" name="Google Shape;190;p18"/>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B24A17"/>
              </a:buClr>
              <a:buSzPts val="1200"/>
              <a:buFont typeface="IBM Plex Mono"/>
              <a:buNone/>
            </a:pPr>
            <a:r>
              <a:rPr lang="en-US" sz="1200">
                <a:solidFill>
                  <a:srgbClr val="B24A17"/>
                </a:solidFill>
                <a:latin typeface="Comfortaa"/>
                <a:ea typeface="Comfortaa"/>
                <a:cs typeface="Comfortaa"/>
                <a:sym typeface="Comfortaa"/>
              </a:rPr>
              <a:t>I </a:t>
            </a:r>
            <a:r>
              <a:rPr i="0" lang="en-US" sz="1200" u="none" cap="none" strike="noStrike">
                <a:solidFill>
                  <a:srgbClr val="B24A17"/>
                </a:solidFill>
                <a:latin typeface="Comfortaa"/>
                <a:ea typeface="Comfortaa"/>
                <a:cs typeface="Comfortaa"/>
                <a:sym typeface="Comfortaa"/>
              </a:rPr>
              <a:t>· DMA</a:t>
            </a:r>
            <a:endParaRPr i="0" sz="1200" u="none" cap="none" strike="noStrike">
              <a:solidFill>
                <a:schemeClr val="dk1"/>
              </a:solidFill>
              <a:latin typeface="Comfortaa"/>
              <a:ea typeface="Comfortaa"/>
              <a:cs typeface="Comfortaa"/>
              <a:sym typeface="Comforta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E"/>
        </a:solidFill>
      </p:bgPr>
    </p:bg>
    <p:spTree>
      <p:nvGrpSpPr>
        <p:cNvPr id="195" name="Shape 195"/>
        <p:cNvGrpSpPr/>
        <p:nvPr/>
      </p:nvGrpSpPr>
      <p:grpSpPr>
        <a:xfrm>
          <a:off x="0" y="0"/>
          <a:ext cx="0" cy="0"/>
          <a:chOff x="0" y="0"/>
          <a:chExt cx="0" cy="0"/>
        </a:xfrm>
      </p:grpSpPr>
      <p:sp>
        <p:nvSpPr>
          <p:cNvPr id="196" name="Google Shape;196;p19"/>
          <p:cNvSpPr txBox="1"/>
          <p:nvPr>
            <p:ph type="title"/>
          </p:nvPr>
        </p:nvSpPr>
        <p:spPr>
          <a:xfrm>
            <a:off x="812800" y="1102361"/>
            <a:ext cx="10883392"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C2230"/>
              </a:buClr>
              <a:buSzPts val="3000"/>
              <a:buFont typeface="IBM Plex Sans"/>
              <a:buNone/>
            </a:pPr>
            <a:r>
              <a:rPr b="1" i="0" lang="en-US" sz="3000">
                <a:solidFill>
                  <a:srgbClr val="1C2230"/>
                </a:solidFill>
                <a:latin typeface="IBM Plex Sans"/>
                <a:ea typeface="IBM Plex Sans"/>
                <a:cs typeface="IBM Plex Sans"/>
                <a:sym typeface="IBM Plex Sans"/>
              </a:rPr>
              <a:t>Three problems with raw DMA</a:t>
            </a:r>
            <a:endParaRPr sz="3000"/>
          </a:p>
        </p:txBody>
      </p:sp>
      <p:sp>
        <p:nvSpPr>
          <p:cNvPr id="197" name="Google Shape;197;p19"/>
          <p:cNvSpPr/>
          <p:nvPr/>
        </p:nvSpPr>
        <p:spPr>
          <a:xfrm>
            <a:off x="815975" y="1880236"/>
            <a:ext cx="3380317" cy="1646343"/>
          </a:xfrm>
          <a:prstGeom prst="roundRect">
            <a:avLst>
              <a:gd fmla="val 5978" name="adj"/>
            </a:avLst>
          </a:prstGeom>
          <a:solidFill>
            <a:srgbClr val="FDFCF9"/>
          </a:solidFill>
          <a:ln cap="flat" cmpd="sng" w="9525">
            <a:solidFill>
              <a:srgbClr val="D9D4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9"/>
          <p:cNvSpPr/>
          <p:nvPr/>
        </p:nvSpPr>
        <p:spPr>
          <a:xfrm>
            <a:off x="1072092" y="2136350"/>
            <a:ext cx="2954126" cy="2844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C2230"/>
              </a:buClr>
              <a:buSzPts val="1700"/>
              <a:buFont typeface="IBM Plex Sans"/>
              <a:buNone/>
            </a:pPr>
            <a:r>
              <a:rPr b="1" i="0" lang="en-US" sz="1700" u="none" cap="none" strike="noStrike">
                <a:solidFill>
                  <a:srgbClr val="1C2230"/>
                </a:solidFill>
                <a:latin typeface="IBM Plex Sans"/>
                <a:ea typeface="IBM Plex Sans"/>
                <a:cs typeface="IBM Plex Sans"/>
                <a:sym typeface="IBM Plex Sans"/>
              </a:rPr>
              <a:t>Security</a:t>
            </a:r>
            <a:endParaRPr b="0" i="0" sz="1700" u="none" cap="none" strike="noStrike">
              <a:solidFill>
                <a:schemeClr val="dk1"/>
              </a:solidFill>
              <a:latin typeface="IBM Plex Sans"/>
              <a:ea typeface="IBM Plex Sans"/>
              <a:cs typeface="IBM Plex Sans"/>
              <a:sym typeface="IBM Plex Sans"/>
            </a:endParaRPr>
          </a:p>
        </p:txBody>
      </p:sp>
      <p:sp>
        <p:nvSpPr>
          <p:cNvPr id="199" name="Google Shape;199;p19"/>
          <p:cNvSpPr/>
          <p:nvPr/>
        </p:nvSpPr>
        <p:spPr>
          <a:xfrm>
            <a:off x="1072092" y="2497032"/>
            <a:ext cx="2954126" cy="79883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1C2230"/>
              </a:buClr>
              <a:buSzPts val="1400"/>
              <a:buFont typeface="IBM Plex Sans"/>
              <a:buNone/>
            </a:pPr>
            <a:r>
              <a:rPr b="0" i="0" lang="en-US" sz="1400" u="none" cap="none" strike="noStrike">
                <a:solidFill>
                  <a:srgbClr val="1C2230"/>
                </a:solidFill>
                <a:latin typeface="IBM Plex Sans"/>
                <a:ea typeface="IBM Plex Sans"/>
                <a:cs typeface="IBM Plex Sans"/>
                <a:sym typeface="IBM Plex Sans"/>
              </a:rPr>
              <a:t>A buggy or hostile device reads and writes anywhere</a:t>
            </a:r>
            <a:r>
              <a:rPr lang="en-US">
                <a:solidFill>
                  <a:srgbClr val="1C2230"/>
                </a:solidFill>
                <a:latin typeface="IBM Plex Sans"/>
                <a:ea typeface="IBM Plex Sans"/>
                <a:cs typeface="IBM Plex Sans"/>
                <a:sym typeface="IBM Plex Sans"/>
              </a:rPr>
              <a:t> (</a:t>
            </a:r>
            <a:r>
              <a:rPr b="0" i="0" lang="en-US" sz="1400" u="none" cap="none" strike="noStrike">
                <a:solidFill>
                  <a:srgbClr val="1C2230"/>
                </a:solidFill>
                <a:latin typeface="IBM Plex Sans"/>
                <a:ea typeface="IBM Plex Sans"/>
                <a:cs typeface="IBM Plex Sans"/>
                <a:sym typeface="IBM Plex Sans"/>
              </a:rPr>
              <a:t>See Thunderbolt DMA attacks</a:t>
            </a:r>
            <a:r>
              <a:rPr lang="en-US">
                <a:solidFill>
                  <a:srgbClr val="1C2230"/>
                </a:solidFill>
                <a:latin typeface="IBM Plex Sans"/>
                <a:ea typeface="IBM Plex Sans"/>
                <a:cs typeface="IBM Plex Sans"/>
                <a:sym typeface="IBM Plex Sans"/>
              </a:rPr>
              <a:t>).</a:t>
            </a:r>
            <a:endParaRPr b="0" i="0" sz="1400" u="none" cap="none" strike="noStrike">
              <a:solidFill>
                <a:schemeClr val="dk1"/>
              </a:solidFill>
              <a:latin typeface="IBM Plex Sans"/>
              <a:ea typeface="IBM Plex Sans"/>
              <a:cs typeface="IBM Plex Sans"/>
              <a:sym typeface="IBM Plex Sans"/>
            </a:endParaRPr>
          </a:p>
        </p:txBody>
      </p:sp>
      <p:sp>
        <p:nvSpPr>
          <p:cNvPr id="200" name="Google Shape;200;p19"/>
          <p:cNvSpPr/>
          <p:nvPr/>
        </p:nvSpPr>
        <p:spPr>
          <a:xfrm>
            <a:off x="4405842" y="1880236"/>
            <a:ext cx="3380317" cy="1646343"/>
          </a:xfrm>
          <a:prstGeom prst="roundRect">
            <a:avLst>
              <a:gd fmla="val 5978" name="adj"/>
            </a:avLst>
          </a:prstGeom>
          <a:solidFill>
            <a:srgbClr val="FDFCF9"/>
          </a:solidFill>
          <a:ln cap="flat" cmpd="sng" w="9525">
            <a:solidFill>
              <a:srgbClr val="D9D4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9"/>
          <p:cNvSpPr/>
          <p:nvPr/>
        </p:nvSpPr>
        <p:spPr>
          <a:xfrm>
            <a:off x="4661958" y="2136350"/>
            <a:ext cx="2954126" cy="2844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C2230"/>
              </a:buClr>
              <a:buSzPts val="1700"/>
              <a:buFont typeface="IBM Plex Sans"/>
              <a:buNone/>
            </a:pPr>
            <a:r>
              <a:rPr b="1" i="0" lang="en-US" sz="1700" u="none" cap="none" strike="noStrike">
                <a:solidFill>
                  <a:srgbClr val="1C2230"/>
                </a:solidFill>
                <a:latin typeface="IBM Plex Sans"/>
                <a:ea typeface="IBM Plex Sans"/>
                <a:cs typeface="IBM Plex Sans"/>
                <a:sym typeface="IBM Plex Sans"/>
              </a:rPr>
              <a:t>Addressing</a:t>
            </a:r>
            <a:endParaRPr b="0" i="0" sz="1700" u="none" cap="none" strike="noStrike">
              <a:solidFill>
                <a:schemeClr val="dk1"/>
              </a:solidFill>
              <a:latin typeface="IBM Plex Sans"/>
              <a:ea typeface="IBM Plex Sans"/>
              <a:cs typeface="IBM Plex Sans"/>
              <a:sym typeface="IBM Plex Sans"/>
            </a:endParaRPr>
          </a:p>
        </p:txBody>
      </p:sp>
      <p:sp>
        <p:nvSpPr>
          <p:cNvPr id="202" name="Google Shape;202;p19"/>
          <p:cNvSpPr/>
          <p:nvPr/>
        </p:nvSpPr>
        <p:spPr>
          <a:xfrm>
            <a:off x="4661958" y="2497032"/>
            <a:ext cx="2954126" cy="79883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1C2230"/>
              </a:buClr>
              <a:buSzPts val="1400"/>
              <a:buFont typeface="IBM Plex Sans"/>
              <a:buNone/>
            </a:pPr>
            <a:r>
              <a:rPr b="0" i="0" lang="en-US" sz="1400" u="none" cap="none" strike="noStrike">
                <a:solidFill>
                  <a:srgbClr val="1C2230"/>
                </a:solidFill>
                <a:latin typeface="IBM Plex Sans"/>
                <a:ea typeface="IBM Plex Sans"/>
                <a:cs typeface="IBM Plex Sans"/>
                <a:sym typeface="IBM Plex Sans"/>
              </a:rPr>
              <a:t>A 32-bit device only sees the first 4 GB, so the kernel copies through bounce buffers.</a:t>
            </a:r>
            <a:endParaRPr b="0" i="0" sz="1400" u="none" cap="none" strike="noStrike">
              <a:solidFill>
                <a:schemeClr val="dk1"/>
              </a:solidFill>
              <a:latin typeface="IBM Plex Sans"/>
              <a:ea typeface="IBM Plex Sans"/>
              <a:cs typeface="IBM Plex Sans"/>
              <a:sym typeface="IBM Plex Sans"/>
            </a:endParaRPr>
          </a:p>
        </p:txBody>
      </p:sp>
      <p:sp>
        <p:nvSpPr>
          <p:cNvPr id="203" name="Google Shape;203;p19"/>
          <p:cNvSpPr/>
          <p:nvPr/>
        </p:nvSpPr>
        <p:spPr>
          <a:xfrm>
            <a:off x="7995708" y="1880236"/>
            <a:ext cx="3380317" cy="1646343"/>
          </a:xfrm>
          <a:prstGeom prst="roundRect">
            <a:avLst>
              <a:gd fmla="val 5978" name="adj"/>
            </a:avLst>
          </a:prstGeom>
          <a:solidFill>
            <a:srgbClr val="FDFCF9"/>
          </a:solidFill>
          <a:ln cap="flat" cmpd="sng" w="9525">
            <a:solidFill>
              <a:srgbClr val="D9D4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9"/>
          <p:cNvSpPr/>
          <p:nvPr/>
        </p:nvSpPr>
        <p:spPr>
          <a:xfrm>
            <a:off x="8251825" y="2136350"/>
            <a:ext cx="2954126" cy="2844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C2230"/>
              </a:buClr>
              <a:buSzPts val="1700"/>
              <a:buFont typeface="IBM Plex Sans"/>
              <a:buNone/>
            </a:pPr>
            <a:r>
              <a:rPr b="1" i="0" lang="en-US" sz="1700" u="none" cap="none" strike="noStrike">
                <a:solidFill>
                  <a:srgbClr val="1C2230"/>
                </a:solidFill>
                <a:latin typeface="IBM Plex Sans"/>
                <a:ea typeface="IBM Plex Sans"/>
                <a:cs typeface="IBM Plex Sans"/>
                <a:sym typeface="IBM Plex Sans"/>
              </a:rPr>
              <a:t>Contiguity</a:t>
            </a:r>
            <a:endParaRPr b="0" i="0" sz="1700" u="none" cap="none" strike="noStrike">
              <a:solidFill>
                <a:schemeClr val="dk1"/>
              </a:solidFill>
              <a:latin typeface="IBM Plex Sans"/>
              <a:ea typeface="IBM Plex Sans"/>
              <a:cs typeface="IBM Plex Sans"/>
              <a:sym typeface="IBM Plex Sans"/>
            </a:endParaRPr>
          </a:p>
        </p:txBody>
      </p:sp>
      <p:sp>
        <p:nvSpPr>
          <p:cNvPr id="205" name="Google Shape;205;p19"/>
          <p:cNvSpPr/>
          <p:nvPr/>
        </p:nvSpPr>
        <p:spPr>
          <a:xfrm>
            <a:off x="8251825" y="2497032"/>
            <a:ext cx="2954126" cy="79883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1C2230"/>
              </a:buClr>
              <a:buSzPts val="1400"/>
              <a:buFont typeface="IBM Plex Sans"/>
              <a:buNone/>
            </a:pPr>
            <a:r>
              <a:rPr b="0" i="0" lang="en-US" sz="1400" u="none" cap="none" strike="noStrike">
                <a:solidFill>
                  <a:srgbClr val="1C2230"/>
                </a:solidFill>
                <a:latin typeface="IBM Plex Sans"/>
                <a:ea typeface="IBM Plex Sans"/>
                <a:cs typeface="IBM Plex Sans"/>
                <a:sym typeface="IBM Plex Sans"/>
              </a:rPr>
              <a:t>Large buffers must be physically contiguous, or described as scatter-gather lists.</a:t>
            </a:r>
            <a:endParaRPr b="0" i="0" sz="1400" u="none" cap="none" strike="noStrike">
              <a:solidFill>
                <a:schemeClr val="dk1"/>
              </a:solidFill>
              <a:latin typeface="IBM Plex Sans"/>
              <a:ea typeface="IBM Plex Sans"/>
              <a:cs typeface="IBM Plex Sans"/>
              <a:sym typeface="IBM Plex Sans"/>
            </a:endParaRPr>
          </a:p>
        </p:txBody>
      </p:sp>
      <p:cxnSp>
        <p:nvCxnSpPr>
          <p:cNvPr id="206" name="Google Shape;206;p19"/>
          <p:cNvCxnSpPr/>
          <p:nvPr/>
        </p:nvCxnSpPr>
        <p:spPr>
          <a:xfrm>
            <a:off x="831850" y="3885354"/>
            <a:ext cx="0" cy="386080"/>
          </a:xfrm>
          <a:prstGeom prst="straightConnector1">
            <a:avLst/>
          </a:prstGeom>
          <a:noFill/>
          <a:ln cap="flat" cmpd="sng" w="38100">
            <a:solidFill>
              <a:srgbClr val="B24A17"/>
            </a:solidFill>
            <a:prstDash val="solid"/>
            <a:round/>
            <a:headEnd len="sm" w="sm" type="none"/>
            <a:tailEnd len="sm" w="sm" type="none"/>
          </a:ln>
        </p:spPr>
      </p:cxnSp>
      <p:sp>
        <p:nvSpPr>
          <p:cNvPr id="207" name="Google Shape;207;p19"/>
          <p:cNvSpPr/>
          <p:nvPr/>
        </p:nvSpPr>
        <p:spPr>
          <a:xfrm>
            <a:off x="1027642" y="3936154"/>
            <a:ext cx="10662105" cy="3098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230"/>
              </a:buClr>
              <a:buSzPts val="1600"/>
              <a:buFont typeface="IBM Plex Sans"/>
              <a:buNone/>
            </a:pPr>
            <a:r>
              <a:rPr b="0" i="0" lang="en-US" sz="1600" u="none" cap="none" strike="noStrike">
                <a:solidFill>
                  <a:srgbClr val="1C2230"/>
                </a:solidFill>
                <a:latin typeface="IBM Plex Sans"/>
                <a:ea typeface="IBM Plex Sans"/>
                <a:cs typeface="IBM Plex Sans"/>
                <a:sym typeface="IBM Plex Sans"/>
              </a:rPr>
              <a:t>One cure for all three: put a translation between the device and memory.</a:t>
            </a:r>
            <a:endParaRPr b="0" i="0" sz="1600" u="none" cap="none" strike="noStrike">
              <a:solidFill>
                <a:schemeClr val="dk1"/>
              </a:solidFill>
              <a:latin typeface="IBM Plex Sans"/>
              <a:ea typeface="IBM Plex Sans"/>
              <a:cs typeface="IBM Plex Sans"/>
              <a:sym typeface="IBM Plex Sans"/>
            </a:endParaRPr>
          </a:p>
        </p:txBody>
      </p:sp>
      <p:sp>
        <p:nvSpPr>
          <p:cNvPr id="208" name="Google Shape;208;p19"/>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209" name="Google Shape;209;p19"/>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B24A17"/>
              </a:buClr>
              <a:buSzPts val="1200"/>
              <a:buFont typeface="IBM Plex Mono"/>
              <a:buNone/>
            </a:pPr>
            <a:r>
              <a:rPr lang="en-US" sz="1200">
                <a:solidFill>
                  <a:srgbClr val="B24A17"/>
                </a:solidFill>
                <a:latin typeface="Comfortaa"/>
                <a:ea typeface="Comfortaa"/>
                <a:cs typeface="Comfortaa"/>
                <a:sym typeface="Comfortaa"/>
              </a:rPr>
              <a:t>I </a:t>
            </a:r>
            <a:r>
              <a:rPr i="0" lang="en-US" sz="1200" u="none" cap="none" strike="noStrike">
                <a:solidFill>
                  <a:srgbClr val="B24A17"/>
                </a:solidFill>
                <a:latin typeface="Comfortaa"/>
                <a:ea typeface="Comfortaa"/>
                <a:cs typeface="Comfortaa"/>
                <a:sym typeface="Comfortaa"/>
              </a:rPr>
              <a:t>· DMA</a:t>
            </a:r>
            <a:endParaRPr i="0" sz="1200" u="none" cap="none" strike="noStrike">
              <a:solidFill>
                <a:schemeClr val="dk1"/>
              </a:solidFill>
              <a:latin typeface="Comfortaa"/>
              <a:ea typeface="Comfortaa"/>
              <a:cs typeface="Comfortaa"/>
              <a:sym typeface="Comforta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E"/>
        </a:solidFill>
      </p:bgPr>
    </p:bg>
    <p:spTree>
      <p:nvGrpSpPr>
        <p:cNvPr id="214" name="Shape 214"/>
        <p:cNvGrpSpPr/>
        <p:nvPr/>
      </p:nvGrpSpPr>
      <p:grpSpPr>
        <a:xfrm>
          <a:off x="0" y="0"/>
          <a:ext cx="0" cy="0"/>
          <a:chOff x="0" y="0"/>
          <a:chExt cx="0" cy="0"/>
        </a:xfrm>
      </p:grpSpPr>
      <p:sp>
        <p:nvSpPr>
          <p:cNvPr id="215" name="Google Shape;215;p20"/>
          <p:cNvSpPr/>
          <p:nvPr/>
        </p:nvSpPr>
        <p:spPr>
          <a:xfrm>
            <a:off x="812800" y="812800"/>
            <a:ext cx="10883392" cy="23876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B24A17"/>
              </a:buClr>
              <a:buSzPts val="1200"/>
              <a:buFont typeface="IBM Plex Mono"/>
              <a:buNone/>
            </a:pPr>
            <a:r>
              <a:rPr lang="en-US" sz="1200">
                <a:solidFill>
                  <a:srgbClr val="B24A17"/>
                </a:solidFill>
                <a:latin typeface="Comfortaa"/>
                <a:ea typeface="Comfortaa"/>
                <a:cs typeface="Comfortaa"/>
                <a:sym typeface="Comfortaa"/>
              </a:rPr>
              <a:t>II</a:t>
            </a:r>
            <a:r>
              <a:rPr i="0" lang="en-US" sz="1200" u="none" cap="none" strike="noStrike">
                <a:solidFill>
                  <a:srgbClr val="B24A17"/>
                </a:solidFill>
                <a:latin typeface="Comfortaa"/>
                <a:ea typeface="Comfortaa"/>
                <a:cs typeface="Comfortaa"/>
                <a:sym typeface="Comfortaa"/>
              </a:rPr>
              <a:t> · IOMMU</a:t>
            </a:r>
            <a:endParaRPr i="0" sz="1200" u="none" cap="none" strike="noStrike">
              <a:solidFill>
                <a:schemeClr val="dk1"/>
              </a:solidFill>
              <a:latin typeface="Comfortaa"/>
              <a:ea typeface="Comfortaa"/>
              <a:cs typeface="Comfortaa"/>
              <a:sym typeface="Comfortaa"/>
            </a:endParaRPr>
          </a:p>
        </p:txBody>
      </p:sp>
      <p:sp>
        <p:nvSpPr>
          <p:cNvPr id="216" name="Google Shape;216;p20"/>
          <p:cNvSpPr txBox="1"/>
          <p:nvPr>
            <p:ph type="title"/>
          </p:nvPr>
        </p:nvSpPr>
        <p:spPr>
          <a:xfrm>
            <a:off x="812800" y="1102361"/>
            <a:ext cx="10883392" cy="4445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C2230"/>
              </a:buClr>
              <a:buSzPct val="100000"/>
              <a:buFont typeface="IBM Plex Sans"/>
              <a:buNone/>
            </a:pPr>
            <a:r>
              <a:rPr b="1" i="0" lang="en-US" sz="3000">
                <a:solidFill>
                  <a:srgbClr val="1C2230"/>
                </a:solidFill>
                <a:latin typeface="Comfortaa"/>
                <a:ea typeface="Comfortaa"/>
                <a:cs typeface="Comfortaa"/>
                <a:sym typeface="Comfortaa"/>
              </a:rPr>
              <a:t>An MMU for devices</a:t>
            </a:r>
            <a:endParaRPr sz="3000">
              <a:latin typeface="Comfortaa"/>
              <a:ea typeface="Comfortaa"/>
              <a:cs typeface="Comfortaa"/>
              <a:sym typeface="Comfortaa"/>
            </a:endParaRPr>
          </a:p>
        </p:txBody>
      </p:sp>
      <p:sp>
        <p:nvSpPr>
          <p:cNvPr id="217" name="Google Shape;217;p20"/>
          <p:cNvSpPr/>
          <p:nvPr/>
        </p:nvSpPr>
        <p:spPr>
          <a:xfrm>
            <a:off x="815975" y="1880236"/>
            <a:ext cx="2025650" cy="855133"/>
          </a:xfrm>
          <a:prstGeom prst="roundRect">
            <a:avLst>
              <a:gd fmla="val 8540" name="adj"/>
            </a:avLst>
          </a:prstGeom>
          <a:solidFill>
            <a:srgbClr val="FDFCF9"/>
          </a:solidFill>
          <a:ln cap="flat" cmpd="sng" w="9525">
            <a:solidFill>
              <a:srgbClr val="D9D4C9"/>
            </a:solidFill>
            <a:prstDash val="solid"/>
            <a:round/>
            <a:headEnd len="sm" w="sm" type="none"/>
            <a:tailEnd len="sm" w="sm" type="none"/>
          </a:ln>
        </p:spPr>
        <p:txBody>
          <a:bodyPr anchorCtr="0" anchor="t" bIns="133125" lIns="158525" spcFirstLastPara="1" rIns="107725" wrap="square" tIns="158525">
            <a:noAutofit/>
          </a:bodyPr>
          <a:lstStyle/>
          <a:p>
            <a:pPr indent="0" lvl="0" marL="0" marR="0" rtl="0" algn="l">
              <a:lnSpc>
                <a:spcPct val="130000"/>
              </a:lnSpc>
              <a:spcBef>
                <a:spcPts val="0"/>
              </a:spcBef>
              <a:spcAft>
                <a:spcPts val="0"/>
              </a:spcAft>
              <a:buClr>
                <a:srgbClr val="1C2230"/>
              </a:buClr>
              <a:buSzPts val="1500"/>
              <a:buFont typeface="IBM Plex Sans"/>
              <a:buNone/>
            </a:pPr>
            <a:r>
              <a:rPr b="1" i="0" lang="en-US" sz="1500" u="none" cap="none" strike="noStrike">
                <a:solidFill>
                  <a:srgbClr val="1C2230"/>
                </a:solidFill>
                <a:latin typeface="Comfortaa"/>
                <a:ea typeface="Comfortaa"/>
                <a:cs typeface="Comfortaa"/>
                <a:sym typeface="Comfortaa"/>
              </a:rPr>
              <a:t>CPU</a:t>
            </a:r>
            <a:endParaRPr i="0" sz="1500" u="none" cap="none" strike="noStrike">
              <a:solidFill>
                <a:schemeClr val="dk1"/>
              </a:solidFill>
              <a:latin typeface="Comfortaa"/>
              <a:ea typeface="Comfortaa"/>
              <a:cs typeface="Comfortaa"/>
              <a:sym typeface="Comfortaa"/>
            </a:endParaRPr>
          </a:p>
          <a:p>
            <a:pPr indent="0" lvl="0" marL="0" marR="0" rtl="0" algn="l">
              <a:lnSpc>
                <a:spcPct val="130000"/>
              </a:lnSpc>
              <a:spcBef>
                <a:spcPts val="0"/>
              </a:spcBef>
              <a:spcAft>
                <a:spcPts val="0"/>
              </a:spcAft>
              <a:buClr>
                <a:srgbClr val="1C2230"/>
              </a:buClr>
              <a:buSzPts val="1500"/>
              <a:buFont typeface="IBM Plex Sans"/>
              <a:buNone/>
            </a:pPr>
            <a:r>
              <a:rPr i="0" lang="en-US" sz="1500" u="none" cap="none" strike="noStrike">
                <a:solidFill>
                  <a:srgbClr val="1C2230"/>
                </a:solidFill>
                <a:latin typeface="Comfortaa"/>
                <a:ea typeface="Comfortaa"/>
                <a:cs typeface="Comfortaa"/>
                <a:sym typeface="Comfortaa"/>
              </a:rPr>
              <a:t>virtual address</a:t>
            </a:r>
            <a:endParaRPr i="0" sz="1500" u="none" cap="none" strike="noStrike">
              <a:solidFill>
                <a:schemeClr val="dk1"/>
              </a:solidFill>
              <a:latin typeface="Comfortaa"/>
              <a:ea typeface="Comfortaa"/>
              <a:cs typeface="Comfortaa"/>
              <a:sym typeface="Comfortaa"/>
            </a:endParaRPr>
          </a:p>
        </p:txBody>
      </p:sp>
      <p:pic>
        <p:nvPicPr>
          <p:cNvPr descr="arrow-right" id="218" name="Google Shape;218;p20"/>
          <p:cNvPicPr preferRelativeResize="0"/>
          <p:nvPr/>
        </p:nvPicPr>
        <p:blipFill rotWithShape="1">
          <a:blip r:embed="rId3">
            <a:alphaModFix/>
          </a:blip>
          <a:srcRect b="0" l="0" r="0" t="0"/>
          <a:stretch/>
        </p:blipFill>
        <p:spPr>
          <a:xfrm>
            <a:off x="2997200" y="2206200"/>
            <a:ext cx="355600" cy="203200"/>
          </a:xfrm>
          <a:prstGeom prst="rect">
            <a:avLst/>
          </a:prstGeom>
          <a:noFill/>
          <a:ln>
            <a:noFill/>
          </a:ln>
        </p:spPr>
      </p:pic>
      <p:sp>
        <p:nvSpPr>
          <p:cNvPr id="219" name="Google Shape;219;p20"/>
          <p:cNvSpPr/>
          <p:nvPr/>
        </p:nvSpPr>
        <p:spPr>
          <a:xfrm>
            <a:off x="3508375" y="1880236"/>
            <a:ext cx="5683250" cy="855133"/>
          </a:xfrm>
          <a:prstGeom prst="roundRect">
            <a:avLst>
              <a:gd fmla="val 8540" name="adj"/>
            </a:avLst>
          </a:prstGeom>
          <a:solidFill>
            <a:srgbClr val="FDFCF9"/>
          </a:solidFill>
          <a:ln cap="flat" cmpd="sng" w="9525">
            <a:solidFill>
              <a:srgbClr val="D9D4C9"/>
            </a:solidFill>
            <a:prstDash val="solid"/>
            <a:round/>
            <a:headEnd len="sm" w="sm" type="none"/>
            <a:tailEnd len="sm" w="sm" type="none"/>
          </a:ln>
        </p:spPr>
        <p:txBody>
          <a:bodyPr anchorCtr="0" anchor="t" bIns="133125" lIns="158525" spcFirstLastPara="1" rIns="0" wrap="square" tIns="158525">
            <a:noAutofit/>
          </a:bodyPr>
          <a:lstStyle/>
          <a:p>
            <a:pPr indent="0" lvl="0" marL="0" marR="0" rtl="0" algn="l">
              <a:lnSpc>
                <a:spcPct val="130000"/>
              </a:lnSpc>
              <a:spcBef>
                <a:spcPts val="0"/>
              </a:spcBef>
              <a:spcAft>
                <a:spcPts val="0"/>
              </a:spcAft>
              <a:buClr>
                <a:srgbClr val="1C2230"/>
              </a:buClr>
              <a:buSzPts val="1500"/>
              <a:buFont typeface="IBM Plex Sans"/>
              <a:buNone/>
            </a:pPr>
            <a:r>
              <a:rPr b="1" i="0" lang="en-US" sz="1500" u="none" cap="none" strike="noStrike">
                <a:solidFill>
                  <a:srgbClr val="1C2230"/>
                </a:solidFill>
                <a:latin typeface="Comfortaa"/>
                <a:ea typeface="Comfortaa"/>
                <a:cs typeface="Comfortaa"/>
                <a:sym typeface="Comfortaa"/>
              </a:rPr>
              <a:t>MMU</a:t>
            </a:r>
            <a:endParaRPr i="0" sz="1500" u="none" cap="none" strike="noStrike">
              <a:solidFill>
                <a:schemeClr val="dk1"/>
              </a:solidFill>
              <a:latin typeface="Comfortaa"/>
              <a:ea typeface="Comfortaa"/>
              <a:cs typeface="Comfortaa"/>
              <a:sym typeface="Comfortaa"/>
            </a:endParaRPr>
          </a:p>
          <a:p>
            <a:pPr indent="0" lvl="0" marL="0" marR="0" rtl="0" algn="l">
              <a:lnSpc>
                <a:spcPct val="130000"/>
              </a:lnSpc>
              <a:spcBef>
                <a:spcPts val="0"/>
              </a:spcBef>
              <a:spcAft>
                <a:spcPts val="0"/>
              </a:spcAft>
              <a:buClr>
                <a:srgbClr val="1C2230"/>
              </a:buClr>
              <a:buSzPts val="1500"/>
              <a:buFont typeface="IBM Plex Sans"/>
              <a:buNone/>
            </a:pPr>
            <a:r>
              <a:rPr i="0" lang="en-US" sz="1500" u="none" cap="none" strike="noStrike">
                <a:solidFill>
                  <a:srgbClr val="1C2230"/>
                </a:solidFill>
                <a:latin typeface="Comfortaa"/>
                <a:ea typeface="Comfortaa"/>
                <a:cs typeface="Comfortaa"/>
                <a:sym typeface="Comfortaa"/>
              </a:rPr>
              <a:t>VA → PA, page tables per process, TLB</a:t>
            </a:r>
            <a:endParaRPr i="0" sz="1500" u="none" cap="none" strike="noStrike">
              <a:solidFill>
                <a:schemeClr val="dk1"/>
              </a:solidFill>
              <a:latin typeface="Comfortaa"/>
              <a:ea typeface="Comfortaa"/>
              <a:cs typeface="Comfortaa"/>
              <a:sym typeface="Comfortaa"/>
            </a:endParaRPr>
          </a:p>
        </p:txBody>
      </p:sp>
      <p:pic>
        <p:nvPicPr>
          <p:cNvPr descr="arrow-right" id="220" name="Google Shape;220;p20"/>
          <p:cNvPicPr preferRelativeResize="0"/>
          <p:nvPr/>
        </p:nvPicPr>
        <p:blipFill rotWithShape="1">
          <a:blip r:embed="rId3">
            <a:alphaModFix/>
          </a:blip>
          <a:srcRect b="0" l="0" r="0" t="0"/>
          <a:stretch/>
        </p:blipFill>
        <p:spPr>
          <a:xfrm>
            <a:off x="9347200" y="2206200"/>
            <a:ext cx="355600" cy="203200"/>
          </a:xfrm>
          <a:prstGeom prst="rect">
            <a:avLst/>
          </a:prstGeom>
          <a:noFill/>
          <a:ln>
            <a:noFill/>
          </a:ln>
        </p:spPr>
      </p:pic>
      <p:sp>
        <p:nvSpPr>
          <p:cNvPr id="221" name="Google Shape;221;p20"/>
          <p:cNvSpPr/>
          <p:nvPr/>
        </p:nvSpPr>
        <p:spPr>
          <a:xfrm>
            <a:off x="9858375" y="1880236"/>
            <a:ext cx="1517650" cy="855133"/>
          </a:xfrm>
          <a:prstGeom prst="roundRect">
            <a:avLst>
              <a:gd fmla="val 8540" name="adj"/>
            </a:avLst>
          </a:prstGeom>
          <a:solidFill>
            <a:srgbClr val="FDFCF9"/>
          </a:solidFill>
          <a:ln cap="flat" cmpd="sng" w="9525">
            <a:solidFill>
              <a:srgbClr val="D9D4C9"/>
            </a:solidFill>
            <a:prstDash val="solid"/>
            <a:round/>
            <a:headEnd len="sm" w="sm" type="none"/>
            <a:tailEnd len="sm" w="sm" type="none"/>
          </a:ln>
        </p:spPr>
        <p:txBody>
          <a:bodyPr anchorCtr="0" anchor="t" bIns="133125" lIns="158525" spcFirstLastPara="1" rIns="107725" wrap="square" tIns="158525">
            <a:noAutofit/>
          </a:bodyPr>
          <a:lstStyle/>
          <a:p>
            <a:pPr indent="0" lvl="0" marL="0" marR="0" rtl="0" algn="l">
              <a:lnSpc>
                <a:spcPct val="130000"/>
              </a:lnSpc>
              <a:spcBef>
                <a:spcPts val="0"/>
              </a:spcBef>
              <a:spcAft>
                <a:spcPts val="0"/>
              </a:spcAft>
              <a:buClr>
                <a:srgbClr val="1C2230"/>
              </a:buClr>
              <a:buSzPts val="1500"/>
              <a:buFont typeface="IBM Plex Sans"/>
              <a:buNone/>
            </a:pPr>
            <a:r>
              <a:rPr b="1" i="0" lang="en-US" sz="1500" u="none" cap="none" strike="noStrike">
                <a:solidFill>
                  <a:srgbClr val="1C2230"/>
                </a:solidFill>
                <a:latin typeface="Comfortaa"/>
                <a:ea typeface="Comfortaa"/>
                <a:cs typeface="Comfortaa"/>
                <a:sym typeface="Comfortaa"/>
              </a:rPr>
              <a:t>RAM</a:t>
            </a:r>
            <a:endParaRPr i="0" sz="1500" u="none" cap="none" strike="noStrike">
              <a:solidFill>
                <a:schemeClr val="dk1"/>
              </a:solidFill>
              <a:latin typeface="Comfortaa"/>
              <a:ea typeface="Comfortaa"/>
              <a:cs typeface="Comfortaa"/>
              <a:sym typeface="Comfortaa"/>
            </a:endParaRPr>
          </a:p>
        </p:txBody>
      </p:sp>
      <p:sp>
        <p:nvSpPr>
          <p:cNvPr id="222" name="Google Shape;222;p20"/>
          <p:cNvSpPr/>
          <p:nvPr/>
        </p:nvSpPr>
        <p:spPr>
          <a:xfrm>
            <a:off x="815975" y="2919518"/>
            <a:ext cx="2025650" cy="876300"/>
          </a:xfrm>
          <a:prstGeom prst="roundRect">
            <a:avLst>
              <a:gd fmla="val 8333" name="adj"/>
            </a:avLst>
          </a:prstGeom>
          <a:solidFill>
            <a:srgbClr val="FDFCF9"/>
          </a:solidFill>
          <a:ln cap="flat" cmpd="sng" w="9525">
            <a:solidFill>
              <a:srgbClr val="D9D4C9"/>
            </a:solidFill>
            <a:prstDash val="solid"/>
            <a:round/>
            <a:headEnd len="sm" w="sm" type="none"/>
            <a:tailEnd len="sm" w="sm" type="none"/>
          </a:ln>
        </p:spPr>
        <p:txBody>
          <a:bodyPr anchorCtr="0" anchor="t" bIns="133125" lIns="158525" spcFirstLastPara="1" rIns="107725" wrap="square" tIns="158525">
            <a:noAutofit/>
          </a:bodyPr>
          <a:lstStyle/>
          <a:p>
            <a:pPr indent="0" lvl="0" marL="0" marR="0" rtl="0" algn="l">
              <a:lnSpc>
                <a:spcPct val="130000"/>
              </a:lnSpc>
              <a:spcBef>
                <a:spcPts val="0"/>
              </a:spcBef>
              <a:spcAft>
                <a:spcPts val="0"/>
              </a:spcAft>
              <a:buClr>
                <a:srgbClr val="1C2230"/>
              </a:buClr>
              <a:buSzPts val="1500"/>
              <a:buFont typeface="IBM Plex Sans"/>
              <a:buNone/>
            </a:pPr>
            <a:r>
              <a:rPr b="1" i="0" lang="en-US" sz="1500" u="none" cap="none" strike="noStrike">
                <a:solidFill>
                  <a:srgbClr val="1C2230"/>
                </a:solidFill>
                <a:latin typeface="Comfortaa"/>
                <a:ea typeface="Comfortaa"/>
                <a:cs typeface="Comfortaa"/>
                <a:sym typeface="Comfortaa"/>
              </a:rPr>
              <a:t>PCIe device</a:t>
            </a:r>
            <a:endParaRPr i="0" sz="1500" u="none" cap="none" strike="noStrike">
              <a:solidFill>
                <a:schemeClr val="dk1"/>
              </a:solidFill>
              <a:latin typeface="Comfortaa"/>
              <a:ea typeface="Comfortaa"/>
              <a:cs typeface="Comfortaa"/>
              <a:sym typeface="Comfortaa"/>
            </a:endParaRPr>
          </a:p>
          <a:p>
            <a:pPr indent="0" lvl="0" marL="0" marR="0" rtl="0" algn="l">
              <a:lnSpc>
                <a:spcPct val="130000"/>
              </a:lnSpc>
              <a:spcBef>
                <a:spcPts val="0"/>
              </a:spcBef>
              <a:spcAft>
                <a:spcPts val="0"/>
              </a:spcAft>
              <a:buClr>
                <a:srgbClr val="1C2230"/>
              </a:buClr>
              <a:buSzPts val="1500"/>
              <a:buFont typeface="IBM Plex Sans"/>
              <a:buNone/>
            </a:pPr>
            <a:r>
              <a:rPr i="0" lang="en-US" sz="1500" u="none" cap="none" strike="noStrike">
                <a:solidFill>
                  <a:srgbClr val="1C2230"/>
                </a:solidFill>
                <a:latin typeface="Comfortaa"/>
                <a:ea typeface="Comfortaa"/>
                <a:cs typeface="Comfortaa"/>
                <a:sym typeface="Comfortaa"/>
              </a:rPr>
              <a:t>IOVA</a:t>
            </a:r>
            <a:endParaRPr i="0" sz="1500" u="none" cap="none" strike="noStrike">
              <a:solidFill>
                <a:schemeClr val="dk1"/>
              </a:solidFill>
              <a:latin typeface="Comfortaa"/>
              <a:ea typeface="Comfortaa"/>
              <a:cs typeface="Comfortaa"/>
              <a:sym typeface="Comfortaa"/>
            </a:endParaRPr>
          </a:p>
        </p:txBody>
      </p:sp>
      <p:pic>
        <p:nvPicPr>
          <p:cNvPr descr="arrow-right" id="223" name="Google Shape;223;p20"/>
          <p:cNvPicPr preferRelativeResize="0"/>
          <p:nvPr/>
        </p:nvPicPr>
        <p:blipFill rotWithShape="1">
          <a:blip r:embed="rId4">
            <a:alphaModFix/>
          </a:blip>
          <a:srcRect b="0" l="0" r="0" t="0"/>
          <a:stretch/>
        </p:blipFill>
        <p:spPr>
          <a:xfrm>
            <a:off x="2997200" y="3256068"/>
            <a:ext cx="355600" cy="203200"/>
          </a:xfrm>
          <a:prstGeom prst="rect">
            <a:avLst/>
          </a:prstGeom>
          <a:noFill/>
          <a:ln>
            <a:noFill/>
          </a:ln>
        </p:spPr>
      </p:pic>
      <p:sp>
        <p:nvSpPr>
          <p:cNvPr id="224" name="Google Shape;224;p20"/>
          <p:cNvSpPr/>
          <p:nvPr/>
        </p:nvSpPr>
        <p:spPr>
          <a:xfrm>
            <a:off x="3514725" y="2925868"/>
            <a:ext cx="5670550" cy="863600"/>
          </a:xfrm>
          <a:prstGeom prst="roundRect">
            <a:avLst>
              <a:gd fmla="val 7721" name="adj"/>
            </a:avLst>
          </a:prstGeom>
          <a:solidFill>
            <a:srgbClr val="FDFCF9"/>
          </a:solidFill>
          <a:ln cap="flat" cmpd="sng" w="19050">
            <a:solidFill>
              <a:srgbClr val="B24A17"/>
            </a:solidFill>
            <a:prstDash val="solid"/>
            <a:round/>
            <a:headEnd len="sm" w="sm" type="none"/>
            <a:tailEnd len="sm" w="sm" type="none"/>
          </a:ln>
        </p:spPr>
        <p:txBody>
          <a:bodyPr anchorCtr="0" anchor="t" bIns="139200" lIns="164600" spcFirstLastPara="1" rIns="5550" wrap="square" tIns="164600">
            <a:noAutofit/>
          </a:bodyPr>
          <a:lstStyle/>
          <a:p>
            <a:pPr indent="0" lvl="0" marL="0" marR="0" rtl="0" algn="l">
              <a:lnSpc>
                <a:spcPct val="130000"/>
              </a:lnSpc>
              <a:spcBef>
                <a:spcPts val="0"/>
              </a:spcBef>
              <a:spcAft>
                <a:spcPts val="0"/>
              </a:spcAft>
              <a:buClr>
                <a:srgbClr val="1C2230"/>
              </a:buClr>
              <a:buSzPts val="1500"/>
              <a:buFont typeface="IBM Plex Sans"/>
              <a:buNone/>
            </a:pPr>
            <a:r>
              <a:rPr b="1" i="0" lang="en-US" sz="1500" u="none" cap="none" strike="noStrike">
                <a:solidFill>
                  <a:srgbClr val="1C2230"/>
                </a:solidFill>
                <a:latin typeface="Comfortaa"/>
                <a:ea typeface="Comfortaa"/>
                <a:cs typeface="Comfortaa"/>
                <a:sym typeface="Comfortaa"/>
              </a:rPr>
              <a:t>IOMMU</a:t>
            </a:r>
            <a:endParaRPr i="0" sz="1500" u="none" cap="none" strike="noStrike">
              <a:solidFill>
                <a:schemeClr val="dk1"/>
              </a:solidFill>
              <a:latin typeface="Comfortaa"/>
              <a:ea typeface="Comfortaa"/>
              <a:cs typeface="Comfortaa"/>
              <a:sym typeface="Comfortaa"/>
            </a:endParaRPr>
          </a:p>
          <a:p>
            <a:pPr indent="0" lvl="0" marL="0" marR="0" rtl="0" algn="l">
              <a:lnSpc>
                <a:spcPct val="130000"/>
              </a:lnSpc>
              <a:spcBef>
                <a:spcPts val="0"/>
              </a:spcBef>
              <a:spcAft>
                <a:spcPts val="0"/>
              </a:spcAft>
              <a:buClr>
                <a:srgbClr val="1C2230"/>
              </a:buClr>
              <a:buSzPts val="1500"/>
              <a:buFont typeface="IBM Plex Sans"/>
              <a:buNone/>
            </a:pPr>
            <a:r>
              <a:rPr i="0" lang="en-US" sz="1500" u="none" cap="none" strike="noStrike">
                <a:solidFill>
                  <a:srgbClr val="1C2230"/>
                </a:solidFill>
                <a:latin typeface="Comfortaa"/>
                <a:ea typeface="Comfortaa"/>
                <a:cs typeface="Comfortaa"/>
                <a:sym typeface="Comfortaa"/>
              </a:rPr>
              <a:t>IOVA → PA, page tables per domain, IOTLB</a:t>
            </a:r>
            <a:endParaRPr i="0" sz="1500" u="none" cap="none" strike="noStrike">
              <a:solidFill>
                <a:schemeClr val="dk1"/>
              </a:solidFill>
              <a:latin typeface="Comfortaa"/>
              <a:ea typeface="Comfortaa"/>
              <a:cs typeface="Comfortaa"/>
              <a:sym typeface="Comfortaa"/>
            </a:endParaRPr>
          </a:p>
        </p:txBody>
      </p:sp>
      <p:pic>
        <p:nvPicPr>
          <p:cNvPr descr="arrow-right" id="225" name="Google Shape;225;p20"/>
          <p:cNvPicPr preferRelativeResize="0"/>
          <p:nvPr/>
        </p:nvPicPr>
        <p:blipFill rotWithShape="1">
          <a:blip r:embed="rId4">
            <a:alphaModFix/>
          </a:blip>
          <a:srcRect b="0" l="0" r="0" t="0"/>
          <a:stretch/>
        </p:blipFill>
        <p:spPr>
          <a:xfrm>
            <a:off x="9347200" y="3256068"/>
            <a:ext cx="355600" cy="203200"/>
          </a:xfrm>
          <a:prstGeom prst="rect">
            <a:avLst/>
          </a:prstGeom>
          <a:noFill/>
          <a:ln>
            <a:noFill/>
          </a:ln>
        </p:spPr>
      </p:pic>
      <p:sp>
        <p:nvSpPr>
          <p:cNvPr id="226" name="Google Shape;226;p20"/>
          <p:cNvSpPr/>
          <p:nvPr/>
        </p:nvSpPr>
        <p:spPr>
          <a:xfrm>
            <a:off x="9858375" y="2919518"/>
            <a:ext cx="1517650" cy="876300"/>
          </a:xfrm>
          <a:prstGeom prst="roundRect">
            <a:avLst>
              <a:gd fmla="val 8333" name="adj"/>
            </a:avLst>
          </a:prstGeom>
          <a:solidFill>
            <a:srgbClr val="FDFCF9"/>
          </a:solidFill>
          <a:ln cap="flat" cmpd="sng" w="9525">
            <a:solidFill>
              <a:srgbClr val="D9D4C9"/>
            </a:solidFill>
            <a:prstDash val="solid"/>
            <a:round/>
            <a:headEnd len="sm" w="sm" type="none"/>
            <a:tailEnd len="sm" w="sm" type="none"/>
          </a:ln>
        </p:spPr>
        <p:txBody>
          <a:bodyPr anchorCtr="0" anchor="t" bIns="133125" lIns="158525" spcFirstLastPara="1" rIns="107725" wrap="square" tIns="158525">
            <a:noAutofit/>
          </a:bodyPr>
          <a:lstStyle/>
          <a:p>
            <a:pPr indent="0" lvl="0" marL="0" marR="0" rtl="0" algn="l">
              <a:lnSpc>
                <a:spcPct val="130000"/>
              </a:lnSpc>
              <a:spcBef>
                <a:spcPts val="0"/>
              </a:spcBef>
              <a:spcAft>
                <a:spcPts val="0"/>
              </a:spcAft>
              <a:buClr>
                <a:srgbClr val="1C2230"/>
              </a:buClr>
              <a:buSzPts val="1500"/>
              <a:buFont typeface="IBM Plex Sans"/>
              <a:buNone/>
            </a:pPr>
            <a:r>
              <a:rPr b="1" i="0" lang="en-US" sz="1500" u="none" cap="none" strike="noStrike">
                <a:solidFill>
                  <a:srgbClr val="1C2230"/>
                </a:solidFill>
                <a:latin typeface="Comfortaa"/>
                <a:ea typeface="Comfortaa"/>
                <a:cs typeface="Comfortaa"/>
                <a:sym typeface="Comfortaa"/>
              </a:rPr>
              <a:t>RAM</a:t>
            </a:r>
            <a:endParaRPr i="0" sz="1500" u="none" cap="none" strike="noStrike">
              <a:solidFill>
                <a:schemeClr val="dk1"/>
              </a:solidFill>
              <a:latin typeface="Comfortaa"/>
              <a:ea typeface="Comfortaa"/>
              <a:cs typeface="Comfortaa"/>
              <a:sym typeface="Comfortaa"/>
            </a:endParaRPr>
          </a:p>
        </p:txBody>
      </p:sp>
      <p:cxnSp>
        <p:nvCxnSpPr>
          <p:cNvPr id="227" name="Google Shape;227;p20"/>
          <p:cNvCxnSpPr/>
          <p:nvPr/>
        </p:nvCxnSpPr>
        <p:spPr>
          <a:xfrm>
            <a:off x="831850" y="4154593"/>
            <a:ext cx="0" cy="386080"/>
          </a:xfrm>
          <a:prstGeom prst="straightConnector1">
            <a:avLst/>
          </a:prstGeom>
          <a:noFill/>
          <a:ln cap="flat" cmpd="sng" w="38100">
            <a:solidFill>
              <a:srgbClr val="B24A17"/>
            </a:solidFill>
            <a:prstDash val="solid"/>
            <a:round/>
            <a:headEnd len="sm" w="sm" type="none"/>
            <a:tailEnd len="sm" w="sm" type="none"/>
          </a:ln>
        </p:spPr>
      </p:cxnSp>
      <p:sp>
        <p:nvSpPr>
          <p:cNvPr id="228" name="Google Shape;228;p20"/>
          <p:cNvSpPr/>
          <p:nvPr/>
        </p:nvSpPr>
        <p:spPr>
          <a:xfrm>
            <a:off x="1027642" y="4205393"/>
            <a:ext cx="10662105" cy="3098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230"/>
              </a:buClr>
              <a:buSzPts val="1600"/>
              <a:buFont typeface="IBM Plex Sans"/>
              <a:buNone/>
            </a:pPr>
            <a:r>
              <a:rPr i="0" lang="en-US" sz="1600" u="none" cap="none" strike="noStrike">
                <a:solidFill>
                  <a:srgbClr val="1C2230"/>
                </a:solidFill>
                <a:latin typeface="Comfortaa"/>
                <a:ea typeface="Comfortaa"/>
                <a:cs typeface="Comfortaa"/>
                <a:sym typeface="Comfortaa"/>
              </a:rPr>
              <a:t>One deep difference: on a fault the CPU waits, the device just loses its request.</a:t>
            </a:r>
            <a:endParaRPr i="0" sz="1600" u="none" cap="none" strike="noStrike">
              <a:solidFill>
                <a:schemeClr val="dk1"/>
              </a:solidFill>
              <a:latin typeface="Comfortaa"/>
              <a:ea typeface="Comfortaa"/>
              <a:cs typeface="Comfortaa"/>
              <a:sym typeface="Comfortaa"/>
            </a:endParaRPr>
          </a:p>
        </p:txBody>
      </p:sp>
      <p:sp>
        <p:nvSpPr>
          <p:cNvPr id="229" name="Google Shape;229;p20"/>
          <p:cNvSpPr/>
          <p:nvPr/>
        </p:nvSpPr>
        <p:spPr>
          <a:xfrm>
            <a:off x="812800" y="6238239"/>
            <a:ext cx="10883392"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673"/>
              </a:buClr>
              <a:buSzPts val="1200"/>
              <a:buFont typeface="IBM Plex Sans"/>
              <a:buNone/>
            </a:pPr>
            <a:r>
              <a:rPr i="0" lang="en-US" sz="1200" u="none" cap="none" strike="noStrike">
                <a:solidFill>
                  <a:srgbClr val="5F6673"/>
                </a:solidFill>
                <a:latin typeface="Comfortaa"/>
                <a:ea typeface="Comfortaa"/>
                <a:cs typeface="Comfortaa"/>
                <a:sym typeface="Comfortaa"/>
              </a:rPr>
              <a:t>A domain is one IOVA address space, shared by one or more devices</a:t>
            </a:r>
            <a:endParaRPr i="0" sz="1200" u="none" cap="none" strike="noStrike">
              <a:solidFill>
                <a:schemeClr val="dk1"/>
              </a:solidFill>
              <a:latin typeface="Comfortaa"/>
              <a:ea typeface="Comfortaa"/>
              <a:cs typeface="Comfortaa"/>
              <a:sym typeface="Comfortaa"/>
            </a:endParaRPr>
          </a:p>
        </p:txBody>
      </p:sp>
      <p:sp>
        <p:nvSpPr>
          <p:cNvPr id="230" name="Google Shape;230;p20"/>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E"/>
        </a:solidFill>
      </p:bgPr>
    </p:bg>
    <p:spTree>
      <p:nvGrpSpPr>
        <p:cNvPr id="235" name="Shape 235"/>
        <p:cNvGrpSpPr/>
        <p:nvPr/>
      </p:nvGrpSpPr>
      <p:grpSpPr>
        <a:xfrm>
          <a:off x="0" y="0"/>
          <a:ext cx="0" cy="0"/>
          <a:chOff x="0" y="0"/>
          <a:chExt cx="0" cy="0"/>
        </a:xfrm>
      </p:grpSpPr>
      <p:sp>
        <p:nvSpPr>
          <p:cNvPr id="236" name="Google Shape;236;p21"/>
          <p:cNvSpPr txBox="1"/>
          <p:nvPr>
            <p:ph type="title"/>
          </p:nvPr>
        </p:nvSpPr>
        <p:spPr>
          <a:xfrm>
            <a:off x="812800" y="1102361"/>
            <a:ext cx="10883400" cy="4446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C2230"/>
              </a:buClr>
              <a:buSzPct val="100000"/>
              <a:buFont typeface="IBM Plex Sans"/>
              <a:buNone/>
            </a:pPr>
            <a:r>
              <a:rPr b="1" lang="en-US">
                <a:latin typeface="Comfortaa"/>
                <a:ea typeface="Comfortaa"/>
                <a:cs typeface="Comfortaa"/>
                <a:sym typeface="Comfortaa"/>
              </a:rPr>
              <a:t>Accessing the Memory with an IOMMU</a:t>
            </a:r>
            <a:endParaRPr sz="3000">
              <a:latin typeface="Comfortaa"/>
              <a:ea typeface="Comfortaa"/>
              <a:cs typeface="Comfortaa"/>
              <a:sym typeface="Comfortaa"/>
            </a:endParaRPr>
          </a:p>
        </p:txBody>
      </p:sp>
      <p:sp>
        <p:nvSpPr>
          <p:cNvPr id="237" name="Google Shape;237;p21"/>
          <p:cNvSpPr/>
          <p:nvPr/>
        </p:nvSpPr>
        <p:spPr>
          <a:xfrm>
            <a:off x="831850" y="1755343"/>
            <a:ext cx="2025600" cy="876300"/>
          </a:xfrm>
          <a:prstGeom prst="roundRect">
            <a:avLst>
              <a:gd fmla="val 8333" name="adj"/>
            </a:avLst>
          </a:prstGeom>
          <a:solidFill>
            <a:srgbClr val="FDFCF9"/>
          </a:solidFill>
          <a:ln cap="flat" cmpd="sng" w="9525">
            <a:solidFill>
              <a:srgbClr val="D9D4C9"/>
            </a:solidFill>
            <a:prstDash val="solid"/>
            <a:round/>
            <a:headEnd len="sm" w="sm" type="none"/>
            <a:tailEnd len="sm" w="sm" type="none"/>
          </a:ln>
        </p:spPr>
        <p:txBody>
          <a:bodyPr anchorCtr="0" anchor="t" bIns="133125" lIns="158525" spcFirstLastPara="1" rIns="107725" wrap="square" tIns="158525">
            <a:noAutofit/>
          </a:bodyPr>
          <a:lstStyle/>
          <a:p>
            <a:pPr indent="0" lvl="0" marL="0" marR="0" rtl="0" algn="l">
              <a:lnSpc>
                <a:spcPct val="130000"/>
              </a:lnSpc>
              <a:spcBef>
                <a:spcPts val="0"/>
              </a:spcBef>
              <a:spcAft>
                <a:spcPts val="0"/>
              </a:spcAft>
              <a:buClr>
                <a:srgbClr val="1C2230"/>
              </a:buClr>
              <a:buSzPts val="1500"/>
              <a:buFont typeface="IBM Plex Sans"/>
              <a:buNone/>
            </a:pPr>
            <a:r>
              <a:rPr b="1" i="0" lang="en-US" sz="1500" u="none" cap="none" strike="noStrike">
                <a:solidFill>
                  <a:srgbClr val="1C2230"/>
                </a:solidFill>
                <a:latin typeface="Comfortaa"/>
                <a:ea typeface="Comfortaa"/>
                <a:cs typeface="Comfortaa"/>
                <a:sym typeface="Comfortaa"/>
              </a:rPr>
              <a:t>PCIe device</a:t>
            </a:r>
            <a:endParaRPr i="0" sz="1500" u="none" cap="none" strike="noStrike">
              <a:solidFill>
                <a:schemeClr val="dk1"/>
              </a:solidFill>
              <a:latin typeface="Comfortaa"/>
              <a:ea typeface="Comfortaa"/>
              <a:cs typeface="Comfortaa"/>
              <a:sym typeface="Comfortaa"/>
            </a:endParaRPr>
          </a:p>
          <a:p>
            <a:pPr indent="0" lvl="0" marL="0" marR="0" rtl="0" algn="l">
              <a:lnSpc>
                <a:spcPct val="130000"/>
              </a:lnSpc>
              <a:spcBef>
                <a:spcPts val="0"/>
              </a:spcBef>
              <a:spcAft>
                <a:spcPts val="0"/>
              </a:spcAft>
              <a:buClr>
                <a:srgbClr val="1C2230"/>
              </a:buClr>
              <a:buSzPts val="1500"/>
              <a:buFont typeface="IBM Plex Sans"/>
              <a:buNone/>
            </a:pPr>
            <a:r>
              <a:rPr i="0" lang="en-US" sz="1500" u="none" cap="none" strike="noStrike">
                <a:solidFill>
                  <a:srgbClr val="1C2230"/>
                </a:solidFill>
                <a:latin typeface="Comfortaa"/>
                <a:ea typeface="Comfortaa"/>
                <a:cs typeface="Comfortaa"/>
                <a:sym typeface="Comfortaa"/>
              </a:rPr>
              <a:t>IOVA</a:t>
            </a:r>
            <a:endParaRPr i="0" sz="1500" u="none" cap="none" strike="noStrike">
              <a:solidFill>
                <a:schemeClr val="dk1"/>
              </a:solidFill>
              <a:latin typeface="Comfortaa"/>
              <a:ea typeface="Comfortaa"/>
              <a:cs typeface="Comfortaa"/>
              <a:sym typeface="Comfortaa"/>
            </a:endParaRPr>
          </a:p>
        </p:txBody>
      </p:sp>
      <p:pic>
        <p:nvPicPr>
          <p:cNvPr descr="arrow-right" id="238" name="Google Shape;238;p21"/>
          <p:cNvPicPr preferRelativeResize="0"/>
          <p:nvPr/>
        </p:nvPicPr>
        <p:blipFill rotWithShape="1">
          <a:blip r:embed="rId3">
            <a:alphaModFix/>
          </a:blip>
          <a:srcRect b="0" l="0" r="0" t="0"/>
          <a:stretch/>
        </p:blipFill>
        <p:spPr>
          <a:xfrm>
            <a:off x="3013075" y="2091893"/>
            <a:ext cx="355600" cy="203200"/>
          </a:xfrm>
          <a:prstGeom prst="rect">
            <a:avLst/>
          </a:prstGeom>
          <a:noFill/>
          <a:ln>
            <a:noFill/>
          </a:ln>
        </p:spPr>
      </p:pic>
      <p:sp>
        <p:nvSpPr>
          <p:cNvPr id="239" name="Google Shape;239;p21"/>
          <p:cNvSpPr/>
          <p:nvPr/>
        </p:nvSpPr>
        <p:spPr>
          <a:xfrm>
            <a:off x="3530600" y="1761693"/>
            <a:ext cx="5670600" cy="863700"/>
          </a:xfrm>
          <a:prstGeom prst="roundRect">
            <a:avLst>
              <a:gd fmla="val 7721" name="adj"/>
            </a:avLst>
          </a:prstGeom>
          <a:solidFill>
            <a:srgbClr val="FDFCF9"/>
          </a:solidFill>
          <a:ln cap="flat" cmpd="sng" w="19050">
            <a:solidFill>
              <a:srgbClr val="B24A17"/>
            </a:solidFill>
            <a:prstDash val="solid"/>
            <a:round/>
            <a:headEnd len="sm" w="sm" type="none"/>
            <a:tailEnd len="sm" w="sm" type="none"/>
          </a:ln>
        </p:spPr>
        <p:txBody>
          <a:bodyPr anchorCtr="0" anchor="t" bIns="139200" lIns="164600" spcFirstLastPara="1" rIns="5550" wrap="square" tIns="164600">
            <a:noAutofit/>
          </a:bodyPr>
          <a:lstStyle/>
          <a:p>
            <a:pPr indent="0" lvl="0" marL="0" marR="0" rtl="0" algn="l">
              <a:lnSpc>
                <a:spcPct val="130000"/>
              </a:lnSpc>
              <a:spcBef>
                <a:spcPts val="0"/>
              </a:spcBef>
              <a:spcAft>
                <a:spcPts val="0"/>
              </a:spcAft>
              <a:buClr>
                <a:srgbClr val="1C2230"/>
              </a:buClr>
              <a:buSzPts val="1500"/>
              <a:buFont typeface="IBM Plex Sans"/>
              <a:buNone/>
            </a:pPr>
            <a:r>
              <a:rPr b="1" i="0" lang="en-US" sz="1500" u="none" cap="none" strike="noStrike">
                <a:solidFill>
                  <a:srgbClr val="1C2230"/>
                </a:solidFill>
                <a:latin typeface="Comfortaa"/>
                <a:ea typeface="Comfortaa"/>
                <a:cs typeface="Comfortaa"/>
                <a:sym typeface="Comfortaa"/>
              </a:rPr>
              <a:t>IOMMU</a:t>
            </a:r>
            <a:endParaRPr i="0" sz="1500" u="none" cap="none" strike="noStrike">
              <a:solidFill>
                <a:schemeClr val="dk1"/>
              </a:solidFill>
              <a:latin typeface="Comfortaa"/>
              <a:ea typeface="Comfortaa"/>
              <a:cs typeface="Comfortaa"/>
              <a:sym typeface="Comfortaa"/>
            </a:endParaRPr>
          </a:p>
          <a:p>
            <a:pPr indent="0" lvl="0" marL="0" marR="0" rtl="0" algn="l">
              <a:lnSpc>
                <a:spcPct val="130000"/>
              </a:lnSpc>
              <a:spcBef>
                <a:spcPts val="0"/>
              </a:spcBef>
              <a:spcAft>
                <a:spcPts val="0"/>
              </a:spcAft>
              <a:buClr>
                <a:srgbClr val="1C2230"/>
              </a:buClr>
              <a:buSzPts val="1500"/>
              <a:buFont typeface="IBM Plex Sans"/>
              <a:buNone/>
            </a:pPr>
            <a:r>
              <a:rPr i="0" lang="en-US" sz="1500" u="none" cap="none" strike="noStrike">
                <a:solidFill>
                  <a:srgbClr val="1C2230"/>
                </a:solidFill>
                <a:latin typeface="Comfortaa"/>
                <a:ea typeface="Comfortaa"/>
                <a:cs typeface="Comfortaa"/>
                <a:sym typeface="Comfortaa"/>
              </a:rPr>
              <a:t>IOVA → PA, page tables per domain, IOTLB</a:t>
            </a:r>
            <a:endParaRPr i="0" sz="1500" u="none" cap="none" strike="noStrike">
              <a:solidFill>
                <a:schemeClr val="dk1"/>
              </a:solidFill>
              <a:latin typeface="Comfortaa"/>
              <a:ea typeface="Comfortaa"/>
              <a:cs typeface="Comfortaa"/>
              <a:sym typeface="Comfortaa"/>
            </a:endParaRPr>
          </a:p>
        </p:txBody>
      </p:sp>
      <p:pic>
        <p:nvPicPr>
          <p:cNvPr descr="arrow-right" id="240" name="Google Shape;240;p21"/>
          <p:cNvPicPr preferRelativeResize="0"/>
          <p:nvPr/>
        </p:nvPicPr>
        <p:blipFill rotWithShape="1">
          <a:blip r:embed="rId3">
            <a:alphaModFix/>
          </a:blip>
          <a:srcRect b="0" l="0" r="0" t="0"/>
          <a:stretch/>
        </p:blipFill>
        <p:spPr>
          <a:xfrm>
            <a:off x="9363075" y="2091893"/>
            <a:ext cx="355600" cy="203200"/>
          </a:xfrm>
          <a:prstGeom prst="rect">
            <a:avLst/>
          </a:prstGeom>
          <a:noFill/>
          <a:ln>
            <a:noFill/>
          </a:ln>
        </p:spPr>
      </p:pic>
      <p:sp>
        <p:nvSpPr>
          <p:cNvPr id="241" name="Google Shape;241;p21"/>
          <p:cNvSpPr/>
          <p:nvPr/>
        </p:nvSpPr>
        <p:spPr>
          <a:xfrm>
            <a:off x="9874250" y="1755343"/>
            <a:ext cx="1517700" cy="876300"/>
          </a:xfrm>
          <a:prstGeom prst="roundRect">
            <a:avLst>
              <a:gd fmla="val 8333" name="adj"/>
            </a:avLst>
          </a:prstGeom>
          <a:solidFill>
            <a:srgbClr val="FDFCF9"/>
          </a:solidFill>
          <a:ln cap="flat" cmpd="sng" w="9525">
            <a:solidFill>
              <a:srgbClr val="D9D4C9"/>
            </a:solidFill>
            <a:prstDash val="solid"/>
            <a:round/>
            <a:headEnd len="sm" w="sm" type="none"/>
            <a:tailEnd len="sm" w="sm" type="none"/>
          </a:ln>
        </p:spPr>
        <p:txBody>
          <a:bodyPr anchorCtr="0" anchor="t" bIns="133125" lIns="158525" spcFirstLastPara="1" rIns="107725" wrap="square" tIns="158525">
            <a:noAutofit/>
          </a:bodyPr>
          <a:lstStyle/>
          <a:p>
            <a:pPr indent="0" lvl="0" marL="0" marR="0" rtl="0" algn="l">
              <a:lnSpc>
                <a:spcPct val="130000"/>
              </a:lnSpc>
              <a:spcBef>
                <a:spcPts val="0"/>
              </a:spcBef>
              <a:spcAft>
                <a:spcPts val="0"/>
              </a:spcAft>
              <a:buClr>
                <a:srgbClr val="1C2230"/>
              </a:buClr>
              <a:buSzPts val="1500"/>
              <a:buFont typeface="IBM Plex Sans"/>
              <a:buNone/>
            </a:pPr>
            <a:r>
              <a:rPr b="1" i="0" lang="en-US" sz="1500" u="none" cap="none" strike="noStrike">
                <a:solidFill>
                  <a:srgbClr val="1C2230"/>
                </a:solidFill>
                <a:latin typeface="Comfortaa"/>
                <a:ea typeface="Comfortaa"/>
                <a:cs typeface="Comfortaa"/>
                <a:sym typeface="Comfortaa"/>
              </a:rPr>
              <a:t>RAM</a:t>
            </a:r>
            <a:endParaRPr i="0" sz="1500" u="none" cap="none" strike="noStrike">
              <a:solidFill>
                <a:schemeClr val="dk1"/>
              </a:solidFill>
              <a:latin typeface="Comfortaa"/>
              <a:ea typeface="Comfortaa"/>
              <a:cs typeface="Comfortaa"/>
              <a:sym typeface="Comfortaa"/>
            </a:endParaRPr>
          </a:p>
        </p:txBody>
      </p:sp>
      <p:sp>
        <p:nvSpPr>
          <p:cNvPr id="242" name="Google Shape;242;p21"/>
          <p:cNvSpPr/>
          <p:nvPr/>
        </p:nvSpPr>
        <p:spPr>
          <a:xfrm>
            <a:off x="812800" y="6396989"/>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673"/>
              </a:buClr>
              <a:buSzPts val="1200"/>
              <a:buFont typeface="IBM Plex Sans"/>
              <a:buNone/>
            </a:pPr>
            <a:r>
              <a:rPr i="0" lang="en-US" sz="1200" u="none" cap="none" strike="noStrike">
                <a:solidFill>
                  <a:srgbClr val="5F6673"/>
                </a:solidFill>
                <a:latin typeface="Comfortaa"/>
                <a:ea typeface="Comfortaa"/>
                <a:cs typeface="Comfortaa"/>
                <a:sym typeface="Comfortaa"/>
              </a:rPr>
              <a:t>A domain is one IOVA address space, shared by one or more devices</a:t>
            </a:r>
            <a:endParaRPr i="0" sz="1200" u="none" cap="none" strike="noStrike">
              <a:solidFill>
                <a:schemeClr val="dk1"/>
              </a:solidFill>
              <a:latin typeface="Comfortaa"/>
              <a:ea typeface="Comfortaa"/>
              <a:cs typeface="Comfortaa"/>
              <a:sym typeface="Comfortaa"/>
            </a:endParaRPr>
          </a:p>
        </p:txBody>
      </p:sp>
      <p:pic>
        <p:nvPicPr>
          <p:cNvPr id="243" name="Google Shape;243;p21"/>
          <p:cNvPicPr preferRelativeResize="0"/>
          <p:nvPr/>
        </p:nvPicPr>
        <p:blipFill>
          <a:blip r:embed="rId4">
            <a:alphaModFix/>
          </a:blip>
          <a:stretch>
            <a:fillRect/>
          </a:stretch>
        </p:blipFill>
        <p:spPr>
          <a:xfrm>
            <a:off x="2198775" y="2809875"/>
            <a:ext cx="7164301" cy="3408900"/>
          </a:xfrm>
          <a:prstGeom prst="rect">
            <a:avLst/>
          </a:prstGeom>
          <a:noFill/>
          <a:ln>
            <a:noFill/>
          </a:ln>
        </p:spPr>
      </p:pic>
      <p:sp>
        <p:nvSpPr>
          <p:cNvPr id="244" name="Google Shape;244;p21"/>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245" name="Google Shape;245;p21"/>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B24A17"/>
              </a:buClr>
              <a:buSzPts val="1200"/>
              <a:buFont typeface="IBM Plex Mono"/>
              <a:buNone/>
            </a:pPr>
            <a:r>
              <a:rPr lang="en-US" sz="1200">
                <a:solidFill>
                  <a:srgbClr val="B24A17"/>
                </a:solidFill>
                <a:latin typeface="Comfortaa"/>
                <a:ea typeface="Comfortaa"/>
                <a:cs typeface="Comfortaa"/>
                <a:sym typeface="Comfortaa"/>
              </a:rPr>
              <a:t>II</a:t>
            </a:r>
            <a:r>
              <a:rPr i="0" lang="en-US" sz="1200" u="none" cap="none" strike="noStrike">
                <a:solidFill>
                  <a:srgbClr val="B24A17"/>
                </a:solidFill>
                <a:latin typeface="Comfortaa"/>
                <a:ea typeface="Comfortaa"/>
                <a:cs typeface="Comfortaa"/>
                <a:sym typeface="Comfortaa"/>
              </a:rPr>
              <a:t> · IOMMU</a:t>
            </a:r>
            <a:endParaRPr i="0" sz="1200" u="none" cap="none" strike="noStrike">
              <a:solidFill>
                <a:schemeClr val="dk1"/>
              </a:solidFill>
              <a:latin typeface="Comfortaa"/>
              <a:ea typeface="Comfortaa"/>
              <a:cs typeface="Comfortaa"/>
              <a:sym typeface="Comforta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E"/>
        </a:solidFill>
      </p:bgPr>
    </p:bg>
    <p:spTree>
      <p:nvGrpSpPr>
        <p:cNvPr id="250" name="Shape 250"/>
        <p:cNvGrpSpPr/>
        <p:nvPr/>
      </p:nvGrpSpPr>
      <p:grpSpPr>
        <a:xfrm>
          <a:off x="0" y="0"/>
          <a:ext cx="0" cy="0"/>
          <a:chOff x="0" y="0"/>
          <a:chExt cx="0" cy="0"/>
        </a:xfrm>
      </p:grpSpPr>
      <p:sp>
        <p:nvSpPr>
          <p:cNvPr id="251" name="Google Shape;251;p22"/>
          <p:cNvSpPr txBox="1"/>
          <p:nvPr>
            <p:ph type="title"/>
          </p:nvPr>
        </p:nvSpPr>
        <p:spPr>
          <a:xfrm>
            <a:off x="812800" y="1102361"/>
            <a:ext cx="10883400" cy="4446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C2230"/>
              </a:buClr>
              <a:buSzPct val="100000"/>
              <a:buFont typeface="IBM Plex Sans"/>
              <a:buNone/>
            </a:pPr>
            <a:r>
              <a:rPr b="1" lang="en-US">
                <a:latin typeface="Comfortaa"/>
                <a:ea typeface="Comfortaa"/>
                <a:cs typeface="Comfortaa"/>
                <a:sym typeface="Comfortaa"/>
              </a:rPr>
              <a:t>IO Address translation</a:t>
            </a:r>
            <a:endParaRPr sz="3000">
              <a:latin typeface="Comfortaa"/>
              <a:ea typeface="Comfortaa"/>
              <a:cs typeface="Comfortaa"/>
              <a:sym typeface="Comfortaa"/>
            </a:endParaRPr>
          </a:p>
        </p:txBody>
      </p:sp>
      <p:sp>
        <p:nvSpPr>
          <p:cNvPr id="252" name="Google Shape;252;p22"/>
          <p:cNvSpPr/>
          <p:nvPr/>
        </p:nvSpPr>
        <p:spPr>
          <a:xfrm>
            <a:off x="812800" y="6238242"/>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673"/>
              </a:buClr>
              <a:buSzPts val="1200"/>
              <a:buFont typeface="IBM Plex Sans"/>
              <a:buNone/>
            </a:pPr>
            <a:r>
              <a:rPr i="0" lang="en-US" sz="1200" u="none" cap="none" strike="noStrike">
                <a:solidFill>
                  <a:srgbClr val="5F6673"/>
                </a:solidFill>
                <a:latin typeface="Comfortaa"/>
                <a:ea typeface="Comfortaa"/>
                <a:cs typeface="Comfortaa"/>
                <a:sym typeface="Comfortaa"/>
              </a:rPr>
              <a:t>Intel VT-d · Architecture Specification</a:t>
            </a:r>
            <a:endParaRPr i="0" sz="1200" u="none" cap="none" strike="noStrike">
              <a:solidFill>
                <a:schemeClr val="dk1"/>
              </a:solidFill>
              <a:latin typeface="Comfortaa"/>
              <a:ea typeface="Comfortaa"/>
              <a:cs typeface="Comfortaa"/>
              <a:sym typeface="Comfortaa"/>
            </a:endParaRPr>
          </a:p>
        </p:txBody>
      </p:sp>
      <p:pic>
        <p:nvPicPr>
          <p:cNvPr id="253" name="Google Shape;253;p22"/>
          <p:cNvPicPr preferRelativeResize="0"/>
          <p:nvPr/>
        </p:nvPicPr>
        <p:blipFill>
          <a:blip r:embed="rId3">
            <a:alphaModFix/>
          </a:blip>
          <a:stretch>
            <a:fillRect/>
          </a:stretch>
        </p:blipFill>
        <p:spPr>
          <a:xfrm>
            <a:off x="812800" y="1699361"/>
            <a:ext cx="6680560" cy="4386481"/>
          </a:xfrm>
          <a:prstGeom prst="rect">
            <a:avLst/>
          </a:prstGeom>
          <a:noFill/>
          <a:ln>
            <a:noFill/>
          </a:ln>
          <a:effectLst>
            <a:outerShdw blurRad="57150" rotWithShape="0" algn="bl" dir="5400000" dist="19050">
              <a:srgbClr val="000000">
                <a:alpha val="50000"/>
              </a:srgbClr>
            </a:outerShdw>
          </a:effectLst>
        </p:spPr>
      </p:pic>
      <p:sp>
        <p:nvSpPr>
          <p:cNvPr id="254" name="Google Shape;254;p22"/>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255" name="Google Shape;255;p22"/>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B24A17"/>
              </a:buClr>
              <a:buSzPts val="1200"/>
              <a:buFont typeface="IBM Plex Mono"/>
              <a:buNone/>
            </a:pPr>
            <a:r>
              <a:rPr lang="en-US" sz="1200">
                <a:solidFill>
                  <a:srgbClr val="B24A17"/>
                </a:solidFill>
                <a:latin typeface="Comfortaa"/>
                <a:ea typeface="Comfortaa"/>
                <a:cs typeface="Comfortaa"/>
                <a:sym typeface="Comfortaa"/>
              </a:rPr>
              <a:t>II</a:t>
            </a:r>
            <a:r>
              <a:rPr i="0" lang="en-US" sz="1200" u="none" cap="none" strike="noStrike">
                <a:solidFill>
                  <a:srgbClr val="B24A17"/>
                </a:solidFill>
                <a:latin typeface="Comfortaa"/>
                <a:ea typeface="Comfortaa"/>
                <a:cs typeface="Comfortaa"/>
                <a:sym typeface="Comfortaa"/>
              </a:rPr>
              <a:t> · IOMMU</a:t>
            </a:r>
            <a:endParaRPr i="0" sz="1200" u="none" cap="none" strike="noStrike">
              <a:solidFill>
                <a:schemeClr val="dk1"/>
              </a:solidFill>
              <a:latin typeface="Comfortaa"/>
              <a:ea typeface="Comfortaa"/>
              <a:cs typeface="Comfortaa"/>
              <a:sym typeface="Comforta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E"/>
        </a:solidFill>
      </p:bgPr>
    </p:bg>
    <p:spTree>
      <p:nvGrpSpPr>
        <p:cNvPr id="260" name="Shape 260"/>
        <p:cNvGrpSpPr/>
        <p:nvPr/>
      </p:nvGrpSpPr>
      <p:grpSpPr>
        <a:xfrm>
          <a:off x="0" y="0"/>
          <a:ext cx="0" cy="0"/>
          <a:chOff x="0" y="0"/>
          <a:chExt cx="0" cy="0"/>
        </a:xfrm>
      </p:grpSpPr>
      <p:sp>
        <p:nvSpPr>
          <p:cNvPr id="261" name="Google Shape;261;p23"/>
          <p:cNvSpPr txBox="1"/>
          <p:nvPr>
            <p:ph type="title"/>
          </p:nvPr>
        </p:nvSpPr>
        <p:spPr>
          <a:xfrm>
            <a:off x="812800" y="1102358"/>
            <a:ext cx="10883392" cy="4445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C2230"/>
              </a:buClr>
              <a:buSzPct val="100000"/>
              <a:buFont typeface="IBM Plex Sans"/>
              <a:buNone/>
            </a:pPr>
            <a:r>
              <a:rPr b="1" i="0" lang="en-US" sz="3000">
                <a:solidFill>
                  <a:srgbClr val="1C2230"/>
                </a:solidFill>
                <a:latin typeface="Comfortaa"/>
                <a:ea typeface="Comfortaa"/>
                <a:cs typeface="Comfortaa"/>
                <a:sym typeface="Comfortaa"/>
              </a:rPr>
              <a:t>Linux hides it behind the DMA API</a:t>
            </a:r>
            <a:endParaRPr sz="3000">
              <a:latin typeface="Comfortaa"/>
              <a:ea typeface="Comfortaa"/>
              <a:cs typeface="Comfortaa"/>
              <a:sym typeface="Comfortaa"/>
            </a:endParaRPr>
          </a:p>
        </p:txBody>
      </p:sp>
      <p:sp>
        <p:nvSpPr>
          <p:cNvPr id="262" name="Google Shape;262;p23"/>
          <p:cNvSpPr/>
          <p:nvPr/>
        </p:nvSpPr>
        <p:spPr>
          <a:xfrm>
            <a:off x="812800" y="1877058"/>
            <a:ext cx="5943600" cy="1503680"/>
          </a:xfrm>
          <a:prstGeom prst="roundRect">
            <a:avLst>
              <a:gd fmla="val 5068" name="adj"/>
            </a:avLst>
          </a:prstGeom>
          <a:solidFill>
            <a:srgbClr val="1A2130"/>
          </a:solidFill>
          <a:ln>
            <a:noFill/>
          </a:ln>
        </p:spPr>
        <p:txBody>
          <a:bodyPr anchorCtr="0" anchor="t" bIns="155475" lIns="180875" spcFirstLastPara="1" rIns="14750" wrap="square" tIns="180875">
            <a:noAutofit/>
          </a:bodyPr>
          <a:lstStyle/>
          <a:p>
            <a:pPr indent="0" lvl="0" marL="0" marR="0" rtl="0" algn="l">
              <a:lnSpc>
                <a:spcPct val="160000"/>
              </a:lnSpc>
              <a:spcBef>
                <a:spcPts val="0"/>
              </a:spcBef>
              <a:spcAft>
                <a:spcPts val="0"/>
              </a:spcAft>
              <a:buClr>
                <a:srgbClr val="F2EFE8"/>
              </a:buClr>
              <a:buSzPts val="1350"/>
              <a:buFont typeface="IBM Plex Mono"/>
              <a:buNone/>
            </a:pPr>
            <a:r>
              <a:rPr i="0" lang="en-US" sz="1350" u="none" cap="none" strike="noStrike">
                <a:solidFill>
                  <a:srgbClr val="F2EFE8"/>
                </a:solidFill>
                <a:latin typeface="Comfortaa"/>
                <a:ea typeface="Comfortaa"/>
                <a:cs typeface="Comfortaa"/>
                <a:sym typeface="Comfortaa"/>
              </a:rPr>
              <a:t>a = dma_map_single(dev, buf, len, dir);</a:t>
            </a:r>
            <a:endParaRPr i="0" sz="1350" u="none" cap="none" strike="noStrike">
              <a:solidFill>
                <a:schemeClr val="dk1"/>
              </a:solidFill>
              <a:latin typeface="Comfortaa"/>
              <a:ea typeface="Comfortaa"/>
              <a:cs typeface="Comfortaa"/>
              <a:sym typeface="Comfortaa"/>
            </a:endParaRPr>
          </a:p>
          <a:p>
            <a:pPr indent="0" lvl="0" marL="0" marR="0" rtl="0" algn="l">
              <a:lnSpc>
                <a:spcPct val="160000"/>
              </a:lnSpc>
              <a:spcBef>
                <a:spcPts val="0"/>
              </a:spcBef>
              <a:spcAft>
                <a:spcPts val="0"/>
              </a:spcAft>
              <a:buClr>
                <a:srgbClr val="F2EFE8"/>
              </a:buClr>
              <a:buSzPts val="1350"/>
              <a:buFont typeface="IBM Plex Mono"/>
              <a:buNone/>
            </a:pPr>
            <a:r>
              <a:rPr i="0" lang="en-US" sz="1350" u="none" cap="none" strike="noStrike">
                <a:solidFill>
                  <a:srgbClr val="F2EFE8"/>
                </a:solidFill>
                <a:latin typeface="Comfortaa"/>
                <a:ea typeface="Comfortaa"/>
                <a:cs typeface="Comfortaa"/>
                <a:sym typeface="Comfortaa"/>
              </a:rPr>
              <a:t>/* a is an IOVA: write it</a:t>
            </a:r>
            <a:endParaRPr i="0" sz="1350" u="none" cap="none" strike="noStrike">
              <a:solidFill>
                <a:schemeClr val="dk1"/>
              </a:solidFill>
              <a:latin typeface="Comfortaa"/>
              <a:ea typeface="Comfortaa"/>
              <a:cs typeface="Comfortaa"/>
              <a:sym typeface="Comfortaa"/>
            </a:endParaRPr>
          </a:p>
          <a:p>
            <a:pPr indent="0" lvl="0" marL="0" marR="0" rtl="0" algn="l">
              <a:lnSpc>
                <a:spcPct val="160000"/>
              </a:lnSpc>
              <a:spcBef>
                <a:spcPts val="0"/>
              </a:spcBef>
              <a:spcAft>
                <a:spcPts val="0"/>
              </a:spcAft>
              <a:buClr>
                <a:srgbClr val="F2EFE8"/>
              </a:buClr>
              <a:buSzPts val="1350"/>
              <a:buFont typeface="IBM Plex Mono"/>
              <a:buNone/>
            </a:pPr>
            <a:r>
              <a:rPr i="0" lang="en-US" sz="1350" u="none" cap="none" strike="noStrike">
                <a:solidFill>
                  <a:srgbClr val="F2EFE8"/>
                </a:solidFill>
                <a:latin typeface="Comfortaa"/>
                <a:ea typeface="Comfortaa"/>
                <a:cs typeface="Comfortaa"/>
                <a:sym typeface="Comfortaa"/>
              </a:rPr>
              <a:t>   into the descriptor */</a:t>
            </a:r>
            <a:endParaRPr i="0" sz="1350" u="none" cap="none" strike="noStrike">
              <a:solidFill>
                <a:schemeClr val="dk1"/>
              </a:solidFill>
              <a:latin typeface="Comfortaa"/>
              <a:ea typeface="Comfortaa"/>
              <a:cs typeface="Comfortaa"/>
              <a:sym typeface="Comfortaa"/>
            </a:endParaRPr>
          </a:p>
          <a:p>
            <a:pPr indent="0" lvl="0" marL="0" marR="0" rtl="0" algn="l">
              <a:lnSpc>
                <a:spcPct val="160000"/>
              </a:lnSpc>
              <a:spcBef>
                <a:spcPts val="0"/>
              </a:spcBef>
              <a:spcAft>
                <a:spcPts val="0"/>
              </a:spcAft>
              <a:buClr>
                <a:srgbClr val="F2EFE8"/>
              </a:buClr>
              <a:buSzPts val="1350"/>
              <a:buFont typeface="IBM Plex Mono"/>
              <a:buNone/>
            </a:pPr>
            <a:r>
              <a:rPr i="0" lang="en-US" sz="1350" u="none" cap="none" strike="noStrike">
                <a:solidFill>
                  <a:srgbClr val="F2EFE8"/>
                </a:solidFill>
                <a:latin typeface="Comfortaa"/>
                <a:ea typeface="Comfortaa"/>
                <a:cs typeface="Comfortaa"/>
                <a:sym typeface="Comfortaa"/>
              </a:rPr>
              <a:t>dma_unmap_single(dev, a, len, dir);</a:t>
            </a:r>
            <a:endParaRPr i="0" sz="1350" u="none" cap="none" strike="noStrike">
              <a:solidFill>
                <a:schemeClr val="dk1"/>
              </a:solidFill>
              <a:latin typeface="Comfortaa"/>
              <a:ea typeface="Comfortaa"/>
              <a:cs typeface="Comfortaa"/>
              <a:sym typeface="Comfortaa"/>
            </a:endParaRPr>
          </a:p>
        </p:txBody>
      </p:sp>
      <p:sp>
        <p:nvSpPr>
          <p:cNvPr id="263" name="Google Shape;263;p23"/>
          <p:cNvSpPr/>
          <p:nvPr/>
        </p:nvSpPr>
        <p:spPr>
          <a:xfrm>
            <a:off x="812800" y="3533142"/>
            <a:ext cx="6121908" cy="28321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1C2230"/>
              </a:buClr>
              <a:buSzPts val="1400"/>
              <a:buFont typeface="IBM Plex Sans"/>
              <a:buNone/>
            </a:pPr>
            <a:r>
              <a:rPr i="0" lang="en-US" sz="1400" u="none" cap="none" strike="noStrike">
                <a:solidFill>
                  <a:srgbClr val="1C2230"/>
                </a:solidFill>
                <a:latin typeface="Comfortaa"/>
                <a:ea typeface="Comfortaa"/>
                <a:cs typeface="Comfortaa"/>
                <a:sym typeface="Comfortaa"/>
              </a:rPr>
              <a:t>The driver never knows whether an IOMMU is there.</a:t>
            </a:r>
            <a:endParaRPr i="0" sz="1400" u="none" cap="none" strike="noStrike">
              <a:solidFill>
                <a:schemeClr val="dk1"/>
              </a:solidFill>
              <a:latin typeface="Comfortaa"/>
              <a:ea typeface="Comfortaa"/>
              <a:cs typeface="Comfortaa"/>
              <a:sym typeface="Comfortaa"/>
            </a:endParaRPr>
          </a:p>
        </p:txBody>
      </p:sp>
      <p:sp>
        <p:nvSpPr>
          <p:cNvPr id="264" name="Google Shape;264;p23"/>
          <p:cNvSpPr/>
          <p:nvPr/>
        </p:nvSpPr>
        <p:spPr>
          <a:xfrm>
            <a:off x="7061200" y="1877058"/>
            <a:ext cx="4447540" cy="2692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C2230"/>
              </a:buClr>
              <a:buSzPts val="1600"/>
              <a:buFont typeface="IBM Plex Sans"/>
              <a:buNone/>
            </a:pPr>
            <a:r>
              <a:rPr b="1" i="0" lang="en-US" sz="1600" u="none" cap="none" strike="noStrike">
                <a:solidFill>
                  <a:srgbClr val="1C2230"/>
                </a:solidFill>
                <a:latin typeface="Comfortaa"/>
                <a:ea typeface="Comfortaa"/>
                <a:cs typeface="Comfortaa"/>
                <a:sym typeface="Comfortaa"/>
              </a:rPr>
              <a:t>Default domain types</a:t>
            </a:r>
            <a:endParaRPr i="0" sz="1600" u="none" cap="none" strike="noStrike">
              <a:solidFill>
                <a:schemeClr val="dk1"/>
              </a:solidFill>
              <a:latin typeface="Comfortaa"/>
              <a:ea typeface="Comfortaa"/>
              <a:cs typeface="Comfortaa"/>
              <a:sym typeface="Comfortaa"/>
            </a:endParaRPr>
          </a:p>
        </p:txBody>
      </p:sp>
      <p:graphicFrame>
        <p:nvGraphicFramePr>
          <p:cNvPr id="265" name="Google Shape;265;p23"/>
          <p:cNvGraphicFramePr/>
          <p:nvPr/>
        </p:nvGraphicFramePr>
        <p:xfrm>
          <a:off x="7071783" y="2258483"/>
          <a:ext cx="3000000" cy="3000000"/>
        </p:xfrm>
        <a:graphic>
          <a:graphicData uri="http://schemas.openxmlformats.org/drawingml/2006/table">
            <a:tbl>
              <a:tblPr>
                <a:noFill/>
                <a:tableStyleId>{2C9794BF-300B-47EC-A758-20547E4869C1}</a:tableStyleId>
              </a:tblPr>
              <a:tblGrid>
                <a:gridCol w="1464525"/>
                <a:gridCol w="2842900"/>
              </a:tblGrid>
              <a:tr h="357300">
                <a:tc>
                  <a:txBody>
                    <a:bodyPr/>
                    <a:lstStyle/>
                    <a:p>
                      <a:pPr indent="0" lvl="0" marL="0" marR="0" rtl="0" algn="l">
                        <a:lnSpc>
                          <a:spcPct val="140000"/>
                        </a:lnSpc>
                        <a:spcBef>
                          <a:spcPts val="0"/>
                        </a:spcBef>
                        <a:spcAft>
                          <a:spcPts val="0"/>
                        </a:spcAft>
                        <a:buClr>
                          <a:srgbClr val="1C2230"/>
                        </a:buClr>
                        <a:buSzPts val="1300"/>
                        <a:buFont typeface="IBM Plex Sans"/>
                        <a:buNone/>
                      </a:pPr>
                      <a:r>
                        <a:rPr b="1" lang="en-US" sz="1300" u="none" cap="none" strike="noStrike">
                          <a:solidFill>
                            <a:srgbClr val="1C2230"/>
                          </a:solidFill>
                          <a:latin typeface="Comfortaa"/>
                          <a:ea typeface="Comfortaa"/>
                          <a:cs typeface="Comfortaa"/>
                          <a:sym typeface="Comfortaa"/>
                        </a:rPr>
                        <a:t>Type</a:t>
                      </a:r>
                      <a:endParaRPr sz="1300" u="none" cap="none" strike="noStrike">
                        <a:latin typeface="Comfortaa"/>
                        <a:ea typeface="Comfortaa"/>
                        <a:cs typeface="Comfortaa"/>
                        <a:sym typeface="Comfortaa"/>
                      </a:endParaRPr>
                    </a:p>
                  </a:txBody>
                  <a:tcPr marT="57775" marB="57775" marR="57775" marL="57775">
                    <a:lnL cap="flat" cmpd="sng" w="12700">
                      <a:solidFill>
                        <a:srgbClr val="C4C2BE"/>
                      </a:solidFill>
                      <a:prstDash val="solid"/>
                      <a:round/>
                      <a:headEnd len="sm" w="sm" type="none"/>
                      <a:tailEnd len="sm" w="sm" type="none"/>
                    </a:lnL>
                    <a:lnR cap="flat" cmpd="sng" w="12700">
                      <a:solidFill>
                        <a:srgbClr val="B5B4B0"/>
                      </a:solidFill>
                      <a:prstDash val="solid"/>
                      <a:round/>
                      <a:headEnd len="sm" w="sm" type="none"/>
                      <a:tailEnd len="sm" w="sm" type="none"/>
                    </a:lnR>
                    <a:lnT cap="flat" cmpd="sng" w="12700">
                      <a:solidFill>
                        <a:srgbClr val="C4C2BE"/>
                      </a:solidFill>
                      <a:prstDash val="solid"/>
                      <a:round/>
                      <a:headEnd len="sm" w="sm" type="none"/>
                      <a:tailEnd len="sm" w="sm" type="none"/>
                    </a:lnT>
                    <a:lnB cap="flat" cmpd="sng" w="12700">
                      <a:solidFill>
                        <a:srgbClr val="B5B4B0"/>
                      </a:solidFill>
                      <a:prstDash val="solid"/>
                      <a:round/>
                      <a:headEnd len="sm" w="sm" type="none"/>
                      <a:tailEnd len="sm" w="sm" type="none"/>
                    </a:lnB>
                    <a:solidFill>
                      <a:srgbClr val="E3E1DC"/>
                    </a:solidFill>
                  </a:tcPr>
                </a:tc>
                <a:tc>
                  <a:txBody>
                    <a:bodyPr/>
                    <a:lstStyle/>
                    <a:p>
                      <a:pPr indent="0" lvl="0" marL="0" marR="0" rtl="0" algn="l">
                        <a:lnSpc>
                          <a:spcPct val="140000"/>
                        </a:lnSpc>
                        <a:spcBef>
                          <a:spcPts val="0"/>
                        </a:spcBef>
                        <a:spcAft>
                          <a:spcPts val="0"/>
                        </a:spcAft>
                        <a:buClr>
                          <a:srgbClr val="1C2230"/>
                        </a:buClr>
                        <a:buSzPts val="1300"/>
                        <a:buFont typeface="IBM Plex Sans"/>
                        <a:buNone/>
                      </a:pPr>
                      <a:r>
                        <a:rPr b="1" lang="en-US" sz="1300" u="none" cap="none" strike="noStrike">
                          <a:solidFill>
                            <a:srgbClr val="1C2230"/>
                          </a:solidFill>
                          <a:latin typeface="Comfortaa"/>
                          <a:ea typeface="Comfortaa"/>
                          <a:cs typeface="Comfortaa"/>
                          <a:sym typeface="Comfortaa"/>
                        </a:rPr>
                        <a:t>Behaviour</a:t>
                      </a:r>
                      <a:endParaRPr sz="1300" u="none" cap="none" strike="noStrike">
                        <a:latin typeface="Comfortaa"/>
                        <a:ea typeface="Comfortaa"/>
                        <a:cs typeface="Comfortaa"/>
                        <a:sym typeface="Comfortaa"/>
                      </a:endParaRPr>
                    </a:p>
                  </a:txBody>
                  <a:tcPr marT="57775" marB="57775" marR="57775" marL="57775">
                    <a:lnL cap="flat" cmpd="sng" w="12700">
                      <a:solidFill>
                        <a:srgbClr val="B5B4B0"/>
                      </a:solidFill>
                      <a:prstDash val="solid"/>
                      <a:round/>
                      <a:headEnd len="sm" w="sm" type="none"/>
                      <a:tailEnd len="sm" w="sm" type="none"/>
                    </a:lnL>
                    <a:lnR cap="flat" cmpd="sng" w="12700">
                      <a:solidFill>
                        <a:srgbClr val="B5B4B0"/>
                      </a:solidFill>
                      <a:prstDash val="solid"/>
                      <a:round/>
                      <a:headEnd len="sm" w="sm" type="none"/>
                      <a:tailEnd len="sm" w="sm" type="none"/>
                    </a:lnR>
                    <a:lnT cap="flat" cmpd="sng" w="12700">
                      <a:solidFill>
                        <a:srgbClr val="C4C2BE"/>
                      </a:solidFill>
                      <a:prstDash val="solid"/>
                      <a:round/>
                      <a:headEnd len="sm" w="sm" type="none"/>
                      <a:tailEnd len="sm" w="sm" type="none"/>
                    </a:lnT>
                    <a:lnB cap="flat" cmpd="sng" w="12700">
                      <a:solidFill>
                        <a:srgbClr val="B5B4B0"/>
                      </a:solidFill>
                      <a:prstDash val="solid"/>
                      <a:round/>
                      <a:headEnd len="sm" w="sm" type="none"/>
                      <a:tailEnd len="sm" w="sm" type="none"/>
                    </a:lnB>
                    <a:solidFill>
                      <a:srgbClr val="E3E1DC"/>
                    </a:solidFill>
                  </a:tcPr>
                </a:tc>
              </a:tr>
              <a:tr h="357300">
                <a:tc>
                  <a:txBody>
                    <a:bodyPr/>
                    <a:lstStyle/>
                    <a:p>
                      <a:pPr indent="0" lvl="0" marL="0" marR="0" rtl="0" algn="l">
                        <a:lnSpc>
                          <a:spcPct val="140000"/>
                        </a:lnSpc>
                        <a:spcBef>
                          <a:spcPts val="0"/>
                        </a:spcBef>
                        <a:spcAft>
                          <a:spcPts val="0"/>
                        </a:spcAft>
                        <a:buClr>
                          <a:srgbClr val="1C2230"/>
                        </a:buClr>
                        <a:buSzPts val="1300"/>
                        <a:buFont typeface="IBM Plex Sans"/>
                        <a:buNone/>
                      </a:pPr>
                      <a:r>
                        <a:rPr lang="en-US" sz="1300" u="none" cap="none" strike="noStrike">
                          <a:solidFill>
                            <a:srgbClr val="1C2230"/>
                          </a:solidFill>
                          <a:latin typeface="Comfortaa"/>
                          <a:ea typeface="Comfortaa"/>
                          <a:cs typeface="Comfortaa"/>
                          <a:sym typeface="Comfortaa"/>
                        </a:rPr>
                        <a:t>identity</a:t>
                      </a:r>
                      <a:endParaRPr sz="1300" u="none" cap="none" strike="noStrike">
                        <a:latin typeface="Comfortaa"/>
                        <a:ea typeface="Comfortaa"/>
                        <a:cs typeface="Comfortaa"/>
                        <a:sym typeface="Comfortaa"/>
                      </a:endParaRPr>
                    </a:p>
                  </a:txBody>
                  <a:tcPr marT="57775" marB="57775" marR="57775" marL="57775">
                    <a:lnL cap="flat" cmpd="sng" w="12700">
                      <a:solidFill>
                        <a:srgbClr val="C4C2BE"/>
                      </a:solidFill>
                      <a:prstDash val="solid"/>
                      <a:round/>
                      <a:headEnd len="sm" w="sm" type="none"/>
                      <a:tailEnd len="sm" w="sm" type="none"/>
                    </a:lnL>
                    <a:lnR cap="flat" cmpd="sng" w="12700">
                      <a:solidFill>
                        <a:srgbClr val="C4C2BE"/>
                      </a:solidFill>
                      <a:prstDash val="solid"/>
                      <a:round/>
                      <a:headEnd len="sm" w="sm" type="none"/>
                      <a:tailEnd len="sm" w="sm" type="none"/>
                    </a:lnR>
                    <a:lnT cap="flat" cmpd="sng" w="12700">
                      <a:solidFill>
                        <a:srgbClr val="B5B4B0"/>
                      </a:solidFill>
                      <a:prstDash val="solid"/>
                      <a:round/>
                      <a:headEnd len="sm" w="sm" type="none"/>
                      <a:tailEnd len="sm" w="sm" type="none"/>
                    </a:lnT>
                    <a:lnB cap="flat" cmpd="sng" w="12700">
                      <a:solidFill>
                        <a:srgbClr val="C4C2BE"/>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C2230"/>
                        </a:buClr>
                        <a:buSzPts val="1300"/>
                        <a:buFont typeface="IBM Plex Sans"/>
                        <a:buNone/>
                      </a:pPr>
                      <a:r>
                        <a:rPr lang="en-US" sz="1300" u="none" cap="none" strike="noStrike">
                          <a:solidFill>
                            <a:srgbClr val="1C2230"/>
                          </a:solidFill>
                          <a:latin typeface="Comfortaa"/>
                          <a:ea typeface="Comfortaa"/>
                          <a:cs typeface="Comfortaa"/>
                          <a:sym typeface="Comfortaa"/>
                        </a:rPr>
                        <a:t>IOVA = PA, no protection</a:t>
                      </a:r>
                      <a:endParaRPr sz="1300" u="none" cap="none" strike="noStrike">
                        <a:latin typeface="Comfortaa"/>
                        <a:ea typeface="Comfortaa"/>
                        <a:cs typeface="Comfortaa"/>
                        <a:sym typeface="Comfortaa"/>
                      </a:endParaRPr>
                    </a:p>
                  </a:txBody>
                  <a:tcPr marT="57775" marB="57775" marR="57775" marL="57775">
                    <a:lnL cap="flat" cmpd="sng" w="12700">
                      <a:solidFill>
                        <a:srgbClr val="C4C2BE"/>
                      </a:solidFill>
                      <a:prstDash val="solid"/>
                      <a:round/>
                      <a:headEnd len="sm" w="sm" type="none"/>
                      <a:tailEnd len="sm" w="sm" type="none"/>
                    </a:lnL>
                    <a:lnR cap="flat" cmpd="sng" w="12700">
                      <a:solidFill>
                        <a:srgbClr val="C4C2BE"/>
                      </a:solidFill>
                      <a:prstDash val="solid"/>
                      <a:round/>
                      <a:headEnd len="sm" w="sm" type="none"/>
                      <a:tailEnd len="sm" w="sm" type="none"/>
                    </a:lnR>
                    <a:lnT cap="flat" cmpd="sng" w="12700">
                      <a:solidFill>
                        <a:srgbClr val="B5B4B0"/>
                      </a:solidFill>
                      <a:prstDash val="solid"/>
                      <a:round/>
                      <a:headEnd len="sm" w="sm" type="none"/>
                      <a:tailEnd len="sm" w="sm" type="none"/>
                    </a:lnT>
                    <a:lnB cap="flat" cmpd="sng" w="12700">
                      <a:solidFill>
                        <a:srgbClr val="C4C2BE"/>
                      </a:solidFill>
                      <a:prstDash val="solid"/>
                      <a:round/>
                      <a:headEnd len="sm" w="sm" type="none"/>
                      <a:tailEnd len="sm" w="sm" type="none"/>
                    </a:lnB>
                  </a:tcPr>
                </a:tc>
              </a:tr>
              <a:tr h="357300">
                <a:tc>
                  <a:txBody>
                    <a:bodyPr/>
                    <a:lstStyle/>
                    <a:p>
                      <a:pPr indent="0" lvl="0" marL="0" marR="0" rtl="0" algn="l">
                        <a:lnSpc>
                          <a:spcPct val="140000"/>
                        </a:lnSpc>
                        <a:spcBef>
                          <a:spcPts val="0"/>
                        </a:spcBef>
                        <a:spcAft>
                          <a:spcPts val="0"/>
                        </a:spcAft>
                        <a:buClr>
                          <a:srgbClr val="1C2230"/>
                        </a:buClr>
                        <a:buSzPts val="1300"/>
                        <a:buFont typeface="IBM Plex Sans"/>
                        <a:buNone/>
                      </a:pPr>
                      <a:r>
                        <a:rPr lang="en-US" sz="1300" u="none" cap="none" strike="noStrike">
                          <a:solidFill>
                            <a:srgbClr val="1C2230"/>
                          </a:solidFill>
                          <a:latin typeface="Comfortaa"/>
                          <a:ea typeface="Comfortaa"/>
                          <a:cs typeface="Comfortaa"/>
                          <a:sym typeface="Comfortaa"/>
                        </a:rPr>
                        <a:t>DMA</a:t>
                      </a:r>
                      <a:endParaRPr sz="1300" u="none" cap="none" strike="noStrike">
                        <a:latin typeface="Comfortaa"/>
                        <a:ea typeface="Comfortaa"/>
                        <a:cs typeface="Comfortaa"/>
                        <a:sym typeface="Comfortaa"/>
                      </a:endParaRPr>
                    </a:p>
                  </a:txBody>
                  <a:tcPr marT="57775" marB="57775" marR="57775" marL="57775">
                    <a:lnL cap="flat" cmpd="sng" w="12700">
                      <a:solidFill>
                        <a:srgbClr val="C4C2BE"/>
                      </a:solidFill>
                      <a:prstDash val="solid"/>
                      <a:round/>
                      <a:headEnd len="sm" w="sm" type="none"/>
                      <a:tailEnd len="sm" w="sm" type="none"/>
                    </a:lnL>
                    <a:lnR cap="flat" cmpd="sng" w="12700">
                      <a:solidFill>
                        <a:srgbClr val="C4C2BE"/>
                      </a:solidFill>
                      <a:prstDash val="solid"/>
                      <a:round/>
                      <a:headEnd len="sm" w="sm" type="none"/>
                      <a:tailEnd len="sm" w="sm" type="none"/>
                    </a:lnR>
                    <a:lnT cap="flat" cmpd="sng" w="12700">
                      <a:solidFill>
                        <a:srgbClr val="C4C2BE"/>
                      </a:solidFill>
                      <a:prstDash val="solid"/>
                      <a:round/>
                      <a:headEnd len="sm" w="sm" type="none"/>
                      <a:tailEnd len="sm" w="sm" type="none"/>
                    </a:lnT>
                    <a:lnB cap="flat" cmpd="sng" w="12700">
                      <a:solidFill>
                        <a:srgbClr val="C4C2BE"/>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C2230"/>
                        </a:buClr>
                        <a:buSzPts val="1300"/>
                        <a:buFont typeface="IBM Plex Sans"/>
                        <a:buNone/>
                      </a:pPr>
                      <a:r>
                        <a:rPr lang="en-US" sz="1300" u="none" cap="none" strike="noStrike">
                          <a:solidFill>
                            <a:srgbClr val="1C2230"/>
                          </a:solidFill>
                          <a:latin typeface="Comfortaa"/>
                          <a:ea typeface="Comfortaa"/>
                          <a:cs typeface="Comfortaa"/>
                          <a:sym typeface="Comfortaa"/>
                        </a:rPr>
                        <a:t>Translation, strict invalidation</a:t>
                      </a:r>
                      <a:endParaRPr sz="1300" u="none" cap="none" strike="noStrike">
                        <a:latin typeface="Comfortaa"/>
                        <a:ea typeface="Comfortaa"/>
                        <a:cs typeface="Comfortaa"/>
                        <a:sym typeface="Comfortaa"/>
                      </a:endParaRPr>
                    </a:p>
                  </a:txBody>
                  <a:tcPr marT="57775" marB="57775" marR="57775" marL="57775">
                    <a:lnL cap="flat" cmpd="sng" w="12700">
                      <a:solidFill>
                        <a:srgbClr val="C4C2BE"/>
                      </a:solidFill>
                      <a:prstDash val="solid"/>
                      <a:round/>
                      <a:headEnd len="sm" w="sm" type="none"/>
                      <a:tailEnd len="sm" w="sm" type="none"/>
                    </a:lnL>
                    <a:lnR cap="flat" cmpd="sng" w="12700">
                      <a:solidFill>
                        <a:srgbClr val="C4C2BE"/>
                      </a:solidFill>
                      <a:prstDash val="solid"/>
                      <a:round/>
                      <a:headEnd len="sm" w="sm" type="none"/>
                      <a:tailEnd len="sm" w="sm" type="none"/>
                    </a:lnR>
                    <a:lnT cap="flat" cmpd="sng" w="12700">
                      <a:solidFill>
                        <a:srgbClr val="C4C2BE"/>
                      </a:solidFill>
                      <a:prstDash val="solid"/>
                      <a:round/>
                      <a:headEnd len="sm" w="sm" type="none"/>
                      <a:tailEnd len="sm" w="sm" type="none"/>
                    </a:lnT>
                    <a:lnB cap="flat" cmpd="sng" w="12700">
                      <a:solidFill>
                        <a:srgbClr val="C4C2BE"/>
                      </a:solidFill>
                      <a:prstDash val="solid"/>
                      <a:round/>
                      <a:headEnd len="sm" w="sm" type="none"/>
                      <a:tailEnd len="sm" w="sm" type="none"/>
                    </a:lnB>
                  </a:tcPr>
                </a:tc>
              </a:tr>
              <a:tr h="357300">
                <a:tc>
                  <a:txBody>
                    <a:bodyPr/>
                    <a:lstStyle/>
                    <a:p>
                      <a:pPr indent="0" lvl="0" marL="0" marR="0" rtl="0" algn="l">
                        <a:lnSpc>
                          <a:spcPct val="140000"/>
                        </a:lnSpc>
                        <a:spcBef>
                          <a:spcPts val="0"/>
                        </a:spcBef>
                        <a:spcAft>
                          <a:spcPts val="0"/>
                        </a:spcAft>
                        <a:buClr>
                          <a:srgbClr val="1C2230"/>
                        </a:buClr>
                        <a:buSzPts val="1300"/>
                        <a:buFont typeface="IBM Plex Sans"/>
                        <a:buNone/>
                      </a:pPr>
                      <a:r>
                        <a:rPr lang="en-US" sz="1300" u="none" cap="none" strike="noStrike">
                          <a:solidFill>
                            <a:srgbClr val="1C2230"/>
                          </a:solidFill>
                          <a:latin typeface="Comfortaa"/>
                          <a:ea typeface="Comfortaa"/>
                          <a:cs typeface="Comfortaa"/>
                          <a:sym typeface="Comfortaa"/>
                        </a:rPr>
                        <a:t>DMA-FQ</a:t>
                      </a:r>
                      <a:endParaRPr sz="1300" u="none" cap="none" strike="noStrike">
                        <a:latin typeface="Comfortaa"/>
                        <a:ea typeface="Comfortaa"/>
                        <a:cs typeface="Comfortaa"/>
                        <a:sym typeface="Comfortaa"/>
                      </a:endParaRPr>
                    </a:p>
                  </a:txBody>
                  <a:tcPr marT="57775" marB="57775" marR="57775" marL="57775">
                    <a:lnL cap="flat" cmpd="sng" w="12700">
                      <a:solidFill>
                        <a:srgbClr val="C4C2BE"/>
                      </a:solidFill>
                      <a:prstDash val="solid"/>
                      <a:round/>
                      <a:headEnd len="sm" w="sm" type="none"/>
                      <a:tailEnd len="sm" w="sm" type="none"/>
                    </a:lnL>
                    <a:lnR cap="flat" cmpd="sng" w="12700">
                      <a:solidFill>
                        <a:srgbClr val="C4C2BE"/>
                      </a:solidFill>
                      <a:prstDash val="solid"/>
                      <a:round/>
                      <a:headEnd len="sm" w="sm" type="none"/>
                      <a:tailEnd len="sm" w="sm" type="none"/>
                    </a:lnR>
                    <a:lnT cap="flat" cmpd="sng" w="12700">
                      <a:solidFill>
                        <a:srgbClr val="C4C2BE"/>
                      </a:solidFill>
                      <a:prstDash val="solid"/>
                      <a:round/>
                      <a:headEnd len="sm" w="sm" type="none"/>
                      <a:tailEnd len="sm" w="sm" type="none"/>
                    </a:lnT>
                    <a:lnB cap="flat" cmpd="sng" w="12700">
                      <a:solidFill>
                        <a:srgbClr val="C4C2BE"/>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C2230"/>
                        </a:buClr>
                        <a:buSzPts val="1300"/>
                        <a:buFont typeface="IBM Plex Sans"/>
                        <a:buNone/>
                      </a:pPr>
                      <a:r>
                        <a:rPr lang="en-US" sz="1300" u="none" cap="none" strike="noStrike">
                          <a:solidFill>
                            <a:srgbClr val="1C2230"/>
                          </a:solidFill>
                          <a:latin typeface="Comfortaa"/>
                          <a:ea typeface="Comfortaa"/>
                          <a:cs typeface="Comfortaa"/>
                          <a:sym typeface="Comfortaa"/>
                        </a:rPr>
                        <a:t>Translation, deferred invalidation</a:t>
                      </a:r>
                      <a:endParaRPr sz="1300" u="none" cap="none" strike="noStrike">
                        <a:latin typeface="Comfortaa"/>
                        <a:ea typeface="Comfortaa"/>
                        <a:cs typeface="Comfortaa"/>
                        <a:sym typeface="Comfortaa"/>
                      </a:endParaRPr>
                    </a:p>
                  </a:txBody>
                  <a:tcPr marT="57775" marB="57775" marR="57775" marL="57775">
                    <a:lnL cap="flat" cmpd="sng" w="12700">
                      <a:solidFill>
                        <a:srgbClr val="C4C2BE"/>
                      </a:solidFill>
                      <a:prstDash val="solid"/>
                      <a:round/>
                      <a:headEnd len="sm" w="sm" type="none"/>
                      <a:tailEnd len="sm" w="sm" type="none"/>
                    </a:lnL>
                    <a:lnR cap="flat" cmpd="sng" w="12700">
                      <a:solidFill>
                        <a:srgbClr val="C4C2BE"/>
                      </a:solidFill>
                      <a:prstDash val="solid"/>
                      <a:round/>
                      <a:headEnd len="sm" w="sm" type="none"/>
                      <a:tailEnd len="sm" w="sm" type="none"/>
                    </a:lnR>
                    <a:lnT cap="flat" cmpd="sng" w="12700">
                      <a:solidFill>
                        <a:srgbClr val="C4C2BE"/>
                      </a:solidFill>
                      <a:prstDash val="solid"/>
                      <a:round/>
                      <a:headEnd len="sm" w="sm" type="none"/>
                      <a:tailEnd len="sm" w="sm" type="none"/>
                    </a:lnT>
                    <a:lnB cap="flat" cmpd="sng" w="12700">
                      <a:solidFill>
                        <a:srgbClr val="C4C2BE"/>
                      </a:solidFill>
                      <a:prstDash val="solid"/>
                      <a:round/>
                      <a:headEnd len="sm" w="sm" type="none"/>
                      <a:tailEnd len="sm" w="sm" type="none"/>
                    </a:lnB>
                  </a:tcPr>
                </a:tc>
              </a:tr>
            </a:tbl>
          </a:graphicData>
        </a:graphic>
      </p:graphicFrame>
      <p:sp>
        <p:nvSpPr>
          <p:cNvPr id="266" name="Google Shape;266;p23"/>
          <p:cNvSpPr/>
          <p:nvPr/>
        </p:nvSpPr>
        <p:spPr>
          <a:xfrm>
            <a:off x="812800" y="6238242"/>
            <a:ext cx="10883392"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673"/>
              </a:buClr>
              <a:buSzPts val="1200"/>
              <a:buFont typeface="IBM Plex Sans"/>
              <a:buNone/>
            </a:pPr>
            <a:r>
              <a:rPr i="0" lang="en-US" sz="1200" u="none" cap="none" strike="noStrike">
                <a:solidFill>
                  <a:srgbClr val="5F6673"/>
                </a:solidFill>
                <a:latin typeface="Comfortaa"/>
                <a:ea typeface="Comfortaa"/>
                <a:cs typeface="Comfortaa"/>
                <a:sym typeface="Comfortaa"/>
              </a:rPr>
              <a:t>Documentation/core-api/dma-api.rst </a:t>
            </a:r>
            <a:r>
              <a:rPr i="0" lang="en-US" sz="1200" u="none" cap="none" strike="noStrike">
                <a:solidFill>
                  <a:srgbClr val="5F6673"/>
                </a:solidFill>
                <a:latin typeface="Comfortaa"/>
                <a:ea typeface="Comfortaa"/>
                <a:cs typeface="Comfortaa"/>
                <a:sym typeface="Comfortaa"/>
              </a:rPr>
              <a:t>· </a:t>
            </a:r>
            <a:r>
              <a:rPr lang="en-US" sz="1200">
                <a:solidFill>
                  <a:srgbClr val="5F6673"/>
                </a:solidFill>
                <a:latin typeface="Comfortaa"/>
                <a:ea typeface="Comfortaa"/>
                <a:cs typeface="Comfortaa"/>
                <a:sym typeface="Comfortaa"/>
              </a:rPr>
              <a:t>/kernel/ dma/* </a:t>
            </a:r>
            <a:r>
              <a:rPr lang="en-US" sz="1200">
                <a:solidFill>
                  <a:schemeClr val="accent3"/>
                </a:solidFill>
                <a:latin typeface="Comfortaa"/>
                <a:ea typeface="Comfortaa"/>
                <a:cs typeface="Comfortaa"/>
                <a:sym typeface="Comfortaa"/>
              </a:rPr>
              <a:t>· /drivers/iommu/intel/*</a:t>
            </a:r>
            <a:endParaRPr i="0" sz="1200" u="none" cap="none" strike="noStrike">
              <a:solidFill>
                <a:schemeClr val="dk1"/>
              </a:solidFill>
              <a:latin typeface="Comfortaa"/>
              <a:ea typeface="Comfortaa"/>
              <a:cs typeface="Comfortaa"/>
              <a:sym typeface="Comfortaa"/>
            </a:endParaRPr>
          </a:p>
        </p:txBody>
      </p:sp>
      <p:sp>
        <p:nvSpPr>
          <p:cNvPr id="267" name="Google Shape;267;p23"/>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268" name="Google Shape;268;p23"/>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B24A17"/>
              </a:buClr>
              <a:buSzPts val="1200"/>
              <a:buFont typeface="IBM Plex Mono"/>
              <a:buNone/>
            </a:pPr>
            <a:r>
              <a:rPr lang="en-US" sz="1200">
                <a:solidFill>
                  <a:srgbClr val="B24A17"/>
                </a:solidFill>
                <a:latin typeface="Comfortaa"/>
                <a:ea typeface="Comfortaa"/>
                <a:cs typeface="Comfortaa"/>
                <a:sym typeface="Comfortaa"/>
              </a:rPr>
              <a:t>II</a:t>
            </a:r>
            <a:r>
              <a:rPr i="0" lang="en-US" sz="1200" u="none" cap="none" strike="noStrike">
                <a:solidFill>
                  <a:srgbClr val="B24A17"/>
                </a:solidFill>
                <a:latin typeface="Comfortaa"/>
                <a:ea typeface="Comfortaa"/>
                <a:cs typeface="Comfortaa"/>
                <a:sym typeface="Comfortaa"/>
              </a:rPr>
              <a:t> · IOMMU</a:t>
            </a:r>
            <a:endParaRPr i="0" sz="1200" u="none" cap="none" strike="noStrike">
              <a:solidFill>
                <a:schemeClr val="dk1"/>
              </a:solidFill>
              <a:latin typeface="Comfortaa"/>
              <a:ea typeface="Comfortaa"/>
              <a:cs typeface="Comfortaa"/>
              <a:sym typeface="Comforta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E"/>
        </a:solidFill>
      </p:bgPr>
    </p:bg>
    <p:spTree>
      <p:nvGrpSpPr>
        <p:cNvPr id="273" name="Shape 273"/>
        <p:cNvGrpSpPr/>
        <p:nvPr/>
      </p:nvGrpSpPr>
      <p:grpSpPr>
        <a:xfrm>
          <a:off x="0" y="0"/>
          <a:ext cx="0" cy="0"/>
          <a:chOff x="0" y="0"/>
          <a:chExt cx="0" cy="0"/>
        </a:xfrm>
      </p:grpSpPr>
      <p:sp>
        <p:nvSpPr>
          <p:cNvPr id="274" name="Google Shape;274;p24"/>
          <p:cNvSpPr txBox="1"/>
          <p:nvPr>
            <p:ph type="title"/>
          </p:nvPr>
        </p:nvSpPr>
        <p:spPr>
          <a:xfrm>
            <a:off x="812800" y="1102358"/>
            <a:ext cx="10883392" cy="4445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C2230"/>
              </a:buClr>
              <a:buSzPct val="100000"/>
              <a:buFont typeface="IBM Plex Sans"/>
              <a:buNone/>
            </a:pPr>
            <a:r>
              <a:rPr b="1" i="0" lang="en-US" sz="3000">
                <a:solidFill>
                  <a:srgbClr val="1C2230"/>
                </a:solidFill>
                <a:latin typeface="Comfortaa"/>
                <a:ea typeface="Comfortaa"/>
                <a:cs typeface="Comfortaa"/>
                <a:sym typeface="Comfortaa"/>
              </a:rPr>
              <a:t>The hidden cost: IOTLB invalidation</a:t>
            </a:r>
            <a:endParaRPr sz="3000">
              <a:latin typeface="Comfortaa"/>
              <a:ea typeface="Comfortaa"/>
              <a:cs typeface="Comfortaa"/>
              <a:sym typeface="Comfortaa"/>
            </a:endParaRPr>
          </a:p>
        </p:txBody>
      </p:sp>
      <p:sp>
        <p:nvSpPr>
          <p:cNvPr id="275" name="Google Shape;275;p24"/>
          <p:cNvSpPr/>
          <p:nvPr/>
        </p:nvSpPr>
        <p:spPr>
          <a:xfrm>
            <a:off x="815975" y="1880233"/>
            <a:ext cx="5175250" cy="1646343"/>
          </a:xfrm>
          <a:prstGeom prst="roundRect">
            <a:avLst>
              <a:gd fmla="val 5978" name="adj"/>
            </a:avLst>
          </a:prstGeom>
          <a:solidFill>
            <a:srgbClr val="FDFCF9"/>
          </a:solidFill>
          <a:ln cap="flat" cmpd="sng" w="9525">
            <a:solidFill>
              <a:srgbClr val="D9D4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omfortaa"/>
              <a:ea typeface="Comfortaa"/>
              <a:cs typeface="Comfortaa"/>
              <a:sym typeface="Comfortaa"/>
            </a:endParaRPr>
          </a:p>
        </p:txBody>
      </p:sp>
      <p:sp>
        <p:nvSpPr>
          <p:cNvPr id="276" name="Google Shape;276;p24"/>
          <p:cNvSpPr/>
          <p:nvPr/>
        </p:nvSpPr>
        <p:spPr>
          <a:xfrm>
            <a:off x="1072092" y="2136353"/>
            <a:ext cx="4802907" cy="2844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C2230"/>
              </a:buClr>
              <a:buSzPts val="1700"/>
              <a:buFont typeface="IBM Plex Sans"/>
              <a:buNone/>
            </a:pPr>
            <a:r>
              <a:rPr b="1" i="0" lang="en-US" sz="1700" u="none" cap="none" strike="noStrike">
                <a:solidFill>
                  <a:srgbClr val="1C2230"/>
                </a:solidFill>
                <a:latin typeface="Comfortaa"/>
                <a:ea typeface="Comfortaa"/>
                <a:cs typeface="Comfortaa"/>
                <a:sym typeface="Comfortaa"/>
              </a:rPr>
              <a:t>Strict</a:t>
            </a:r>
            <a:endParaRPr i="0" sz="1700" u="none" cap="none" strike="noStrike">
              <a:solidFill>
                <a:schemeClr val="dk1"/>
              </a:solidFill>
              <a:latin typeface="Comfortaa"/>
              <a:ea typeface="Comfortaa"/>
              <a:cs typeface="Comfortaa"/>
              <a:sym typeface="Comfortaa"/>
            </a:endParaRPr>
          </a:p>
        </p:txBody>
      </p:sp>
      <p:sp>
        <p:nvSpPr>
          <p:cNvPr id="277" name="Google Shape;277;p24"/>
          <p:cNvSpPr/>
          <p:nvPr/>
        </p:nvSpPr>
        <p:spPr>
          <a:xfrm>
            <a:off x="1072092" y="2497032"/>
            <a:ext cx="4802907" cy="79883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1C2230"/>
              </a:buClr>
              <a:buSzPts val="1400"/>
              <a:buFont typeface="IBM Plex Sans"/>
              <a:buNone/>
            </a:pPr>
            <a:r>
              <a:rPr i="0" lang="en-US" sz="1400" u="none" cap="none" strike="noStrike">
                <a:solidFill>
                  <a:srgbClr val="1C2230"/>
                </a:solidFill>
                <a:latin typeface="Comfortaa"/>
                <a:ea typeface="Comfortaa"/>
                <a:cs typeface="Comfortaa"/>
                <a:sym typeface="Comfortaa"/>
              </a:rPr>
              <a:t>Every unmap invalidates before the buffer is released. No exposure window — but a synchronous invalidation per packet will not hold line rate.</a:t>
            </a:r>
            <a:endParaRPr i="0" sz="1400" u="none" cap="none" strike="noStrike">
              <a:solidFill>
                <a:schemeClr val="dk1"/>
              </a:solidFill>
              <a:latin typeface="Comfortaa"/>
              <a:ea typeface="Comfortaa"/>
              <a:cs typeface="Comfortaa"/>
              <a:sym typeface="Comfortaa"/>
            </a:endParaRPr>
          </a:p>
        </p:txBody>
      </p:sp>
      <p:sp>
        <p:nvSpPr>
          <p:cNvPr id="278" name="Google Shape;278;p24"/>
          <p:cNvSpPr/>
          <p:nvPr/>
        </p:nvSpPr>
        <p:spPr>
          <a:xfrm>
            <a:off x="6200775" y="1880233"/>
            <a:ext cx="5175250" cy="1646343"/>
          </a:xfrm>
          <a:prstGeom prst="roundRect">
            <a:avLst>
              <a:gd fmla="val 5978" name="adj"/>
            </a:avLst>
          </a:prstGeom>
          <a:solidFill>
            <a:srgbClr val="FDFCF9"/>
          </a:solidFill>
          <a:ln cap="flat" cmpd="sng" w="9525">
            <a:solidFill>
              <a:srgbClr val="D9D4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omfortaa"/>
              <a:ea typeface="Comfortaa"/>
              <a:cs typeface="Comfortaa"/>
              <a:sym typeface="Comfortaa"/>
            </a:endParaRPr>
          </a:p>
        </p:txBody>
      </p:sp>
      <p:sp>
        <p:nvSpPr>
          <p:cNvPr id="279" name="Google Shape;279;p24"/>
          <p:cNvSpPr/>
          <p:nvPr/>
        </p:nvSpPr>
        <p:spPr>
          <a:xfrm>
            <a:off x="6456892" y="2136353"/>
            <a:ext cx="4802907" cy="2844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C2230"/>
              </a:buClr>
              <a:buSzPts val="1700"/>
              <a:buFont typeface="IBM Plex Sans"/>
              <a:buNone/>
            </a:pPr>
            <a:r>
              <a:rPr b="1" i="0" lang="en-US" sz="1700" u="none" cap="none" strike="noStrike">
                <a:solidFill>
                  <a:srgbClr val="1C2230"/>
                </a:solidFill>
                <a:latin typeface="Comfortaa"/>
                <a:ea typeface="Comfortaa"/>
                <a:cs typeface="Comfortaa"/>
                <a:sym typeface="Comfortaa"/>
              </a:rPr>
              <a:t>Lazy (flush queue)</a:t>
            </a:r>
            <a:endParaRPr i="0" sz="1700" u="none" cap="none" strike="noStrike">
              <a:solidFill>
                <a:schemeClr val="dk1"/>
              </a:solidFill>
              <a:latin typeface="Comfortaa"/>
              <a:ea typeface="Comfortaa"/>
              <a:cs typeface="Comfortaa"/>
              <a:sym typeface="Comfortaa"/>
            </a:endParaRPr>
          </a:p>
        </p:txBody>
      </p:sp>
      <p:sp>
        <p:nvSpPr>
          <p:cNvPr id="280" name="Google Shape;280;p24"/>
          <p:cNvSpPr/>
          <p:nvPr/>
        </p:nvSpPr>
        <p:spPr>
          <a:xfrm>
            <a:off x="6456892" y="2497032"/>
            <a:ext cx="4802907" cy="79883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1C2230"/>
              </a:buClr>
              <a:buSzPts val="1400"/>
              <a:buFont typeface="IBM Plex Sans"/>
              <a:buNone/>
            </a:pPr>
            <a:r>
              <a:rPr i="0" lang="en-US" sz="1400" u="none" cap="none" strike="noStrike">
                <a:solidFill>
                  <a:srgbClr val="1C2230"/>
                </a:solidFill>
                <a:latin typeface="Comfortaa"/>
                <a:ea typeface="Comfortaa"/>
                <a:cs typeface="Comfortaa"/>
                <a:sym typeface="Comfortaa"/>
              </a:rPr>
              <a:t>Freed IOVAs queue up and are invalidated in batches. Fast — but the device keeps access to pages the kernel has already reused.</a:t>
            </a:r>
            <a:endParaRPr i="0" sz="1400" u="none" cap="none" strike="noStrike">
              <a:solidFill>
                <a:schemeClr val="dk1"/>
              </a:solidFill>
              <a:latin typeface="Comfortaa"/>
              <a:ea typeface="Comfortaa"/>
              <a:cs typeface="Comfortaa"/>
              <a:sym typeface="Comfortaa"/>
            </a:endParaRPr>
          </a:p>
        </p:txBody>
      </p:sp>
      <p:cxnSp>
        <p:nvCxnSpPr>
          <p:cNvPr id="281" name="Google Shape;281;p24"/>
          <p:cNvCxnSpPr/>
          <p:nvPr/>
        </p:nvCxnSpPr>
        <p:spPr>
          <a:xfrm>
            <a:off x="831850" y="3885350"/>
            <a:ext cx="0" cy="386080"/>
          </a:xfrm>
          <a:prstGeom prst="straightConnector1">
            <a:avLst/>
          </a:prstGeom>
          <a:noFill/>
          <a:ln cap="flat" cmpd="sng" w="38100">
            <a:solidFill>
              <a:srgbClr val="B24A17"/>
            </a:solidFill>
            <a:prstDash val="solid"/>
            <a:round/>
            <a:headEnd len="sm" w="sm" type="none"/>
            <a:tailEnd len="sm" w="sm" type="none"/>
          </a:ln>
        </p:spPr>
      </p:cxnSp>
      <p:sp>
        <p:nvSpPr>
          <p:cNvPr id="282" name="Google Shape;282;p24"/>
          <p:cNvSpPr/>
          <p:nvPr/>
        </p:nvSpPr>
        <p:spPr>
          <a:xfrm>
            <a:off x="1027642" y="3936150"/>
            <a:ext cx="10662105" cy="3098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230"/>
              </a:buClr>
              <a:buSzPts val="1600"/>
              <a:buFont typeface="IBM Plex Sans"/>
              <a:buNone/>
            </a:pPr>
            <a:r>
              <a:rPr i="0" lang="en-US" sz="1600" u="none" cap="none" strike="noStrike">
                <a:solidFill>
                  <a:srgbClr val="1C2230"/>
                </a:solidFill>
                <a:latin typeface="Comfortaa"/>
                <a:ea typeface="Comfortaa"/>
                <a:cs typeface="Comfortaa"/>
                <a:sym typeface="Comfortaa"/>
              </a:rPr>
              <a:t>A real security/performance dial, exposed as </a:t>
            </a:r>
            <a:r>
              <a:rPr b="1" i="0" lang="en-US" sz="1600" u="none" cap="none" strike="noStrike">
                <a:solidFill>
                  <a:srgbClr val="1C2230"/>
                </a:solidFill>
                <a:latin typeface="Comfortaa"/>
                <a:ea typeface="Comfortaa"/>
                <a:cs typeface="Comfortaa"/>
                <a:sym typeface="Comfortaa"/>
              </a:rPr>
              <a:t>iommu.strict</a:t>
            </a:r>
            <a:r>
              <a:rPr i="0" lang="en-US" sz="1600" u="none" cap="none" strike="noStrike">
                <a:solidFill>
                  <a:srgbClr val="1C2230"/>
                </a:solidFill>
                <a:latin typeface="Comfortaa"/>
                <a:ea typeface="Comfortaa"/>
                <a:cs typeface="Comfortaa"/>
                <a:sym typeface="Comfortaa"/>
              </a:rPr>
              <a:t>.</a:t>
            </a:r>
            <a:endParaRPr i="0" sz="1600" u="none" cap="none" strike="noStrike">
              <a:solidFill>
                <a:schemeClr val="dk1"/>
              </a:solidFill>
              <a:latin typeface="Comfortaa"/>
              <a:ea typeface="Comfortaa"/>
              <a:cs typeface="Comfortaa"/>
              <a:sym typeface="Comfortaa"/>
            </a:endParaRPr>
          </a:p>
        </p:txBody>
      </p:sp>
      <p:sp>
        <p:nvSpPr>
          <p:cNvPr id="283" name="Google Shape;283;p24"/>
          <p:cNvSpPr/>
          <p:nvPr/>
        </p:nvSpPr>
        <p:spPr>
          <a:xfrm>
            <a:off x="812800" y="6238242"/>
            <a:ext cx="10883392"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673"/>
              </a:buClr>
              <a:buSzPts val="1200"/>
              <a:buFont typeface="IBM Plex Sans"/>
              <a:buNone/>
            </a:pPr>
            <a:r>
              <a:rPr i="0" lang="en-US" sz="1200" u="none" cap="none" strike="noStrike">
                <a:solidFill>
                  <a:srgbClr val="5F6673"/>
                </a:solidFill>
                <a:latin typeface="Comfortaa"/>
                <a:ea typeface="Comfortaa"/>
                <a:cs typeface="Comfortaa"/>
                <a:sym typeface="Comfortaa"/>
              </a:rPr>
              <a:t>Markuze et al., True IOMMU Protection from DMA Attacks, ASPLOS 2016</a:t>
            </a:r>
            <a:endParaRPr i="0" sz="1200" u="none" cap="none" strike="noStrike">
              <a:solidFill>
                <a:schemeClr val="dk1"/>
              </a:solidFill>
              <a:latin typeface="Comfortaa"/>
              <a:ea typeface="Comfortaa"/>
              <a:cs typeface="Comfortaa"/>
              <a:sym typeface="Comfortaa"/>
            </a:endParaRPr>
          </a:p>
        </p:txBody>
      </p:sp>
      <p:sp>
        <p:nvSpPr>
          <p:cNvPr id="284" name="Google Shape;284;p24"/>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285" name="Google Shape;285;p24"/>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B24A17"/>
              </a:buClr>
              <a:buSzPts val="1200"/>
              <a:buFont typeface="IBM Plex Mono"/>
              <a:buNone/>
            </a:pPr>
            <a:r>
              <a:rPr lang="en-US" sz="1200">
                <a:solidFill>
                  <a:srgbClr val="B24A17"/>
                </a:solidFill>
                <a:latin typeface="Comfortaa"/>
                <a:ea typeface="Comfortaa"/>
                <a:cs typeface="Comfortaa"/>
                <a:sym typeface="Comfortaa"/>
              </a:rPr>
              <a:t>II</a:t>
            </a:r>
            <a:r>
              <a:rPr i="0" lang="en-US" sz="1200" u="none" cap="none" strike="noStrike">
                <a:solidFill>
                  <a:srgbClr val="B24A17"/>
                </a:solidFill>
                <a:latin typeface="Comfortaa"/>
                <a:ea typeface="Comfortaa"/>
                <a:cs typeface="Comfortaa"/>
                <a:sym typeface="Comfortaa"/>
              </a:rPr>
              <a:t> · IOMMU</a:t>
            </a:r>
            <a:endParaRPr i="0" sz="1200" u="none" cap="none" strike="noStrike">
              <a:solidFill>
                <a:schemeClr val="dk1"/>
              </a:solidFill>
              <a:latin typeface="Comfortaa"/>
              <a:ea typeface="Comfortaa"/>
              <a:cs typeface="Comfortaa"/>
              <a:sym typeface="Comfortaa"/>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130"/>
        </a:solidFill>
      </p:bgPr>
    </p:bg>
    <p:spTree>
      <p:nvGrpSpPr>
        <p:cNvPr id="290" name="Shape 290"/>
        <p:cNvGrpSpPr/>
        <p:nvPr/>
      </p:nvGrpSpPr>
      <p:grpSpPr>
        <a:xfrm>
          <a:off x="0" y="0"/>
          <a:ext cx="0" cy="0"/>
          <a:chOff x="0" y="0"/>
          <a:chExt cx="0" cy="0"/>
        </a:xfrm>
      </p:grpSpPr>
      <p:sp>
        <p:nvSpPr>
          <p:cNvPr id="291" name="Google Shape;291;p25"/>
          <p:cNvSpPr/>
          <p:nvPr/>
        </p:nvSpPr>
        <p:spPr>
          <a:xfrm>
            <a:off x="812800" y="812800"/>
            <a:ext cx="10883392"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08A4B"/>
              </a:buClr>
              <a:buSzPts val="1200"/>
              <a:buFont typeface="IBM Plex Mono"/>
              <a:buNone/>
            </a:pPr>
            <a:r>
              <a:rPr i="0" lang="en-US" sz="1200" u="none" cap="none" strike="noStrike">
                <a:solidFill>
                  <a:srgbClr val="F08A4B"/>
                </a:solidFill>
                <a:latin typeface="Comfortaa"/>
                <a:ea typeface="Comfortaa"/>
                <a:cs typeface="Comfortaa"/>
                <a:sym typeface="Comfortaa"/>
              </a:rPr>
              <a:t>PAUSE · 5 MINUTES</a:t>
            </a:r>
            <a:endParaRPr i="0" sz="1200" u="none" cap="none" strike="noStrike">
              <a:solidFill>
                <a:schemeClr val="dk1"/>
              </a:solidFill>
              <a:latin typeface="Comfortaa"/>
              <a:ea typeface="Comfortaa"/>
              <a:cs typeface="Comfortaa"/>
              <a:sym typeface="Comfortaa"/>
            </a:endParaRPr>
          </a:p>
        </p:txBody>
      </p:sp>
      <p:sp>
        <p:nvSpPr>
          <p:cNvPr id="292" name="Google Shape;292;p25"/>
          <p:cNvSpPr txBox="1"/>
          <p:nvPr>
            <p:ph type="title"/>
          </p:nvPr>
        </p:nvSpPr>
        <p:spPr>
          <a:xfrm>
            <a:off x="812800" y="1102358"/>
            <a:ext cx="10883392" cy="4445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F2EFE8"/>
              </a:buClr>
              <a:buSzPct val="100000"/>
              <a:buFont typeface="IBM Plex Sans"/>
              <a:buNone/>
            </a:pPr>
            <a:r>
              <a:rPr b="1" i="0" lang="en-US" sz="3000">
                <a:solidFill>
                  <a:srgbClr val="F2EFE8"/>
                </a:solidFill>
                <a:latin typeface="Comfortaa"/>
                <a:ea typeface="Comfortaa"/>
                <a:cs typeface="Comfortaa"/>
                <a:sym typeface="Comfortaa"/>
              </a:rPr>
              <a:t>Three questions before we virtualize</a:t>
            </a:r>
            <a:endParaRPr sz="3000">
              <a:latin typeface="Comfortaa"/>
              <a:ea typeface="Comfortaa"/>
              <a:cs typeface="Comfortaa"/>
              <a:sym typeface="Comfortaa"/>
            </a:endParaRPr>
          </a:p>
        </p:txBody>
      </p:sp>
      <p:sp>
        <p:nvSpPr>
          <p:cNvPr id="293" name="Google Shape;293;p25"/>
          <p:cNvSpPr/>
          <p:nvPr/>
        </p:nvSpPr>
        <p:spPr>
          <a:xfrm>
            <a:off x="799465" y="1877058"/>
            <a:ext cx="10889107" cy="1111250"/>
          </a:xfrm>
          <a:prstGeom prst="rect">
            <a:avLst/>
          </a:prstGeom>
          <a:noFill/>
          <a:ln>
            <a:noFill/>
          </a:ln>
        </p:spPr>
        <p:txBody>
          <a:bodyPr anchorCtr="0" anchor="t" bIns="0" lIns="0" spcFirstLastPara="1" rIns="0" wrap="square" tIns="0">
            <a:noAutofit/>
          </a:bodyPr>
          <a:lstStyle/>
          <a:p>
            <a:pPr indent="-267335" lvl="0" marL="267335" marR="0" rtl="0" algn="l">
              <a:lnSpc>
                <a:spcPct val="150000"/>
              </a:lnSpc>
              <a:spcBef>
                <a:spcPts val="0"/>
              </a:spcBef>
              <a:spcAft>
                <a:spcPts val="0"/>
              </a:spcAft>
              <a:buClr>
                <a:srgbClr val="F2EFE8"/>
              </a:buClr>
              <a:buSzPts val="1900"/>
              <a:buFont typeface="Comfortaa"/>
              <a:buAutoNum type="arabicPeriod"/>
            </a:pPr>
            <a:r>
              <a:rPr i="0" lang="en-US" sz="1900" u="none" cap="none" strike="noStrike">
                <a:solidFill>
                  <a:srgbClr val="F2EFE8"/>
                </a:solidFill>
                <a:latin typeface="Comfortaa"/>
                <a:ea typeface="Comfortaa"/>
                <a:cs typeface="Comfortaa"/>
                <a:sym typeface="Comfortaa"/>
              </a:rPr>
              <a:t>Why does </a:t>
            </a:r>
            <a:r>
              <a:rPr lang="en-US" sz="1900">
                <a:solidFill>
                  <a:srgbClr val="F2EFE8"/>
                </a:solidFill>
                <a:latin typeface="Comfortaa"/>
                <a:ea typeface="Comfortaa"/>
                <a:cs typeface="Comfortaa"/>
                <a:sym typeface="Comfortaa"/>
              </a:rPr>
              <a:t>iommu=pt</a:t>
            </a:r>
            <a:r>
              <a:rPr i="0" lang="en-US" sz="1900" u="none" cap="none" strike="noStrike">
                <a:solidFill>
                  <a:srgbClr val="F2EFE8"/>
                </a:solidFill>
                <a:latin typeface="Comfortaa"/>
                <a:ea typeface="Comfortaa"/>
                <a:cs typeface="Comfortaa"/>
                <a:sym typeface="Comfortaa"/>
              </a:rPr>
              <a:t> still exist, and what do we give up?</a:t>
            </a:r>
            <a:endParaRPr i="0" sz="1900" u="none" cap="none" strike="noStrike">
              <a:solidFill>
                <a:schemeClr val="dk1"/>
              </a:solidFill>
              <a:latin typeface="Comfortaa"/>
              <a:ea typeface="Comfortaa"/>
              <a:cs typeface="Comfortaa"/>
              <a:sym typeface="Comfortaa"/>
            </a:endParaRPr>
          </a:p>
          <a:p>
            <a:pPr indent="-267335" lvl="0" marL="267335" marR="0" rtl="0" algn="l">
              <a:lnSpc>
                <a:spcPct val="150000"/>
              </a:lnSpc>
              <a:spcBef>
                <a:spcPts val="0"/>
              </a:spcBef>
              <a:spcAft>
                <a:spcPts val="0"/>
              </a:spcAft>
              <a:buClr>
                <a:srgbClr val="F2EFE8"/>
              </a:buClr>
              <a:buSzPts val="1900"/>
              <a:buFont typeface="Comfortaa"/>
              <a:buAutoNum type="arabicPeriod"/>
            </a:pPr>
            <a:r>
              <a:t/>
            </a:r>
            <a:endParaRPr i="0" sz="1900" u="none" cap="none" strike="noStrike">
              <a:solidFill>
                <a:schemeClr val="dk1"/>
              </a:solidFill>
              <a:latin typeface="Comfortaa"/>
              <a:ea typeface="Comfortaa"/>
              <a:cs typeface="Comfortaa"/>
              <a:sym typeface="Comfortaa"/>
            </a:endParaRPr>
          </a:p>
        </p:txBody>
      </p:sp>
      <p:sp>
        <p:nvSpPr>
          <p:cNvPr id="294" name="Google Shape;294;p25"/>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130"/>
        </a:solidFill>
      </p:bgPr>
    </p:bg>
    <p:spTree>
      <p:nvGrpSpPr>
        <p:cNvPr id="299" name="Shape 299"/>
        <p:cNvGrpSpPr/>
        <p:nvPr/>
      </p:nvGrpSpPr>
      <p:grpSpPr>
        <a:xfrm>
          <a:off x="0" y="0"/>
          <a:ext cx="0" cy="0"/>
          <a:chOff x="0" y="0"/>
          <a:chExt cx="0" cy="0"/>
        </a:xfrm>
      </p:grpSpPr>
      <p:sp>
        <p:nvSpPr>
          <p:cNvPr id="300" name="Google Shape;300;p26"/>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08A4B"/>
              </a:buClr>
              <a:buSzPts val="1200"/>
              <a:buFont typeface="IBM Plex Mono"/>
              <a:buNone/>
            </a:pPr>
            <a:r>
              <a:rPr i="0" lang="en-US" sz="1200" u="none" cap="none" strike="noStrike">
                <a:solidFill>
                  <a:srgbClr val="F08A4B"/>
                </a:solidFill>
                <a:latin typeface="Comfortaa"/>
                <a:ea typeface="Comfortaa"/>
                <a:cs typeface="Comfortaa"/>
                <a:sym typeface="Comfortaa"/>
              </a:rPr>
              <a:t>PAUSE · 5 MINUTES</a:t>
            </a:r>
            <a:endParaRPr i="0" sz="1200" u="none" cap="none" strike="noStrike">
              <a:solidFill>
                <a:schemeClr val="dk1"/>
              </a:solidFill>
              <a:latin typeface="Comfortaa"/>
              <a:ea typeface="Comfortaa"/>
              <a:cs typeface="Comfortaa"/>
              <a:sym typeface="Comfortaa"/>
            </a:endParaRPr>
          </a:p>
        </p:txBody>
      </p:sp>
      <p:sp>
        <p:nvSpPr>
          <p:cNvPr id="301" name="Google Shape;301;p26"/>
          <p:cNvSpPr txBox="1"/>
          <p:nvPr>
            <p:ph type="title"/>
          </p:nvPr>
        </p:nvSpPr>
        <p:spPr>
          <a:xfrm>
            <a:off x="812800" y="1102358"/>
            <a:ext cx="10883400" cy="4446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F2EFE8"/>
              </a:buClr>
              <a:buSzPct val="100000"/>
              <a:buFont typeface="IBM Plex Sans"/>
              <a:buNone/>
            </a:pPr>
            <a:r>
              <a:rPr b="1" i="0" lang="en-US" sz="3000">
                <a:solidFill>
                  <a:srgbClr val="F2EFE8"/>
                </a:solidFill>
                <a:latin typeface="Comfortaa"/>
                <a:ea typeface="Comfortaa"/>
                <a:cs typeface="Comfortaa"/>
                <a:sym typeface="Comfortaa"/>
              </a:rPr>
              <a:t>Three questions before we virtualize</a:t>
            </a:r>
            <a:endParaRPr sz="3000">
              <a:latin typeface="Comfortaa"/>
              <a:ea typeface="Comfortaa"/>
              <a:cs typeface="Comfortaa"/>
              <a:sym typeface="Comfortaa"/>
            </a:endParaRPr>
          </a:p>
        </p:txBody>
      </p:sp>
      <p:sp>
        <p:nvSpPr>
          <p:cNvPr id="302" name="Google Shape;302;p26"/>
          <p:cNvSpPr/>
          <p:nvPr/>
        </p:nvSpPr>
        <p:spPr>
          <a:xfrm>
            <a:off x="799465" y="1877058"/>
            <a:ext cx="10889100" cy="1111200"/>
          </a:xfrm>
          <a:prstGeom prst="rect">
            <a:avLst/>
          </a:prstGeom>
          <a:noFill/>
          <a:ln>
            <a:noFill/>
          </a:ln>
        </p:spPr>
        <p:txBody>
          <a:bodyPr anchorCtr="0" anchor="t" bIns="0" lIns="0" spcFirstLastPara="1" rIns="0" wrap="square" tIns="0">
            <a:noAutofit/>
          </a:bodyPr>
          <a:lstStyle/>
          <a:p>
            <a:pPr indent="-267335" lvl="0" marL="267335" marR="0" rtl="0" algn="l">
              <a:lnSpc>
                <a:spcPct val="150000"/>
              </a:lnSpc>
              <a:spcBef>
                <a:spcPts val="0"/>
              </a:spcBef>
              <a:spcAft>
                <a:spcPts val="0"/>
              </a:spcAft>
              <a:buClr>
                <a:srgbClr val="F2EFE8"/>
              </a:buClr>
              <a:buSzPts val="1900"/>
              <a:buFont typeface="Comfortaa"/>
              <a:buAutoNum type="arabicPeriod"/>
            </a:pPr>
            <a:r>
              <a:rPr i="0" lang="en-US" sz="1900" u="none" cap="none" strike="noStrike">
                <a:solidFill>
                  <a:srgbClr val="F2EFE8"/>
                </a:solidFill>
                <a:latin typeface="Comfortaa"/>
                <a:ea typeface="Comfortaa"/>
                <a:cs typeface="Comfortaa"/>
                <a:sym typeface="Comfortaa"/>
              </a:rPr>
              <a:t>Why does </a:t>
            </a:r>
            <a:r>
              <a:rPr lang="en-US" sz="1900">
                <a:solidFill>
                  <a:srgbClr val="F2EFE8"/>
                </a:solidFill>
                <a:latin typeface="Comfortaa"/>
                <a:ea typeface="Comfortaa"/>
                <a:cs typeface="Comfortaa"/>
                <a:sym typeface="Comfortaa"/>
              </a:rPr>
              <a:t>iommu=pt</a:t>
            </a:r>
            <a:r>
              <a:rPr i="0" lang="en-US" sz="1900" u="none" cap="none" strike="noStrike">
                <a:solidFill>
                  <a:srgbClr val="F2EFE8"/>
                </a:solidFill>
                <a:latin typeface="Comfortaa"/>
                <a:ea typeface="Comfortaa"/>
                <a:cs typeface="Comfortaa"/>
                <a:sym typeface="Comfortaa"/>
              </a:rPr>
              <a:t> still exist, and what do we give up?</a:t>
            </a:r>
            <a:endParaRPr i="0" sz="1900" u="none" cap="none" strike="noStrike">
              <a:solidFill>
                <a:schemeClr val="dk1"/>
              </a:solidFill>
              <a:latin typeface="Comfortaa"/>
              <a:ea typeface="Comfortaa"/>
              <a:cs typeface="Comfortaa"/>
              <a:sym typeface="Comfortaa"/>
            </a:endParaRPr>
          </a:p>
          <a:p>
            <a:pPr indent="-267335" lvl="0" marL="267335" marR="0" rtl="0" algn="l">
              <a:lnSpc>
                <a:spcPct val="150000"/>
              </a:lnSpc>
              <a:spcBef>
                <a:spcPts val="0"/>
              </a:spcBef>
              <a:spcAft>
                <a:spcPts val="0"/>
              </a:spcAft>
              <a:buClr>
                <a:srgbClr val="F2EFE8"/>
              </a:buClr>
              <a:buSzPts val="1900"/>
              <a:buFont typeface="Comfortaa"/>
              <a:buAutoNum type="arabicPeriod"/>
            </a:pPr>
            <a:r>
              <a:t/>
            </a:r>
            <a:endParaRPr i="0" sz="1900" u="none" cap="none" strike="noStrike">
              <a:solidFill>
                <a:schemeClr val="dk1"/>
              </a:solidFill>
              <a:latin typeface="Comfortaa"/>
              <a:ea typeface="Comfortaa"/>
              <a:cs typeface="Comfortaa"/>
              <a:sym typeface="Comfortaa"/>
            </a:endParaRPr>
          </a:p>
        </p:txBody>
      </p:sp>
      <p:sp>
        <p:nvSpPr>
          <p:cNvPr id="303" name="Google Shape;303;p26"/>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pic>
        <p:nvPicPr>
          <p:cNvPr id="304" name="Google Shape;304;p26"/>
          <p:cNvPicPr preferRelativeResize="0"/>
          <p:nvPr/>
        </p:nvPicPr>
        <p:blipFill>
          <a:blip r:embed="rId3">
            <a:alphaModFix/>
          </a:blip>
          <a:stretch>
            <a:fillRect/>
          </a:stretch>
        </p:blipFill>
        <p:spPr>
          <a:xfrm>
            <a:off x="7908475" y="2988258"/>
            <a:ext cx="2928604" cy="3564942"/>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E"/>
        </a:solidFill>
      </p:bgPr>
    </p:bg>
    <p:spTree>
      <p:nvGrpSpPr>
        <p:cNvPr id="309" name="Shape 309"/>
        <p:cNvGrpSpPr/>
        <p:nvPr/>
      </p:nvGrpSpPr>
      <p:grpSpPr>
        <a:xfrm>
          <a:off x="0" y="0"/>
          <a:ext cx="0" cy="0"/>
          <a:chOff x="0" y="0"/>
          <a:chExt cx="0" cy="0"/>
        </a:xfrm>
      </p:grpSpPr>
      <p:sp>
        <p:nvSpPr>
          <p:cNvPr id="310" name="Google Shape;310;p27"/>
          <p:cNvSpPr/>
          <p:nvPr/>
        </p:nvSpPr>
        <p:spPr>
          <a:xfrm>
            <a:off x="812800" y="812800"/>
            <a:ext cx="10883392" cy="23876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B24A17"/>
              </a:buClr>
              <a:buSzPts val="1200"/>
              <a:buFont typeface="IBM Plex Mono"/>
              <a:buNone/>
            </a:pPr>
            <a:r>
              <a:rPr lang="en-US" sz="1200">
                <a:solidFill>
                  <a:srgbClr val="B24A17"/>
                </a:solidFill>
                <a:latin typeface="Comfortaa"/>
                <a:ea typeface="Comfortaa"/>
                <a:cs typeface="Comfortaa"/>
                <a:sym typeface="Comfortaa"/>
              </a:rPr>
              <a:t>III</a:t>
            </a:r>
            <a:r>
              <a:rPr i="0" lang="en-US" sz="1200" u="none" cap="none" strike="noStrike">
                <a:solidFill>
                  <a:srgbClr val="B24A17"/>
                </a:solidFill>
                <a:latin typeface="Comfortaa"/>
                <a:ea typeface="Comfortaa"/>
                <a:cs typeface="Comfortaa"/>
                <a:sym typeface="Comfortaa"/>
              </a:rPr>
              <a:t> · DEVICE VIRTUALIZATION</a:t>
            </a:r>
            <a:endParaRPr i="0" sz="1200" u="none" cap="none" strike="noStrike">
              <a:solidFill>
                <a:schemeClr val="dk1"/>
              </a:solidFill>
              <a:latin typeface="Comfortaa"/>
              <a:ea typeface="Comfortaa"/>
              <a:cs typeface="Comfortaa"/>
              <a:sym typeface="Comfortaa"/>
            </a:endParaRPr>
          </a:p>
        </p:txBody>
      </p:sp>
      <p:sp>
        <p:nvSpPr>
          <p:cNvPr id="311" name="Google Shape;311;p27"/>
          <p:cNvSpPr txBox="1"/>
          <p:nvPr>
            <p:ph type="title"/>
          </p:nvPr>
        </p:nvSpPr>
        <p:spPr>
          <a:xfrm>
            <a:off x="812800" y="1102358"/>
            <a:ext cx="10883392" cy="4445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C2230"/>
              </a:buClr>
              <a:buSzPct val="100000"/>
              <a:buFont typeface="IBM Plex Sans"/>
              <a:buNone/>
            </a:pPr>
            <a:r>
              <a:rPr b="1" lang="en-US">
                <a:latin typeface="Comfortaa"/>
                <a:ea typeface="Comfortaa"/>
                <a:cs typeface="Comfortaa"/>
                <a:sym typeface="Comfortaa"/>
              </a:rPr>
              <a:t>3</a:t>
            </a:r>
            <a:r>
              <a:rPr b="1" i="0" lang="en-US" sz="3000">
                <a:solidFill>
                  <a:srgbClr val="1C2230"/>
                </a:solidFill>
                <a:latin typeface="Comfortaa"/>
                <a:ea typeface="Comfortaa"/>
                <a:cs typeface="Comfortaa"/>
                <a:sym typeface="Comfortaa"/>
              </a:rPr>
              <a:t> ways to </a:t>
            </a:r>
            <a:r>
              <a:rPr b="1" lang="en-US">
                <a:latin typeface="Comfortaa"/>
                <a:ea typeface="Comfortaa"/>
                <a:cs typeface="Comfortaa"/>
                <a:sym typeface="Comfortaa"/>
              </a:rPr>
              <a:t>assign</a:t>
            </a:r>
            <a:r>
              <a:rPr b="1" i="0" lang="en-US" sz="3000">
                <a:solidFill>
                  <a:srgbClr val="1C2230"/>
                </a:solidFill>
                <a:latin typeface="Comfortaa"/>
                <a:ea typeface="Comfortaa"/>
                <a:cs typeface="Comfortaa"/>
                <a:sym typeface="Comfortaa"/>
              </a:rPr>
              <a:t> a device to a VM</a:t>
            </a:r>
            <a:endParaRPr sz="3000">
              <a:latin typeface="Comfortaa"/>
              <a:ea typeface="Comfortaa"/>
              <a:cs typeface="Comfortaa"/>
              <a:sym typeface="Comfortaa"/>
            </a:endParaRPr>
          </a:p>
        </p:txBody>
      </p:sp>
      <p:grpSp>
        <p:nvGrpSpPr>
          <p:cNvPr id="312" name="Google Shape;312;p27"/>
          <p:cNvGrpSpPr/>
          <p:nvPr/>
        </p:nvGrpSpPr>
        <p:grpSpPr>
          <a:xfrm>
            <a:off x="812800" y="2397608"/>
            <a:ext cx="2482850" cy="1962573"/>
            <a:chOff x="815975" y="1880233"/>
            <a:chExt cx="2482850" cy="1962573"/>
          </a:xfrm>
        </p:grpSpPr>
        <p:sp>
          <p:nvSpPr>
            <p:cNvPr id="313" name="Google Shape;313;p27"/>
            <p:cNvSpPr/>
            <p:nvPr/>
          </p:nvSpPr>
          <p:spPr>
            <a:xfrm>
              <a:off x="815975" y="1880233"/>
              <a:ext cx="2482850" cy="1962573"/>
            </a:xfrm>
            <a:prstGeom prst="roundRect">
              <a:avLst>
                <a:gd fmla="val 5015" name="adj"/>
              </a:avLst>
            </a:prstGeom>
            <a:solidFill>
              <a:srgbClr val="FDFCF9"/>
            </a:solidFill>
            <a:ln cap="flat" cmpd="sng" w="9525">
              <a:solidFill>
                <a:srgbClr val="D9D4C9"/>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omfortaa"/>
                <a:ea typeface="Comfortaa"/>
                <a:cs typeface="Comfortaa"/>
                <a:sym typeface="Comfortaa"/>
              </a:endParaRPr>
            </a:p>
          </p:txBody>
        </p:sp>
        <p:sp>
          <p:nvSpPr>
            <p:cNvPr id="314" name="Google Shape;314;p27"/>
            <p:cNvSpPr/>
            <p:nvPr/>
          </p:nvSpPr>
          <p:spPr>
            <a:xfrm>
              <a:off x="1072092" y="2136353"/>
              <a:ext cx="2029735" cy="5232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4A17"/>
                </a:buClr>
                <a:buSzPts val="2800"/>
                <a:buFont typeface="IBM Plex Sans"/>
                <a:buNone/>
              </a:pPr>
              <a:r>
                <a:rPr b="1" i="0" lang="en-US" sz="2800" u="none" cap="none" strike="noStrike">
                  <a:solidFill>
                    <a:srgbClr val="B24A17"/>
                  </a:solidFill>
                  <a:latin typeface="Comfortaa"/>
                  <a:ea typeface="Comfortaa"/>
                  <a:cs typeface="Comfortaa"/>
                  <a:sym typeface="Comfortaa"/>
                </a:rPr>
                <a:t>1</a:t>
              </a:r>
              <a:endParaRPr i="0" sz="2800" u="none" cap="none" strike="noStrike">
                <a:solidFill>
                  <a:schemeClr val="dk1"/>
                </a:solidFill>
                <a:latin typeface="Comfortaa"/>
                <a:ea typeface="Comfortaa"/>
                <a:cs typeface="Comfortaa"/>
                <a:sym typeface="Comfortaa"/>
              </a:endParaRPr>
            </a:p>
          </p:txBody>
        </p:sp>
        <p:sp>
          <p:nvSpPr>
            <p:cNvPr id="315" name="Google Shape;315;p27"/>
            <p:cNvSpPr/>
            <p:nvPr/>
          </p:nvSpPr>
          <p:spPr>
            <a:xfrm>
              <a:off x="1072092" y="2723090"/>
              <a:ext cx="2029735" cy="2844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C2230"/>
                </a:buClr>
                <a:buSzPts val="1700"/>
                <a:buFont typeface="IBM Plex Sans"/>
                <a:buNone/>
              </a:pPr>
              <a:r>
                <a:rPr b="1" i="0" lang="en-US" sz="1700" u="none" cap="none" strike="noStrike">
                  <a:solidFill>
                    <a:srgbClr val="1C2230"/>
                  </a:solidFill>
                  <a:latin typeface="Comfortaa"/>
                  <a:ea typeface="Comfortaa"/>
                  <a:cs typeface="Comfortaa"/>
                  <a:sym typeface="Comfortaa"/>
                </a:rPr>
                <a:t>Emulation</a:t>
              </a:r>
              <a:endParaRPr i="0" sz="1700" u="none" cap="none" strike="noStrike">
                <a:solidFill>
                  <a:schemeClr val="dk1"/>
                </a:solidFill>
                <a:latin typeface="Comfortaa"/>
                <a:ea typeface="Comfortaa"/>
                <a:cs typeface="Comfortaa"/>
                <a:sym typeface="Comfortaa"/>
              </a:endParaRPr>
            </a:p>
          </p:txBody>
        </p:sp>
        <p:sp>
          <p:nvSpPr>
            <p:cNvPr id="316" name="Google Shape;316;p27"/>
            <p:cNvSpPr/>
            <p:nvPr/>
          </p:nvSpPr>
          <p:spPr>
            <a:xfrm>
              <a:off x="1072092" y="3071075"/>
              <a:ext cx="2029735" cy="54102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1C2230"/>
                </a:buClr>
                <a:buSzPts val="1400"/>
                <a:buFont typeface="IBM Plex Sans"/>
                <a:buNone/>
              </a:pPr>
              <a:r>
                <a:rPr i="0" lang="en-US" sz="1400" u="none" cap="none" strike="noStrike">
                  <a:solidFill>
                    <a:srgbClr val="1C2230"/>
                  </a:solidFill>
                  <a:latin typeface="Comfortaa"/>
                  <a:ea typeface="Comfortaa"/>
                  <a:cs typeface="Comfortaa"/>
                  <a:sym typeface="Comfortaa"/>
                </a:rPr>
                <a:t>QEMU imitates a real device.</a:t>
              </a:r>
              <a:endParaRPr i="0" sz="1400" u="none" cap="none" strike="noStrike">
                <a:solidFill>
                  <a:schemeClr val="dk1"/>
                </a:solidFill>
                <a:latin typeface="Comfortaa"/>
                <a:ea typeface="Comfortaa"/>
                <a:cs typeface="Comfortaa"/>
                <a:sym typeface="Comfortaa"/>
              </a:endParaRPr>
            </a:p>
          </p:txBody>
        </p:sp>
      </p:grpSp>
      <p:grpSp>
        <p:nvGrpSpPr>
          <p:cNvPr id="317" name="Google Shape;317;p27"/>
          <p:cNvGrpSpPr/>
          <p:nvPr/>
        </p:nvGrpSpPr>
        <p:grpSpPr>
          <a:xfrm>
            <a:off x="4910825" y="2397608"/>
            <a:ext cx="2482850" cy="1962573"/>
            <a:chOff x="3508375" y="1880233"/>
            <a:chExt cx="2482850" cy="1962573"/>
          </a:xfrm>
        </p:grpSpPr>
        <p:sp>
          <p:nvSpPr>
            <p:cNvPr id="318" name="Google Shape;318;p27"/>
            <p:cNvSpPr/>
            <p:nvPr/>
          </p:nvSpPr>
          <p:spPr>
            <a:xfrm>
              <a:off x="3508375" y="1880233"/>
              <a:ext cx="2482850" cy="1962573"/>
            </a:xfrm>
            <a:prstGeom prst="roundRect">
              <a:avLst>
                <a:gd fmla="val 5015" name="adj"/>
              </a:avLst>
            </a:prstGeom>
            <a:solidFill>
              <a:srgbClr val="FDFCF9"/>
            </a:solidFill>
            <a:ln cap="flat" cmpd="sng" w="9525">
              <a:solidFill>
                <a:srgbClr val="D9D4C9"/>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omfortaa"/>
                <a:ea typeface="Comfortaa"/>
                <a:cs typeface="Comfortaa"/>
                <a:sym typeface="Comfortaa"/>
              </a:endParaRPr>
            </a:p>
          </p:txBody>
        </p:sp>
        <p:sp>
          <p:nvSpPr>
            <p:cNvPr id="319" name="Google Shape;319;p27"/>
            <p:cNvSpPr/>
            <p:nvPr/>
          </p:nvSpPr>
          <p:spPr>
            <a:xfrm>
              <a:off x="3764492" y="2136353"/>
              <a:ext cx="2029735" cy="5232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4A17"/>
                </a:buClr>
                <a:buSzPts val="2800"/>
                <a:buFont typeface="IBM Plex Sans"/>
                <a:buNone/>
              </a:pPr>
              <a:r>
                <a:rPr b="1" i="0" lang="en-US" sz="2800" u="none" cap="none" strike="noStrike">
                  <a:solidFill>
                    <a:srgbClr val="B24A17"/>
                  </a:solidFill>
                  <a:latin typeface="Comfortaa"/>
                  <a:ea typeface="Comfortaa"/>
                  <a:cs typeface="Comfortaa"/>
                  <a:sym typeface="Comfortaa"/>
                </a:rPr>
                <a:t>2</a:t>
              </a:r>
              <a:endParaRPr i="0" sz="2800" u="none" cap="none" strike="noStrike">
                <a:solidFill>
                  <a:schemeClr val="dk1"/>
                </a:solidFill>
                <a:latin typeface="Comfortaa"/>
                <a:ea typeface="Comfortaa"/>
                <a:cs typeface="Comfortaa"/>
                <a:sym typeface="Comfortaa"/>
              </a:endParaRPr>
            </a:p>
          </p:txBody>
        </p:sp>
        <p:sp>
          <p:nvSpPr>
            <p:cNvPr id="320" name="Google Shape;320;p27"/>
            <p:cNvSpPr/>
            <p:nvPr/>
          </p:nvSpPr>
          <p:spPr>
            <a:xfrm>
              <a:off x="3764492" y="2723090"/>
              <a:ext cx="2029735" cy="2844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C2230"/>
                </a:buClr>
                <a:buSzPts val="1700"/>
                <a:buFont typeface="IBM Plex Sans"/>
                <a:buNone/>
              </a:pPr>
              <a:r>
                <a:rPr b="1" i="0" lang="en-US" sz="1700" u="none" cap="none" strike="noStrike">
                  <a:solidFill>
                    <a:srgbClr val="1C2230"/>
                  </a:solidFill>
                  <a:latin typeface="Comfortaa"/>
                  <a:ea typeface="Comfortaa"/>
                  <a:cs typeface="Comfortaa"/>
                  <a:sym typeface="Comfortaa"/>
                </a:rPr>
                <a:t>Paravirtualization</a:t>
              </a:r>
              <a:endParaRPr i="0" sz="1700" u="none" cap="none" strike="noStrike">
                <a:solidFill>
                  <a:schemeClr val="dk1"/>
                </a:solidFill>
                <a:latin typeface="Comfortaa"/>
                <a:ea typeface="Comfortaa"/>
                <a:cs typeface="Comfortaa"/>
                <a:sym typeface="Comfortaa"/>
              </a:endParaRPr>
            </a:p>
          </p:txBody>
        </p:sp>
        <p:sp>
          <p:nvSpPr>
            <p:cNvPr id="321" name="Google Shape;321;p27"/>
            <p:cNvSpPr/>
            <p:nvPr/>
          </p:nvSpPr>
          <p:spPr>
            <a:xfrm>
              <a:off x="3764501" y="3071075"/>
              <a:ext cx="2226600" cy="54090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1C2230"/>
                </a:buClr>
                <a:buSzPts val="1400"/>
                <a:buFont typeface="IBM Plex Sans"/>
                <a:buNone/>
              </a:pPr>
              <a:r>
                <a:rPr i="0" lang="en-US" sz="1400" u="none" cap="none" strike="noStrike">
                  <a:solidFill>
                    <a:srgbClr val="1C2230"/>
                  </a:solidFill>
                  <a:latin typeface="Comfortaa"/>
                  <a:ea typeface="Comfortaa"/>
                  <a:cs typeface="Comfortaa"/>
                  <a:sym typeface="Comfortaa"/>
                </a:rPr>
                <a:t>An interface designed for VMs: virt</a:t>
              </a:r>
              <a:r>
                <a:rPr lang="en-US">
                  <a:solidFill>
                    <a:srgbClr val="1C2230"/>
                  </a:solidFill>
                  <a:latin typeface="Comfortaa"/>
                  <a:ea typeface="Comfortaa"/>
                  <a:cs typeface="Comfortaa"/>
                  <a:sym typeface="Comfortaa"/>
                </a:rPr>
                <a:t>IO</a:t>
              </a:r>
              <a:r>
                <a:rPr i="0" lang="en-US" sz="1400" u="none" cap="none" strike="noStrike">
                  <a:solidFill>
                    <a:srgbClr val="1C2230"/>
                  </a:solidFill>
                  <a:latin typeface="Comfortaa"/>
                  <a:ea typeface="Comfortaa"/>
                  <a:cs typeface="Comfortaa"/>
                  <a:sym typeface="Comfortaa"/>
                </a:rPr>
                <a:t>.</a:t>
              </a:r>
              <a:endParaRPr i="0" sz="1400" u="none" cap="none" strike="noStrike">
                <a:solidFill>
                  <a:schemeClr val="dk1"/>
                </a:solidFill>
                <a:latin typeface="Comfortaa"/>
                <a:ea typeface="Comfortaa"/>
                <a:cs typeface="Comfortaa"/>
                <a:sym typeface="Comfortaa"/>
              </a:endParaRPr>
            </a:p>
          </p:txBody>
        </p:sp>
      </p:grpSp>
      <p:grpSp>
        <p:nvGrpSpPr>
          <p:cNvPr id="322" name="Google Shape;322;p27"/>
          <p:cNvGrpSpPr/>
          <p:nvPr/>
        </p:nvGrpSpPr>
        <p:grpSpPr>
          <a:xfrm>
            <a:off x="8718450" y="2435696"/>
            <a:ext cx="2482800" cy="1962600"/>
            <a:chOff x="6200775" y="1880233"/>
            <a:chExt cx="2482800" cy="1962600"/>
          </a:xfrm>
        </p:grpSpPr>
        <p:sp>
          <p:nvSpPr>
            <p:cNvPr id="323" name="Google Shape;323;p27"/>
            <p:cNvSpPr/>
            <p:nvPr/>
          </p:nvSpPr>
          <p:spPr>
            <a:xfrm>
              <a:off x="6200775" y="1880233"/>
              <a:ext cx="2482800" cy="1962600"/>
            </a:xfrm>
            <a:prstGeom prst="roundRect">
              <a:avLst>
                <a:gd fmla="val 5015" name="adj"/>
              </a:avLst>
            </a:prstGeom>
            <a:solidFill>
              <a:srgbClr val="FDFCF9"/>
            </a:solidFill>
            <a:ln cap="flat" cmpd="sng" w="9525">
              <a:solidFill>
                <a:srgbClr val="D9D4C9"/>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omfortaa"/>
                <a:ea typeface="Comfortaa"/>
                <a:cs typeface="Comfortaa"/>
                <a:sym typeface="Comfortaa"/>
              </a:endParaRPr>
            </a:p>
          </p:txBody>
        </p:sp>
        <p:sp>
          <p:nvSpPr>
            <p:cNvPr id="324" name="Google Shape;324;p27"/>
            <p:cNvSpPr/>
            <p:nvPr/>
          </p:nvSpPr>
          <p:spPr>
            <a:xfrm>
              <a:off x="6456892" y="2136353"/>
              <a:ext cx="2029735" cy="5232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4A17"/>
                </a:buClr>
                <a:buSzPts val="2800"/>
                <a:buFont typeface="IBM Plex Sans"/>
                <a:buNone/>
              </a:pPr>
              <a:r>
                <a:rPr b="1" i="0" lang="en-US" sz="2800" u="none" cap="none" strike="noStrike">
                  <a:solidFill>
                    <a:srgbClr val="B24A17"/>
                  </a:solidFill>
                  <a:latin typeface="Comfortaa"/>
                  <a:ea typeface="Comfortaa"/>
                  <a:cs typeface="Comfortaa"/>
                  <a:sym typeface="Comfortaa"/>
                </a:rPr>
                <a:t>3</a:t>
              </a:r>
              <a:endParaRPr i="0" sz="2800" u="none" cap="none" strike="noStrike">
                <a:solidFill>
                  <a:schemeClr val="dk1"/>
                </a:solidFill>
                <a:latin typeface="Comfortaa"/>
                <a:ea typeface="Comfortaa"/>
                <a:cs typeface="Comfortaa"/>
                <a:sym typeface="Comfortaa"/>
              </a:endParaRPr>
            </a:p>
          </p:txBody>
        </p:sp>
        <p:sp>
          <p:nvSpPr>
            <p:cNvPr id="325" name="Google Shape;325;p27"/>
            <p:cNvSpPr/>
            <p:nvPr/>
          </p:nvSpPr>
          <p:spPr>
            <a:xfrm>
              <a:off x="6456892" y="2723090"/>
              <a:ext cx="2029735" cy="2844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C2230"/>
                </a:buClr>
                <a:buSzPts val="1700"/>
                <a:buFont typeface="IBM Plex Sans"/>
                <a:buNone/>
              </a:pPr>
              <a:r>
                <a:rPr b="1" i="0" lang="en-US" sz="1700" u="none" cap="none" strike="noStrike">
                  <a:solidFill>
                    <a:srgbClr val="1C2230"/>
                  </a:solidFill>
                  <a:latin typeface="Comfortaa"/>
                  <a:ea typeface="Comfortaa"/>
                  <a:cs typeface="Comfortaa"/>
                  <a:sym typeface="Comfortaa"/>
                </a:rPr>
                <a:t>Passthrough</a:t>
              </a:r>
              <a:endParaRPr i="0" sz="1700" u="none" cap="none" strike="noStrike">
                <a:solidFill>
                  <a:schemeClr val="dk1"/>
                </a:solidFill>
                <a:latin typeface="Comfortaa"/>
                <a:ea typeface="Comfortaa"/>
                <a:cs typeface="Comfortaa"/>
                <a:sym typeface="Comfortaa"/>
              </a:endParaRPr>
            </a:p>
          </p:txBody>
        </p:sp>
        <p:sp>
          <p:nvSpPr>
            <p:cNvPr id="326" name="Google Shape;326;p27"/>
            <p:cNvSpPr/>
            <p:nvPr/>
          </p:nvSpPr>
          <p:spPr>
            <a:xfrm>
              <a:off x="6456892" y="3071075"/>
              <a:ext cx="2029735" cy="54102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1C2230"/>
                </a:buClr>
                <a:buSzPts val="1400"/>
                <a:buFont typeface="IBM Plex Sans"/>
                <a:buNone/>
              </a:pPr>
              <a:r>
                <a:rPr i="0" lang="en-US" sz="1400" u="none" cap="none" strike="noStrike">
                  <a:solidFill>
                    <a:srgbClr val="1C2230"/>
                  </a:solidFill>
                  <a:latin typeface="Comfortaa"/>
                  <a:ea typeface="Comfortaa"/>
                  <a:cs typeface="Comfortaa"/>
                  <a:sym typeface="Comfortaa"/>
                </a:rPr>
                <a:t>The real device, handed over via VFIO.</a:t>
              </a:r>
              <a:endParaRPr i="0" sz="1400" u="none" cap="none" strike="noStrike">
                <a:solidFill>
                  <a:schemeClr val="dk1"/>
                </a:solidFill>
                <a:latin typeface="Comfortaa"/>
                <a:ea typeface="Comfortaa"/>
                <a:cs typeface="Comfortaa"/>
                <a:sym typeface="Comfortaa"/>
              </a:endParaRPr>
            </a:p>
          </p:txBody>
        </p:sp>
      </p:grpSp>
      <p:cxnSp>
        <p:nvCxnSpPr>
          <p:cNvPr id="327" name="Google Shape;327;p27"/>
          <p:cNvCxnSpPr/>
          <p:nvPr/>
        </p:nvCxnSpPr>
        <p:spPr>
          <a:xfrm>
            <a:off x="776825" y="5335410"/>
            <a:ext cx="0" cy="386100"/>
          </a:xfrm>
          <a:prstGeom prst="straightConnector1">
            <a:avLst/>
          </a:prstGeom>
          <a:noFill/>
          <a:ln cap="flat" cmpd="sng" w="38100">
            <a:solidFill>
              <a:srgbClr val="B24A17"/>
            </a:solidFill>
            <a:prstDash val="solid"/>
            <a:round/>
            <a:headEnd len="sm" w="sm" type="none"/>
            <a:tailEnd len="sm" w="sm" type="none"/>
          </a:ln>
        </p:spPr>
      </p:cxnSp>
      <p:sp>
        <p:nvSpPr>
          <p:cNvPr id="328" name="Google Shape;328;p27"/>
          <p:cNvSpPr/>
          <p:nvPr/>
        </p:nvSpPr>
        <p:spPr>
          <a:xfrm>
            <a:off x="972617" y="5386210"/>
            <a:ext cx="10662000" cy="309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230"/>
              </a:buClr>
              <a:buSzPts val="1600"/>
              <a:buFont typeface="IBM Plex Sans"/>
              <a:buNone/>
            </a:pPr>
            <a:r>
              <a:rPr i="0" lang="en-US" sz="1600" u="none" cap="none" strike="noStrike">
                <a:solidFill>
                  <a:srgbClr val="1C2230"/>
                </a:solidFill>
                <a:latin typeface="Comfortaa"/>
                <a:ea typeface="Comfortaa"/>
                <a:cs typeface="Comfortaa"/>
                <a:sym typeface="Comfortaa"/>
              </a:rPr>
              <a:t>Going down the list, speed rises and the hypervisor loses control of memory.</a:t>
            </a:r>
            <a:endParaRPr i="0" sz="1600" u="none" cap="none" strike="noStrike">
              <a:solidFill>
                <a:schemeClr val="dk1"/>
              </a:solidFill>
              <a:latin typeface="Comfortaa"/>
              <a:ea typeface="Comfortaa"/>
              <a:cs typeface="Comfortaa"/>
              <a:sym typeface="Comfortaa"/>
            </a:endParaRPr>
          </a:p>
        </p:txBody>
      </p:sp>
      <p:sp>
        <p:nvSpPr>
          <p:cNvPr id="329" name="Google Shape;329;p27"/>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E"/>
        </a:solidFill>
      </p:bgPr>
    </p:bg>
    <p:spTree>
      <p:nvGrpSpPr>
        <p:cNvPr id="334" name="Shape 334"/>
        <p:cNvGrpSpPr/>
        <p:nvPr/>
      </p:nvGrpSpPr>
      <p:grpSpPr>
        <a:xfrm>
          <a:off x="0" y="0"/>
          <a:ext cx="0" cy="0"/>
          <a:chOff x="0" y="0"/>
          <a:chExt cx="0" cy="0"/>
        </a:xfrm>
      </p:grpSpPr>
      <p:sp>
        <p:nvSpPr>
          <p:cNvPr id="335" name="Google Shape;335;p28"/>
          <p:cNvSpPr txBox="1"/>
          <p:nvPr>
            <p:ph type="title"/>
          </p:nvPr>
        </p:nvSpPr>
        <p:spPr>
          <a:xfrm>
            <a:off x="812800" y="1102358"/>
            <a:ext cx="10883392" cy="4445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C2230"/>
              </a:buClr>
              <a:buSzPct val="100000"/>
              <a:buFont typeface="IBM Plex Sans"/>
              <a:buNone/>
            </a:pPr>
            <a:r>
              <a:rPr b="1" i="0" lang="en-US" sz="3000">
                <a:solidFill>
                  <a:srgbClr val="1C2230"/>
                </a:solidFill>
                <a:latin typeface="Comfortaa"/>
                <a:ea typeface="Comfortaa"/>
                <a:cs typeface="Comfortaa"/>
                <a:sym typeface="Comfortaa"/>
              </a:rPr>
              <a:t>Emulation: one VM exit per access</a:t>
            </a:r>
            <a:endParaRPr sz="3000">
              <a:latin typeface="Comfortaa"/>
              <a:ea typeface="Comfortaa"/>
              <a:cs typeface="Comfortaa"/>
              <a:sym typeface="Comfortaa"/>
            </a:endParaRPr>
          </a:p>
        </p:txBody>
      </p:sp>
      <p:cxnSp>
        <p:nvCxnSpPr>
          <p:cNvPr id="336" name="Google Shape;336;p28"/>
          <p:cNvCxnSpPr/>
          <p:nvPr/>
        </p:nvCxnSpPr>
        <p:spPr>
          <a:xfrm>
            <a:off x="774275" y="5883785"/>
            <a:ext cx="0" cy="386100"/>
          </a:xfrm>
          <a:prstGeom prst="straightConnector1">
            <a:avLst/>
          </a:prstGeom>
          <a:noFill/>
          <a:ln cap="flat" cmpd="sng" w="38100">
            <a:solidFill>
              <a:srgbClr val="B24A17"/>
            </a:solidFill>
            <a:prstDash val="solid"/>
            <a:round/>
            <a:headEnd len="sm" w="sm" type="none"/>
            <a:tailEnd len="sm" w="sm" type="none"/>
          </a:ln>
        </p:spPr>
      </p:cxnSp>
      <p:sp>
        <p:nvSpPr>
          <p:cNvPr id="337" name="Google Shape;337;p28"/>
          <p:cNvSpPr/>
          <p:nvPr/>
        </p:nvSpPr>
        <p:spPr>
          <a:xfrm>
            <a:off x="945117" y="5921885"/>
            <a:ext cx="10662000" cy="309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230"/>
              </a:buClr>
              <a:buSzPts val="1600"/>
              <a:buFont typeface="IBM Plex Sans"/>
              <a:buNone/>
            </a:pPr>
            <a:r>
              <a:rPr i="0" lang="en-US" sz="1600" u="none" cap="none" strike="noStrike">
                <a:solidFill>
                  <a:srgbClr val="1C2230"/>
                </a:solidFill>
                <a:latin typeface="Comfortaa"/>
                <a:ea typeface="Comfortaa"/>
                <a:cs typeface="Comfortaa"/>
                <a:sym typeface="Comfortaa"/>
              </a:rPr>
              <a:t>Works with any guest. Costs a full round trip to userspace per register access.</a:t>
            </a:r>
            <a:endParaRPr i="0" sz="1600" u="none" cap="none" strike="noStrike">
              <a:solidFill>
                <a:schemeClr val="dk1"/>
              </a:solidFill>
              <a:latin typeface="Comfortaa"/>
              <a:ea typeface="Comfortaa"/>
              <a:cs typeface="Comfortaa"/>
              <a:sym typeface="Comfortaa"/>
            </a:endParaRPr>
          </a:p>
        </p:txBody>
      </p:sp>
      <p:sp>
        <p:nvSpPr>
          <p:cNvPr id="338" name="Google Shape;338;p28"/>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339" name="Google Shape;339;p28"/>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rtl="0" algn="r">
              <a:lnSpc>
                <a:spcPct val="140000"/>
              </a:lnSpc>
              <a:spcBef>
                <a:spcPts val="0"/>
              </a:spcBef>
              <a:spcAft>
                <a:spcPts val="0"/>
              </a:spcAft>
              <a:buClr>
                <a:schemeClr val="accent1"/>
              </a:buClr>
              <a:buSzPts val="1200"/>
              <a:buFont typeface="IBM Plex Mono"/>
              <a:buNone/>
            </a:pPr>
            <a:r>
              <a:rPr lang="en-US" sz="1200">
                <a:solidFill>
                  <a:schemeClr val="accent1"/>
                </a:solidFill>
                <a:latin typeface="Comfortaa"/>
                <a:ea typeface="Comfortaa"/>
                <a:cs typeface="Comfortaa"/>
                <a:sym typeface="Comfortaa"/>
              </a:rPr>
              <a:t>III · DEVICE VIRTUALIZATION</a:t>
            </a:r>
            <a:endParaRPr sz="1200">
              <a:solidFill>
                <a:schemeClr val="dk1"/>
              </a:solidFill>
              <a:latin typeface="Comfortaa"/>
              <a:ea typeface="Comfortaa"/>
              <a:cs typeface="Comfortaa"/>
              <a:sym typeface="Comfortaa"/>
            </a:endParaRPr>
          </a:p>
          <a:p>
            <a:pPr indent="0" lvl="0" marL="0" marR="0" rtl="0" algn="r">
              <a:lnSpc>
                <a:spcPct val="140000"/>
              </a:lnSpc>
              <a:spcBef>
                <a:spcPts val="0"/>
              </a:spcBef>
              <a:spcAft>
                <a:spcPts val="0"/>
              </a:spcAft>
              <a:buClr>
                <a:srgbClr val="B24A17"/>
              </a:buClr>
              <a:buSzPts val="1200"/>
              <a:buFont typeface="IBM Plex Mono"/>
              <a:buNone/>
            </a:pPr>
            <a:r>
              <a:t/>
            </a:r>
            <a:endParaRPr sz="1200">
              <a:solidFill>
                <a:srgbClr val="B24A17"/>
              </a:solidFill>
              <a:latin typeface="Comfortaa"/>
              <a:ea typeface="Comfortaa"/>
              <a:cs typeface="Comfortaa"/>
              <a:sym typeface="Comfortaa"/>
            </a:endParaRPr>
          </a:p>
        </p:txBody>
      </p:sp>
      <p:pic>
        <p:nvPicPr>
          <p:cNvPr id="340" name="Google Shape;340;p28"/>
          <p:cNvPicPr preferRelativeResize="0"/>
          <p:nvPr/>
        </p:nvPicPr>
        <p:blipFill>
          <a:blip r:embed="rId3">
            <a:alphaModFix/>
          </a:blip>
          <a:stretch>
            <a:fillRect/>
          </a:stretch>
        </p:blipFill>
        <p:spPr>
          <a:xfrm>
            <a:off x="1792575" y="1843101"/>
            <a:ext cx="4386597" cy="407877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E"/>
        </a:solidFill>
      </p:bgPr>
    </p:bg>
    <p:spTree>
      <p:nvGrpSpPr>
        <p:cNvPr id="345" name="Shape 345"/>
        <p:cNvGrpSpPr/>
        <p:nvPr/>
      </p:nvGrpSpPr>
      <p:grpSpPr>
        <a:xfrm>
          <a:off x="0" y="0"/>
          <a:ext cx="0" cy="0"/>
          <a:chOff x="0" y="0"/>
          <a:chExt cx="0" cy="0"/>
        </a:xfrm>
      </p:grpSpPr>
      <p:sp>
        <p:nvSpPr>
          <p:cNvPr id="346" name="Google Shape;346;p29"/>
          <p:cNvSpPr txBox="1"/>
          <p:nvPr>
            <p:ph type="title"/>
          </p:nvPr>
        </p:nvSpPr>
        <p:spPr>
          <a:xfrm>
            <a:off x="812800" y="1102358"/>
            <a:ext cx="10883400" cy="4446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C2230"/>
              </a:buClr>
              <a:buSzPct val="100000"/>
              <a:buFont typeface="IBM Plex Sans"/>
              <a:buNone/>
            </a:pPr>
            <a:r>
              <a:rPr b="1" i="0" lang="en-US" sz="3000">
                <a:solidFill>
                  <a:srgbClr val="1C2230"/>
                </a:solidFill>
                <a:latin typeface="Comfortaa"/>
                <a:ea typeface="Comfortaa"/>
                <a:cs typeface="Comfortaa"/>
                <a:sym typeface="Comfortaa"/>
              </a:rPr>
              <a:t>Emulation: one VM exit per access</a:t>
            </a:r>
            <a:endParaRPr sz="3000">
              <a:latin typeface="Comfortaa"/>
              <a:ea typeface="Comfortaa"/>
              <a:cs typeface="Comfortaa"/>
              <a:sym typeface="Comfortaa"/>
            </a:endParaRPr>
          </a:p>
        </p:txBody>
      </p:sp>
      <p:cxnSp>
        <p:nvCxnSpPr>
          <p:cNvPr id="347" name="Google Shape;347;p29"/>
          <p:cNvCxnSpPr/>
          <p:nvPr/>
        </p:nvCxnSpPr>
        <p:spPr>
          <a:xfrm>
            <a:off x="774275" y="5883785"/>
            <a:ext cx="0" cy="386100"/>
          </a:xfrm>
          <a:prstGeom prst="straightConnector1">
            <a:avLst/>
          </a:prstGeom>
          <a:noFill/>
          <a:ln cap="flat" cmpd="sng" w="38100">
            <a:solidFill>
              <a:srgbClr val="B24A17"/>
            </a:solidFill>
            <a:prstDash val="solid"/>
            <a:round/>
            <a:headEnd len="sm" w="sm" type="none"/>
            <a:tailEnd len="sm" w="sm" type="none"/>
          </a:ln>
        </p:spPr>
      </p:cxnSp>
      <p:sp>
        <p:nvSpPr>
          <p:cNvPr id="348" name="Google Shape;348;p29"/>
          <p:cNvSpPr/>
          <p:nvPr/>
        </p:nvSpPr>
        <p:spPr>
          <a:xfrm>
            <a:off x="945117" y="5921885"/>
            <a:ext cx="10662000" cy="309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230"/>
              </a:buClr>
              <a:buSzPts val="1600"/>
              <a:buFont typeface="IBM Plex Sans"/>
              <a:buNone/>
            </a:pPr>
            <a:r>
              <a:rPr i="0" lang="en-US" sz="1600" u="none" cap="none" strike="noStrike">
                <a:solidFill>
                  <a:srgbClr val="1C2230"/>
                </a:solidFill>
                <a:latin typeface="Comfortaa"/>
                <a:ea typeface="Comfortaa"/>
                <a:cs typeface="Comfortaa"/>
                <a:sym typeface="Comfortaa"/>
              </a:rPr>
              <a:t>Works with any guest. Costs a full round trip to userspace per register access.</a:t>
            </a:r>
            <a:endParaRPr i="0" sz="1600" u="none" cap="none" strike="noStrike">
              <a:solidFill>
                <a:schemeClr val="dk1"/>
              </a:solidFill>
              <a:latin typeface="Comfortaa"/>
              <a:ea typeface="Comfortaa"/>
              <a:cs typeface="Comfortaa"/>
              <a:sym typeface="Comfortaa"/>
            </a:endParaRPr>
          </a:p>
        </p:txBody>
      </p:sp>
      <p:sp>
        <p:nvSpPr>
          <p:cNvPr id="349" name="Google Shape;349;p29"/>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350" name="Google Shape;350;p29"/>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rtl="0" algn="r">
              <a:lnSpc>
                <a:spcPct val="140000"/>
              </a:lnSpc>
              <a:spcBef>
                <a:spcPts val="0"/>
              </a:spcBef>
              <a:spcAft>
                <a:spcPts val="0"/>
              </a:spcAft>
              <a:buClr>
                <a:schemeClr val="accent1"/>
              </a:buClr>
              <a:buSzPts val="1200"/>
              <a:buFont typeface="IBM Plex Mono"/>
              <a:buNone/>
            </a:pPr>
            <a:r>
              <a:rPr lang="en-US" sz="1200">
                <a:solidFill>
                  <a:schemeClr val="accent1"/>
                </a:solidFill>
                <a:latin typeface="Comfortaa"/>
                <a:ea typeface="Comfortaa"/>
                <a:cs typeface="Comfortaa"/>
                <a:sym typeface="Comfortaa"/>
              </a:rPr>
              <a:t>III · DEVICE VIRTUALIZATION</a:t>
            </a:r>
            <a:endParaRPr sz="1200">
              <a:solidFill>
                <a:schemeClr val="dk1"/>
              </a:solidFill>
              <a:latin typeface="Comfortaa"/>
              <a:ea typeface="Comfortaa"/>
              <a:cs typeface="Comfortaa"/>
              <a:sym typeface="Comfortaa"/>
            </a:endParaRPr>
          </a:p>
          <a:p>
            <a:pPr indent="0" lvl="0" marL="0" marR="0" rtl="0" algn="r">
              <a:lnSpc>
                <a:spcPct val="140000"/>
              </a:lnSpc>
              <a:spcBef>
                <a:spcPts val="0"/>
              </a:spcBef>
              <a:spcAft>
                <a:spcPts val="0"/>
              </a:spcAft>
              <a:buClr>
                <a:srgbClr val="B24A17"/>
              </a:buClr>
              <a:buSzPts val="1200"/>
              <a:buFont typeface="IBM Plex Mono"/>
              <a:buNone/>
            </a:pPr>
            <a:r>
              <a:t/>
            </a:r>
            <a:endParaRPr sz="1200">
              <a:solidFill>
                <a:srgbClr val="B24A17"/>
              </a:solidFill>
              <a:latin typeface="Comfortaa"/>
              <a:ea typeface="Comfortaa"/>
              <a:cs typeface="Comfortaa"/>
              <a:sym typeface="Comfortaa"/>
            </a:endParaRPr>
          </a:p>
        </p:txBody>
      </p:sp>
      <p:pic>
        <p:nvPicPr>
          <p:cNvPr id="351" name="Google Shape;351;p29"/>
          <p:cNvPicPr preferRelativeResize="0"/>
          <p:nvPr/>
        </p:nvPicPr>
        <p:blipFill>
          <a:blip r:embed="rId3">
            <a:alphaModFix/>
          </a:blip>
          <a:stretch>
            <a:fillRect/>
          </a:stretch>
        </p:blipFill>
        <p:spPr>
          <a:xfrm>
            <a:off x="1792575" y="1843101"/>
            <a:ext cx="4386597" cy="4078775"/>
          </a:xfrm>
          <a:prstGeom prst="rect">
            <a:avLst/>
          </a:prstGeom>
          <a:noFill/>
          <a:ln>
            <a:noFill/>
          </a:ln>
          <a:effectLst>
            <a:outerShdw blurRad="57150" rotWithShape="0" algn="bl" dir="5400000" dist="19050">
              <a:srgbClr val="000000">
                <a:alpha val="50000"/>
              </a:srgbClr>
            </a:outerShdw>
          </a:effectLst>
        </p:spPr>
      </p:pic>
      <p:pic>
        <p:nvPicPr>
          <p:cNvPr id="352" name="Google Shape;352;p29"/>
          <p:cNvPicPr preferRelativeResize="0"/>
          <p:nvPr/>
        </p:nvPicPr>
        <p:blipFill>
          <a:blip r:embed="rId4">
            <a:alphaModFix/>
          </a:blip>
          <a:stretch>
            <a:fillRect/>
          </a:stretch>
        </p:blipFill>
        <p:spPr>
          <a:xfrm>
            <a:off x="4299550" y="2280350"/>
            <a:ext cx="671500" cy="87295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E"/>
        </a:solidFill>
      </p:bgPr>
    </p:bg>
    <p:spTree>
      <p:nvGrpSpPr>
        <p:cNvPr id="357" name="Shape 357"/>
        <p:cNvGrpSpPr/>
        <p:nvPr/>
      </p:nvGrpSpPr>
      <p:grpSpPr>
        <a:xfrm>
          <a:off x="0" y="0"/>
          <a:ext cx="0" cy="0"/>
          <a:chOff x="0" y="0"/>
          <a:chExt cx="0" cy="0"/>
        </a:xfrm>
      </p:grpSpPr>
      <p:sp>
        <p:nvSpPr>
          <p:cNvPr id="358" name="Google Shape;358;p30"/>
          <p:cNvSpPr txBox="1"/>
          <p:nvPr>
            <p:ph type="title"/>
          </p:nvPr>
        </p:nvSpPr>
        <p:spPr>
          <a:xfrm>
            <a:off x="812800" y="1102358"/>
            <a:ext cx="10883392" cy="4445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C2230"/>
              </a:buClr>
              <a:buSzPct val="100000"/>
              <a:buFont typeface="IBM Plex Sans"/>
              <a:buNone/>
            </a:pPr>
            <a:r>
              <a:rPr b="1" lang="en-US">
                <a:latin typeface="Comfortaa"/>
                <a:ea typeface="Comfortaa"/>
                <a:cs typeface="Comfortaa"/>
                <a:sym typeface="Comfortaa"/>
              </a:rPr>
              <a:t>Paravirtualization</a:t>
            </a:r>
            <a:endParaRPr sz="3000">
              <a:latin typeface="Comfortaa"/>
              <a:ea typeface="Comfortaa"/>
              <a:cs typeface="Comfortaa"/>
              <a:sym typeface="Comfortaa"/>
            </a:endParaRPr>
          </a:p>
        </p:txBody>
      </p:sp>
      <p:sp>
        <p:nvSpPr>
          <p:cNvPr id="359" name="Google Shape;359;p30"/>
          <p:cNvSpPr/>
          <p:nvPr/>
        </p:nvSpPr>
        <p:spPr>
          <a:xfrm>
            <a:off x="817613" y="2705833"/>
            <a:ext cx="3075600" cy="1904100"/>
          </a:xfrm>
          <a:prstGeom prst="roundRect">
            <a:avLst>
              <a:gd fmla="val 5169" name="adj"/>
            </a:avLst>
          </a:prstGeom>
          <a:solidFill>
            <a:srgbClr val="FDFCF9"/>
          </a:solidFill>
          <a:ln cap="flat" cmpd="sng" w="9525">
            <a:solidFill>
              <a:srgbClr val="D9D4C9"/>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omfortaa"/>
              <a:ea typeface="Comfortaa"/>
              <a:cs typeface="Comfortaa"/>
              <a:sym typeface="Comfortaa"/>
            </a:endParaRPr>
          </a:p>
        </p:txBody>
      </p:sp>
      <p:sp>
        <p:nvSpPr>
          <p:cNvPr id="360" name="Google Shape;360;p30"/>
          <p:cNvSpPr/>
          <p:nvPr/>
        </p:nvSpPr>
        <p:spPr>
          <a:xfrm>
            <a:off x="1073729" y="2961953"/>
            <a:ext cx="2640300" cy="28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C2230"/>
              </a:buClr>
              <a:buSzPts val="1700"/>
              <a:buFont typeface="IBM Plex Sans"/>
              <a:buNone/>
            </a:pPr>
            <a:r>
              <a:rPr b="1" i="0" lang="en-US" sz="1700" u="none" cap="none" strike="noStrike">
                <a:solidFill>
                  <a:srgbClr val="1C2230"/>
                </a:solidFill>
                <a:latin typeface="Comfortaa"/>
                <a:ea typeface="Comfortaa"/>
                <a:cs typeface="Comfortaa"/>
                <a:sym typeface="Comfortaa"/>
              </a:rPr>
              <a:t>virt</a:t>
            </a:r>
            <a:r>
              <a:rPr b="1" lang="en-US" sz="1700">
                <a:solidFill>
                  <a:srgbClr val="1C2230"/>
                </a:solidFill>
                <a:latin typeface="Comfortaa"/>
                <a:ea typeface="Comfortaa"/>
                <a:cs typeface="Comfortaa"/>
                <a:sym typeface="Comfortaa"/>
              </a:rPr>
              <a:t>IO</a:t>
            </a:r>
            <a:endParaRPr i="0" sz="1700" u="none" cap="none" strike="noStrike">
              <a:solidFill>
                <a:schemeClr val="dk1"/>
              </a:solidFill>
              <a:latin typeface="Comfortaa"/>
              <a:ea typeface="Comfortaa"/>
              <a:cs typeface="Comfortaa"/>
              <a:sym typeface="Comfortaa"/>
            </a:endParaRPr>
          </a:p>
        </p:txBody>
      </p:sp>
      <p:sp>
        <p:nvSpPr>
          <p:cNvPr id="361" name="Google Shape;361;p30"/>
          <p:cNvSpPr/>
          <p:nvPr/>
        </p:nvSpPr>
        <p:spPr>
          <a:xfrm>
            <a:off x="1073729" y="3322632"/>
            <a:ext cx="2640300" cy="79890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1C2230"/>
              </a:buClr>
              <a:buSzPts val="1400"/>
              <a:buFont typeface="IBM Plex Sans"/>
              <a:buNone/>
            </a:pPr>
            <a:r>
              <a:rPr i="0" lang="en-US" sz="1400" u="none" cap="none" strike="noStrike">
                <a:solidFill>
                  <a:srgbClr val="1C2230"/>
                </a:solidFill>
                <a:latin typeface="Comfortaa"/>
                <a:ea typeface="Comfortaa"/>
                <a:cs typeface="Comfortaa"/>
                <a:sym typeface="Comfortaa"/>
              </a:rPr>
              <a:t>Virtqueues in shared memory: one notification per batch instead of an exit per register.</a:t>
            </a:r>
            <a:endParaRPr i="0" sz="1400" u="none" cap="none" strike="noStrike">
              <a:solidFill>
                <a:schemeClr val="dk1"/>
              </a:solidFill>
              <a:latin typeface="Comfortaa"/>
              <a:ea typeface="Comfortaa"/>
              <a:cs typeface="Comfortaa"/>
              <a:sym typeface="Comfortaa"/>
            </a:endParaRPr>
          </a:p>
        </p:txBody>
      </p:sp>
      <p:pic>
        <p:nvPicPr>
          <p:cNvPr descr="arrow-right" id="362" name="Google Shape;362;p30"/>
          <p:cNvPicPr preferRelativeResize="0"/>
          <p:nvPr/>
        </p:nvPicPr>
        <p:blipFill rotWithShape="1">
          <a:blip r:embed="rId3">
            <a:alphaModFix/>
          </a:blip>
          <a:srcRect b="0" l="0" r="0" t="0"/>
          <a:stretch/>
        </p:blipFill>
        <p:spPr>
          <a:xfrm>
            <a:off x="4048705" y="3556311"/>
            <a:ext cx="355600" cy="203200"/>
          </a:xfrm>
          <a:prstGeom prst="rect">
            <a:avLst/>
          </a:prstGeom>
          <a:noFill/>
          <a:ln>
            <a:noFill/>
          </a:ln>
        </p:spPr>
      </p:pic>
      <p:sp>
        <p:nvSpPr>
          <p:cNvPr id="363" name="Google Shape;363;p30"/>
          <p:cNvSpPr/>
          <p:nvPr/>
        </p:nvSpPr>
        <p:spPr>
          <a:xfrm>
            <a:off x="4559880" y="2705833"/>
            <a:ext cx="3075600" cy="1904100"/>
          </a:xfrm>
          <a:prstGeom prst="roundRect">
            <a:avLst>
              <a:gd fmla="val 5169" name="adj"/>
            </a:avLst>
          </a:prstGeom>
          <a:solidFill>
            <a:srgbClr val="FDFCF9"/>
          </a:solidFill>
          <a:ln cap="flat" cmpd="sng" w="9525">
            <a:solidFill>
              <a:srgbClr val="D9D4C9"/>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omfortaa"/>
              <a:ea typeface="Comfortaa"/>
              <a:cs typeface="Comfortaa"/>
              <a:sym typeface="Comfortaa"/>
            </a:endParaRPr>
          </a:p>
        </p:txBody>
      </p:sp>
      <p:sp>
        <p:nvSpPr>
          <p:cNvPr id="364" name="Google Shape;364;p30"/>
          <p:cNvSpPr/>
          <p:nvPr/>
        </p:nvSpPr>
        <p:spPr>
          <a:xfrm>
            <a:off x="4815996" y="2961953"/>
            <a:ext cx="2640300" cy="28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C2230"/>
              </a:buClr>
              <a:buSzPts val="1700"/>
              <a:buFont typeface="IBM Plex Sans"/>
              <a:buNone/>
            </a:pPr>
            <a:r>
              <a:rPr b="1" i="0" lang="en-US" sz="1700" u="none" cap="none" strike="noStrike">
                <a:solidFill>
                  <a:srgbClr val="1C2230"/>
                </a:solidFill>
                <a:latin typeface="Comfortaa"/>
                <a:ea typeface="Comfortaa"/>
                <a:cs typeface="Comfortaa"/>
                <a:sym typeface="Comfortaa"/>
              </a:rPr>
              <a:t>vhost</a:t>
            </a:r>
            <a:endParaRPr i="0" sz="1700" u="none" cap="none" strike="noStrike">
              <a:solidFill>
                <a:schemeClr val="dk1"/>
              </a:solidFill>
              <a:latin typeface="Comfortaa"/>
              <a:ea typeface="Comfortaa"/>
              <a:cs typeface="Comfortaa"/>
              <a:sym typeface="Comfortaa"/>
            </a:endParaRPr>
          </a:p>
        </p:txBody>
      </p:sp>
      <p:sp>
        <p:nvSpPr>
          <p:cNvPr id="365" name="Google Shape;365;p30"/>
          <p:cNvSpPr/>
          <p:nvPr/>
        </p:nvSpPr>
        <p:spPr>
          <a:xfrm>
            <a:off x="4815996" y="3322632"/>
            <a:ext cx="2640300" cy="105660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1C2230"/>
              </a:buClr>
              <a:buSzPts val="1400"/>
              <a:buFont typeface="IBM Plex Sans"/>
              <a:buNone/>
            </a:pPr>
            <a:r>
              <a:rPr i="0" lang="en-US" sz="1400" u="none" cap="none" strike="noStrike">
                <a:solidFill>
                  <a:srgbClr val="1C2230"/>
                </a:solidFill>
                <a:latin typeface="Comfortaa"/>
                <a:ea typeface="Comfortaa"/>
                <a:cs typeface="Comfortaa"/>
                <a:sym typeface="Comfortaa"/>
              </a:rPr>
              <a:t>The data path leaves QEMU: a host kernel thread services the virtqueues, woken by an eventfd.</a:t>
            </a:r>
            <a:endParaRPr i="0" sz="1400" u="none" cap="none" strike="noStrike">
              <a:solidFill>
                <a:schemeClr val="dk1"/>
              </a:solidFill>
              <a:latin typeface="Comfortaa"/>
              <a:ea typeface="Comfortaa"/>
              <a:cs typeface="Comfortaa"/>
              <a:sym typeface="Comfortaa"/>
            </a:endParaRPr>
          </a:p>
        </p:txBody>
      </p:sp>
      <p:pic>
        <p:nvPicPr>
          <p:cNvPr descr="arrow-right" id="366" name="Google Shape;366;p30"/>
          <p:cNvPicPr preferRelativeResize="0"/>
          <p:nvPr/>
        </p:nvPicPr>
        <p:blipFill rotWithShape="1">
          <a:blip r:embed="rId3">
            <a:alphaModFix/>
          </a:blip>
          <a:srcRect b="0" l="0" r="0" t="0"/>
          <a:stretch/>
        </p:blipFill>
        <p:spPr>
          <a:xfrm>
            <a:off x="7790971" y="3556311"/>
            <a:ext cx="355600" cy="203200"/>
          </a:xfrm>
          <a:prstGeom prst="rect">
            <a:avLst/>
          </a:prstGeom>
          <a:noFill/>
          <a:ln>
            <a:noFill/>
          </a:ln>
        </p:spPr>
      </p:pic>
      <p:sp>
        <p:nvSpPr>
          <p:cNvPr id="367" name="Google Shape;367;p30"/>
          <p:cNvSpPr/>
          <p:nvPr/>
        </p:nvSpPr>
        <p:spPr>
          <a:xfrm>
            <a:off x="8302146" y="2705833"/>
            <a:ext cx="3075600" cy="1904100"/>
          </a:xfrm>
          <a:prstGeom prst="roundRect">
            <a:avLst>
              <a:gd fmla="val 5169" name="adj"/>
            </a:avLst>
          </a:prstGeom>
          <a:solidFill>
            <a:srgbClr val="FDFCF9"/>
          </a:solidFill>
          <a:ln cap="flat" cmpd="sng" w="9525">
            <a:solidFill>
              <a:srgbClr val="D9D4C9"/>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omfortaa"/>
              <a:ea typeface="Comfortaa"/>
              <a:cs typeface="Comfortaa"/>
              <a:sym typeface="Comfortaa"/>
            </a:endParaRPr>
          </a:p>
        </p:txBody>
      </p:sp>
      <p:sp>
        <p:nvSpPr>
          <p:cNvPr id="368" name="Google Shape;368;p30"/>
          <p:cNvSpPr/>
          <p:nvPr/>
        </p:nvSpPr>
        <p:spPr>
          <a:xfrm>
            <a:off x="8558263" y="2961953"/>
            <a:ext cx="2640300" cy="28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C2230"/>
              </a:buClr>
              <a:buSzPts val="1700"/>
              <a:buFont typeface="IBM Plex Sans"/>
              <a:buNone/>
            </a:pPr>
            <a:r>
              <a:rPr b="1" i="0" lang="en-US" sz="1700" u="none" cap="none" strike="noStrike">
                <a:solidFill>
                  <a:srgbClr val="1C2230"/>
                </a:solidFill>
                <a:latin typeface="Comfortaa"/>
                <a:ea typeface="Comfortaa"/>
                <a:cs typeface="Comfortaa"/>
                <a:sym typeface="Comfortaa"/>
              </a:rPr>
              <a:t>vDPA</a:t>
            </a:r>
            <a:endParaRPr i="0" sz="1700" u="none" cap="none" strike="noStrike">
              <a:solidFill>
                <a:schemeClr val="dk1"/>
              </a:solidFill>
              <a:latin typeface="Comfortaa"/>
              <a:ea typeface="Comfortaa"/>
              <a:cs typeface="Comfortaa"/>
              <a:sym typeface="Comfortaa"/>
            </a:endParaRPr>
          </a:p>
        </p:txBody>
      </p:sp>
      <p:sp>
        <p:nvSpPr>
          <p:cNvPr id="369" name="Google Shape;369;p30"/>
          <p:cNvSpPr/>
          <p:nvPr/>
        </p:nvSpPr>
        <p:spPr>
          <a:xfrm>
            <a:off x="8558263" y="3322632"/>
            <a:ext cx="2640300" cy="79890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1C2230"/>
              </a:buClr>
              <a:buSzPts val="1400"/>
              <a:buFont typeface="IBM Plex Sans"/>
              <a:buNone/>
            </a:pPr>
            <a:r>
              <a:rPr i="0" lang="en-US" sz="1400" u="none" cap="none" strike="noStrike">
                <a:solidFill>
                  <a:srgbClr val="1C2230"/>
                </a:solidFill>
                <a:latin typeface="Comfortaa"/>
                <a:ea typeface="Comfortaa"/>
                <a:cs typeface="Comfortaa"/>
                <a:sym typeface="Comfortaa"/>
              </a:rPr>
              <a:t>The NIC itself implements the virt</a:t>
            </a:r>
            <a:r>
              <a:rPr lang="en-US">
                <a:solidFill>
                  <a:srgbClr val="1C2230"/>
                </a:solidFill>
                <a:latin typeface="Comfortaa"/>
                <a:ea typeface="Comfortaa"/>
                <a:cs typeface="Comfortaa"/>
                <a:sym typeface="Comfortaa"/>
              </a:rPr>
              <a:t>IO</a:t>
            </a:r>
            <a:r>
              <a:rPr i="0" lang="en-US" sz="1400" u="none" cap="none" strike="noStrike">
                <a:solidFill>
                  <a:srgbClr val="1C2230"/>
                </a:solidFill>
                <a:latin typeface="Comfortaa"/>
                <a:ea typeface="Comfortaa"/>
                <a:cs typeface="Comfortaa"/>
                <a:sym typeface="Comfortaa"/>
              </a:rPr>
              <a:t> data path; the control plane stays in software.</a:t>
            </a:r>
            <a:endParaRPr i="0" sz="1400" u="none" cap="none" strike="noStrike">
              <a:solidFill>
                <a:schemeClr val="dk1"/>
              </a:solidFill>
              <a:latin typeface="Comfortaa"/>
              <a:ea typeface="Comfortaa"/>
              <a:cs typeface="Comfortaa"/>
              <a:sym typeface="Comfortaa"/>
            </a:endParaRPr>
          </a:p>
        </p:txBody>
      </p:sp>
      <p:cxnSp>
        <p:nvCxnSpPr>
          <p:cNvPr id="370" name="Google Shape;370;p30"/>
          <p:cNvCxnSpPr/>
          <p:nvPr/>
        </p:nvCxnSpPr>
        <p:spPr>
          <a:xfrm>
            <a:off x="833488" y="4968764"/>
            <a:ext cx="0" cy="386100"/>
          </a:xfrm>
          <a:prstGeom prst="straightConnector1">
            <a:avLst/>
          </a:prstGeom>
          <a:noFill/>
          <a:ln cap="flat" cmpd="sng" w="38100">
            <a:solidFill>
              <a:srgbClr val="B24A17"/>
            </a:solidFill>
            <a:prstDash val="solid"/>
            <a:round/>
            <a:headEnd len="sm" w="sm" type="none"/>
            <a:tailEnd len="sm" w="sm" type="none"/>
          </a:ln>
        </p:spPr>
      </p:cxnSp>
      <p:sp>
        <p:nvSpPr>
          <p:cNvPr id="371" name="Google Shape;371;p30"/>
          <p:cNvSpPr/>
          <p:nvPr/>
        </p:nvSpPr>
        <p:spPr>
          <a:xfrm>
            <a:off x="1029279" y="5019564"/>
            <a:ext cx="10662000" cy="309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230"/>
              </a:buClr>
              <a:buSzPts val="1600"/>
              <a:buFont typeface="IBM Plex Sans"/>
              <a:buNone/>
            </a:pPr>
            <a:r>
              <a:rPr i="0" lang="en-US" sz="1600" u="none" cap="none" strike="noStrike">
                <a:solidFill>
                  <a:srgbClr val="1C2230"/>
                </a:solidFill>
                <a:latin typeface="Comfortaa"/>
                <a:ea typeface="Comfortaa"/>
                <a:cs typeface="Comfortaa"/>
                <a:sym typeface="Comfortaa"/>
              </a:rPr>
              <a:t>Same guest driver throughout: the interface is stable, the implementation sinks.</a:t>
            </a:r>
            <a:endParaRPr i="0" sz="1600" u="none" cap="none" strike="noStrike">
              <a:solidFill>
                <a:schemeClr val="dk1"/>
              </a:solidFill>
              <a:latin typeface="Comfortaa"/>
              <a:ea typeface="Comfortaa"/>
              <a:cs typeface="Comfortaa"/>
              <a:sym typeface="Comfortaa"/>
            </a:endParaRPr>
          </a:p>
        </p:txBody>
      </p:sp>
      <p:sp>
        <p:nvSpPr>
          <p:cNvPr id="372" name="Google Shape;372;p30"/>
          <p:cNvSpPr/>
          <p:nvPr/>
        </p:nvSpPr>
        <p:spPr>
          <a:xfrm>
            <a:off x="812800" y="6238242"/>
            <a:ext cx="10883392"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673"/>
              </a:buClr>
              <a:buSzPts val="1200"/>
              <a:buFont typeface="IBM Plex Sans"/>
              <a:buNone/>
            </a:pPr>
            <a:r>
              <a:rPr i="0" lang="en-US" sz="1200" u="none" cap="none" strike="noStrike">
                <a:solidFill>
                  <a:srgbClr val="5F6673"/>
                </a:solidFill>
                <a:latin typeface="Comfortaa"/>
                <a:ea typeface="Comfortaa"/>
                <a:cs typeface="Comfortaa"/>
                <a:sym typeface="Comfortaa"/>
              </a:rPr>
              <a:t>Virtual I/O Device (VIRTIO) Specification</a:t>
            </a:r>
            <a:endParaRPr i="0" sz="1200" u="none" cap="none" strike="noStrike">
              <a:solidFill>
                <a:schemeClr val="dk1"/>
              </a:solidFill>
              <a:latin typeface="Comfortaa"/>
              <a:ea typeface="Comfortaa"/>
              <a:cs typeface="Comfortaa"/>
              <a:sym typeface="Comfortaa"/>
            </a:endParaRPr>
          </a:p>
        </p:txBody>
      </p:sp>
      <p:sp>
        <p:nvSpPr>
          <p:cNvPr id="373" name="Google Shape;373;p30"/>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374" name="Google Shape;374;p30"/>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rtl="0" algn="r">
              <a:lnSpc>
                <a:spcPct val="140000"/>
              </a:lnSpc>
              <a:spcBef>
                <a:spcPts val="0"/>
              </a:spcBef>
              <a:spcAft>
                <a:spcPts val="0"/>
              </a:spcAft>
              <a:buClr>
                <a:schemeClr val="accent1"/>
              </a:buClr>
              <a:buSzPts val="1200"/>
              <a:buFont typeface="IBM Plex Mono"/>
              <a:buNone/>
            </a:pPr>
            <a:r>
              <a:rPr lang="en-US" sz="1200">
                <a:solidFill>
                  <a:schemeClr val="accent1"/>
                </a:solidFill>
                <a:latin typeface="Comfortaa"/>
                <a:ea typeface="Comfortaa"/>
                <a:cs typeface="Comfortaa"/>
                <a:sym typeface="Comfortaa"/>
              </a:rPr>
              <a:t>III · DEVICE VIRTUALIZATION</a:t>
            </a:r>
            <a:endParaRPr sz="1200">
              <a:solidFill>
                <a:schemeClr val="dk1"/>
              </a:solidFill>
              <a:latin typeface="Comfortaa"/>
              <a:ea typeface="Comfortaa"/>
              <a:cs typeface="Comfortaa"/>
              <a:sym typeface="Comfortaa"/>
            </a:endParaRPr>
          </a:p>
          <a:p>
            <a:pPr indent="0" lvl="0" marL="0" marR="0" rtl="0" algn="r">
              <a:lnSpc>
                <a:spcPct val="140000"/>
              </a:lnSpc>
              <a:spcBef>
                <a:spcPts val="0"/>
              </a:spcBef>
              <a:spcAft>
                <a:spcPts val="0"/>
              </a:spcAft>
              <a:buClr>
                <a:srgbClr val="B24A17"/>
              </a:buClr>
              <a:buSzPts val="1200"/>
              <a:buFont typeface="IBM Plex Mono"/>
              <a:buNone/>
            </a:pPr>
            <a:r>
              <a:t/>
            </a:r>
            <a:endParaRPr sz="1200">
              <a:solidFill>
                <a:srgbClr val="B24A17"/>
              </a:solidFill>
              <a:latin typeface="Comfortaa"/>
              <a:ea typeface="Comfortaa"/>
              <a:cs typeface="Comfortaa"/>
              <a:sym typeface="Comfortaa"/>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E"/>
        </a:solidFill>
      </p:bgPr>
    </p:bg>
    <p:spTree>
      <p:nvGrpSpPr>
        <p:cNvPr id="379" name="Shape 379"/>
        <p:cNvGrpSpPr/>
        <p:nvPr/>
      </p:nvGrpSpPr>
      <p:grpSpPr>
        <a:xfrm>
          <a:off x="0" y="0"/>
          <a:ext cx="0" cy="0"/>
          <a:chOff x="0" y="0"/>
          <a:chExt cx="0" cy="0"/>
        </a:xfrm>
      </p:grpSpPr>
      <p:sp>
        <p:nvSpPr>
          <p:cNvPr id="380" name="Google Shape;380;p31"/>
          <p:cNvSpPr txBox="1"/>
          <p:nvPr>
            <p:ph type="title"/>
          </p:nvPr>
        </p:nvSpPr>
        <p:spPr>
          <a:xfrm>
            <a:off x="812800" y="1102358"/>
            <a:ext cx="10883400" cy="4446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C2230"/>
              </a:buClr>
              <a:buSzPct val="100000"/>
              <a:buFont typeface="IBM Plex Sans"/>
              <a:buNone/>
            </a:pPr>
            <a:r>
              <a:rPr b="1" lang="en-US">
                <a:latin typeface="Comfortaa"/>
                <a:ea typeface="Comfortaa"/>
                <a:cs typeface="Comfortaa"/>
                <a:sym typeface="Comfortaa"/>
              </a:rPr>
              <a:t>V</a:t>
            </a:r>
            <a:r>
              <a:rPr b="1" i="0" lang="en-US" sz="3000">
                <a:solidFill>
                  <a:srgbClr val="1C2230"/>
                </a:solidFill>
                <a:latin typeface="Comfortaa"/>
                <a:ea typeface="Comfortaa"/>
                <a:cs typeface="Comfortaa"/>
                <a:sym typeface="Comfortaa"/>
              </a:rPr>
              <a:t>irtio</a:t>
            </a:r>
            <a:endParaRPr sz="3000">
              <a:latin typeface="Comfortaa"/>
              <a:ea typeface="Comfortaa"/>
              <a:cs typeface="Comfortaa"/>
              <a:sym typeface="Comfortaa"/>
            </a:endParaRPr>
          </a:p>
        </p:txBody>
      </p:sp>
      <p:sp>
        <p:nvSpPr>
          <p:cNvPr id="381" name="Google Shape;381;p31"/>
          <p:cNvSpPr/>
          <p:nvPr/>
        </p:nvSpPr>
        <p:spPr>
          <a:xfrm>
            <a:off x="812800" y="6238242"/>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673"/>
              </a:buClr>
              <a:buSzPts val="1200"/>
              <a:buFont typeface="IBM Plex Sans"/>
              <a:buNone/>
            </a:pPr>
            <a:r>
              <a:rPr i="0" lang="en-US" sz="1200" u="none" cap="none" strike="noStrike">
                <a:solidFill>
                  <a:srgbClr val="5F6673"/>
                </a:solidFill>
                <a:latin typeface="Comfortaa"/>
                <a:ea typeface="Comfortaa"/>
                <a:cs typeface="Comfortaa"/>
                <a:sym typeface="Comfortaa"/>
              </a:rPr>
              <a:t>Virtual I/O Device (VIRTIO) Specification</a:t>
            </a:r>
            <a:endParaRPr i="0" sz="1200" u="none" cap="none" strike="noStrike">
              <a:solidFill>
                <a:schemeClr val="dk1"/>
              </a:solidFill>
              <a:latin typeface="Comfortaa"/>
              <a:ea typeface="Comfortaa"/>
              <a:cs typeface="Comfortaa"/>
              <a:sym typeface="Comfortaa"/>
            </a:endParaRPr>
          </a:p>
        </p:txBody>
      </p:sp>
      <p:sp>
        <p:nvSpPr>
          <p:cNvPr id="382" name="Google Shape;382;p31"/>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383" name="Google Shape;383;p31"/>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rtl="0" algn="r">
              <a:lnSpc>
                <a:spcPct val="140000"/>
              </a:lnSpc>
              <a:spcBef>
                <a:spcPts val="0"/>
              </a:spcBef>
              <a:spcAft>
                <a:spcPts val="0"/>
              </a:spcAft>
              <a:buClr>
                <a:schemeClr val="accent1"/>
              </a:buClr>
              <a:buSzPts val="1200"/>
              <a:buFont typeface="IBM Plex Mono"/>
              <a:buNone/>
            </a:pPr>
            <a:r>
              <a:rPr lang="en-US" sz="1200">
                <a:solidFill>
                  <a:schemeClr val="accent1"/>
                </a:solidFill>
                <a:latin typeface="Comfortaa"/>
                <a:ea typeface="Comfortaa"/>
                <a:cs typeface="Comfortaa"/>
                <a:sym typeface="Comfortaa"/>
              </a:rPr>
              <a:t>III · DEVICE VIRTUALIZATION</a:t>
            </a:r>
            <a:endParaRPr sz="1200">
              <a:solidFill>
                <a:schemeClr val="dk1"/>
              </a:solidFill>
              <a:latin typeface="Comfortaa"/>
              <a:ea typeface="Comfortaa"/>
              <a:cs typeface="Comfortaa"/>
              <a:sym typeface="Comfortaa"/>
            </a:endParaRPr>
          </a:p>
          <a:p>
            <a:pPr indent="0" lvl="0" marL="0" marR="0" rtl="0" algn="r">
              <a:lnSpc>
                <a:spcPct val="140000"/>
              </a:lnSpc>
              <a:spcBef>
                <a:spcPts val="0"/>
              </a:spcBef>
              <a:spcAft>
                <a:spcPts val="0"/>
              </a:spcAft>
              <a:buClr>
                <a:srgbClr val="B24A17"/>
              </a:buClr>
              <a:buSzPts val="1200"/>
              <a:buFont typeface="IBM Plex Mono"/>
              <a:buNone/>
            </a:pPr>
            <a:r>
              <a:t/>
            </a:r>
            <a:endParaRPr sz="1200">
              <a:solidFill>
                <a:srgbClr val="B24A17"/>
              </a:solidFill>
              <a:latin typeface="Comfortaa"/>
              <a:ea typeface="Comfortaa"/>
              <a:cs typeface="Comfortaa"/>
              <a:sym typeface="Comfortaa"/>
            </a:endParaRPr>
          </a:p>
        </p:txBody>
      </p:sp>
      <p:pic>
        <p:nvPicPr>
          <p:cNvPr id="384" name="Google Shape;384;p31"/>
          <p:cNvPicPr preferRelativeResize="0"/>
          <p:nvPr/>
        </p:nvPicPr>
        <p:blipFill>
          <a:blip r:embed="rId3">
            <a:alphaModFix/>
          </a:blip>
          <a:stretch>
            <a:fillRect/>
          </a:stretch>
        </p:blipFill>
        <p:spPr>
          <a:xfrm>
            <a:off x="1679650" y="1675475"/>
            <a:ext cx="8260800" cy="44903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E"/>
        </a:solidFill>
      </p:bgPr>
    </p:bg>
    <p:spTree>
      <p:nvGrpSpPr>
        <p:cNvPr id="389" name="Shape 389"/>
        <p:cNvGrpSpPr/>
        <p:nvPr/>
      </p:nvGrpSpPr>
      <p:grpSpPr>
        <a:xfrm>
          <a:off x="0" y="0"/>
          <a:ext cx="0" cy="0"/>
          <a:chOff x="0" y="0"/>
          <a:chExt cx="0" cy="0"/>
        </a:xfrm>
      </p:grpSpPr>
      <p:sp>
        <p:nvSpPr>
          <p:cNvPr id="390" name="Google Shape;390;p32"/>
          <p:cNvSpPr txBox="1"/>
          <p:nvPr>
            <p:ph type="title"/>
          </p:nvPr>
        </p:nvSpPr>
        <p:spPr>
          <a:xfrm>
            <a:off x="812800" y="1102358"/>
            <a:ext cx="10883400" cy="4446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C2230"/>
              </a:buClr>
              <a:buSzPct val="100000"/>
              <a:buFont typeface="IBM Plex Sans"/>
              <a:buNone/>
            </a:pPr>
            <a:r>
              <a:rPr b="1" lang="en-US">
                <a:latin typeface="Comfortaa"/>
                <a:ea typeface="Comfortaa"/>
                <a:cs typeface="Comfortaa"/>
                <a:sym typeface="Comfortaa"/>
              </a:rPr>
              <a:t>vhost</a:t>
            </a:r>
            <a:endParaRPr sz="3000">
              <a:latin typeface="Comfortaa"/>
              <a:ea typeface="Comfortaa"/>
              <a:cs typeface="Comfortaa"/>
              <a:sym typeface="Comfortaa"/>
            </a:endParaRPr>
          </a:p>
        </p:txBody>
      </p:sp>
      <p:sp>
        <p:nvSpPr>
          <p:cNvPr id="391" name="Google Shape;391;p32"/>
          <p:cNvSpPr/>
          <p:nvPr/>
        </p:nvSpPr>
        <p:spPr>
          <a:xfrm>
            <a:off x="812800" y="6238242"/>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673"/>
              </a:buClr>
              <a:buSzPts val="1200"/>
              <a:buFont typeface="IBM Plex Sans"/>
              <a:buNone/>
            </a:pPr>
            <a:r>
              <a:rPr i="0" lang="en-US" sz="1200" u="none" cap="none" strike="noStrike">
                <a:solidFill>
                  <a:srgbClr val="5F6673"/>
                </a:solidFill>
                <a:latin typeface="Comfortaa"/>
                <a:ea typeface="Comfortaa"/>
                <a:cs typeface="Comfortaa"/>
                <a:sym typeface="Comfortaa"/>
              </a:rPr>
              <a:t>Virtual I/O Device (VIRTIO) Specification</a:t>
            </a:r>
            <a:endParaRPr i="0" sz="1200" u="none" cap="none" strike="noStrike">
              <a:solidFill>
                <a:schemeClr val="dk1"/>
              </a:solidFill>
              <a:latin typeface="Comfortaa"/>
              <a:ea typeface="Comfortaa"/>
              <a:cs typeface="Comfortaa"/>
              <a:sym typeface="Comfortaa"/>
            </a:endParaRPr>
          </a:p>
        </p:txBody>
      </p:sp>
      <p:sp>
        <p:nvSpPr>
          <p:cNvPr id="392" name="Google Shape;392;p32"/>
          <p:cNvSpPr/>
          <p:nvPr/>
        </p:nvSpPr>
        <p:spPr>
          <a:xfrm>
            <a:off x="6391075" y="1948350"/>
            <a:ext cx="5496300" cy="1977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230"/>
              </a:buClr>
              <a:buSzPts val="1600"/>
              <a:buFont typeface="IBM Plex Sans"/>
              <a:buNone/>
            </a:pPr>
            <a:r>
              <a:rPr lang="en-US" sz="1600">
                <a:solidFill>
                  <a:srgbClr val="1C2230"/>
                </a:solidFill>
                <a:latin typeface="Comfortaa"/>
                <a:ea typeface="Comfortaa"/>
                <a:cs typeface="Comfortaa"/>
                <a:sym typeface="Comfortaa"/>
              </a:rPr>
              <a:t>Two </a:t>
            </a:r>
            <a:r>
              <a:rPr lang="en-US" sz="1600">
                <a:solidFill>
                  <a:srgbClr val="1C2230"/>
                </a:solidFill>
                <a:latin typeface="Comfortaa"/>
                <a:ea typeface="Comfortaa"/>
                <a:cs typeface="Comfortaa"/>
                <a:sym typeface="Comfortaa"/>
              </a:rPr>
              <a:t>implementations based on the vhost thread location:</a:t>
            </a:r>
            <a:br>
              <a:rPr lang="en-US" sz="1600">
                <a:solidFill>
                  <a:srgbClr val="1C2230"/>
                </a:solidFill>
                <a:latin typeface="Comfortaa"/>
                <a:ea typeface="Comfortaa"/>
                <a:cs typeface="Comfortaa"/>
                <a:sym typeface="Comfortaa"/>
              </a:rPr>
            </a:br>
            <a:br>
              <a:rPr lang="en-US" sz="1600">
                <a:solidFill>
                  <a:srgbClr val="1C2230"/>
                </a:solidFill>
                <a:latin typeface="Comfortaa"/>
                <a:ea typeface="Comfortaa"/>
                <a:cs typeface="Comfortaa"/>
                <a:sym typeface="Comfortaa"/>
              </a:rPr>
            </a:br>
            <a:r>
              <a:rPr b="1" lang="en-US" sz="1600">
                <a:solidFill>
                  <a:srgbClr val="1C2230"/>
                </a:solidFill>
                <a:latin typeface="Comfortaa"/>
                <a:ea typeface="Comfortaa"/>
                <a:cs typeface="Comfortaa"/>
                <a:sym typeface="Comfortaa"/>
              </a:rPr>
              <a:t>vhost-net</a:t>
            </a:r>
            <a:r>
              <a:rPr lang="en-US" sz="1600">
                <a:solidFill>
                  <a:srgbClr val="1C2230"/>
                </a:solidFill>
                <a:latin typeface="Comfortaa"/>
                <a:ea typeface="Comfortaa"/>
                <a:cs typeface="Comfortaa"/>
                <a:sym typeface="Comfortaa"/>
              </a:rPr>
              <a:t> in kernel </a:t>
            </a:r>
            <a:br>
              <a:rPr lang="en-US" sz="1600">
                <a:solidFill>
                  <a:srgbClr val="1C2230"/>
                </a:solidFill>
                <a:latin typeface="Comfortaa"/>
                <a:ea typeface="Comfortaa"/>
                <a:cs typeface="Comfortaa"/>
                <a:sym typeface="Comfortaa"/>
              </a:rPr>
            </a:br>
            <a:r>
              <a:rPr b="1" lang="en-US" sz="1600">
                <a:solidFill>
                  <a:srgbClr val="1C2230"/>
                </a:solidFill>
                <a:latin typeface="Comfortaa"/>
                <a:ea typeface="Comfortaa"/>
                <a:cs typeface="Comfortaa"/>
                <a:sym typeface="Comfortaa"/>
              </a:rPr>
              <a:t>vhost-user</a:t>
            </a:r>
            <a:r>
              <a:rPr lang="en-US" sz="1600">
                <a:solidFill>
                  <a:srgbClr val="1C2230"/>
                </a:solidFill>
                <a:latin typeface="Comfortaa"/>
                <a:ea typeface="Comfortaa"/>
                <a:cs typeface="Comfortaa"/>
                <a:sym typeface="Comfortaa"/>
              </a:rPr>
              <a:t> in host userspace</a:t>
            </a:r>
            <a:endParaRPr i="0" sz="1600" u="none" cap="none" strike="noStrike">
              <a:solidFill>
                <a:schemeClr val="dk1"/>
              </a:solidFill>
              <a:latin typeface="Comfortaa"/>
              <a:ea typeface="Comfortaa"/>
              <a:cs typeface="Comfortaa"/>
              <a:sym typeface="Comfortaa"/>
            </a:endParaRPr>
          </a:p>
        </p:txBody>
      </p:sp>
      <p:pic>
        <p:nvPicPr>
          <p:cNvPr id="393" name="Google Shape;393;p32"/>
          <p:cNvPicPr preferRelativeResize="0"/>
          <p:nvPr/>
        </p:nvPicPr>
        <p:blipFill>
          <a:blip r:embed="rId3">
            <a:alphaModFix/>
          </a:blip>
          <a:stretch>
            <a:fillRect/>
          </a:stretch>
        </p:blipFill>
        <p:spPr>
          <a:xfrm>
            <a:off x="1377050" y="1778925"/>
            <a:ext cx="3643962" cy="3943813"/>
          </a:xfrm>
          <a:prstGeom prst="rect">
            <a:avLst/>
          </a:prstGeom>
          <a:noFill/>
          <a:ln>
            <a:noFill/>
          </a:ln>
          <a:effectLst>
            <a:outerShdw blurRad="57150" rotWithShape="0" algn="bl" dir="5400000" dist="19050">
              <a:srgbClr val="000000">
                <a:alpha val="50000"/>
              </a:srgbClr>
            </a:outerShdw>
          </a:effectLst>
        </p:spPr>
      </p:pic>
      <p:sp>
        <p:nvSpPr>
          <p:cNvPr id="394" name="Google Shape;394;p32"/>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395" name="Google Shape;395;p32"/>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rtl="0" algn="r">
              <a:lnSpc>
                <a:spcPct val="140000"/>
              </a:lnSpc>
              <a:spcBef>
                <a:spcPts val="0"/>
              </a:spcBef>
              <a:spcAft>
                <a:spcPts val="0"/>
              </a:spcAft>
              <a:buClr>
                <a:schemeClr val="accent1"/>
              </a:buClr>
              <a:buSzPts val="1200"/>
              <a:buFont typeface="IBM Plex Mono"/>
              <a:buNone/>
            </a:pPr>
            <a:r>
              <a:rPr lang="en-US" sz="1200">
                <a:solidFill>
                  <a:schemeClr val="accent1"/>
                </a:solidFill>
                <a:latin typeface="Comfortaa"/>
                <a:ea typeface="Comfortaa"/>
                <a:cs typeface="Comfortaa"/>
                <a:sym typeface="Comfortaa"/>
              </a:rPr>
              <a:t>III · DEVICE VIRTUALIZATION</a:t>
            </a:r>
            <a:endParaRPr sz="1200">
              <a:solidFill>
                <a:schemeClr val="dk1"/>
              </a:solidFill>
              <a:latin typeface="Comfortaa"/>
              <a:ea typeface="Comfortaa"/>
              <a:cs typeface="Comfortaa"/>
              <a:sym typeface="Comfortaa"/>
            </a:endParaRPr>
          </a:p>
          <a:p>
            <a:pPr indent="0" lvl="0" marL="0" marR="0" rtl="0" algn="r">
              <a:lnSpc>
                <a:spcPct val="140000"/>
              </a:lnSpc>
              <a:spcBef>
                <a:spcPts val="0"/>
              </a:spcBef>
              <a:spcAft>
                <a:spcPts val="0"/>
              </a:spcAft>
              <a:buClr>
                <a:srgbClr val="B24A17"/>
              </a:buClr>
              <a:buSzPts val="1200"/>
              <a:buFont typeface="IBM Plex Mono"/>
              <a:buNone/>
            </a:pPr>
            <a:r>
              <a:t/>
            </a:r>
            <a:endParaRPr sz="1200">
              <a:solidFill>
                <a:srgbClr val="B24A17"/>
              </a:solidFill>
              <a:latin typeface="Comfortaa"/>
              <a:ea typeface="Comfortaa"/>
              <a:cs typeface="Comfortaa"/>
              <a:sym typeface="Comfortaa"/>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E"/>
        </a:solidFill>
      </p:bgPr>
    </p:bg>
    <p:spTree>
      <p:nvGrpSpPr>
        <p:cNvPr id="400" name="Shape 400"/>
        <p:cNvGrpSpPr/>
        <p:nvPr/>
      </p:nvGrpSpPr>
      <p:grpSpPr>
        <a:xfrm>
          <a:off x="0" y="0"/>
          <a:ext cx="0" cy="0"/>
          <a:chOff x="0" y="0"/>
          <a:chExt cx="0" cy="0"/>
        </a:xfrm>
      </p:grpSpPr>
      <p:sp>
        <p:nvSpPr>
          <p:cNvPr id="401" name="Google Shape;401;p33"/>
          <p:cNvSpPr txBox="1"/>
          <p:nvPr>
            <p:ph type="title"/>
          </p:nvPr>
        </p:nvSpPr>
        <p:spPr>
          <a:xfrm>
            <a:off x="812800" y="1153183"/>
            <a:ext cx="10883400" cy="4446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C2230"/>
              </a:buClr>
              <a:buSzPct val="100000"/>
              <a:buFont typeface="IBM Plex Sans"/>
              <a:buNone/>
            </a:pPr>
            <a:r>
              <a:rPr b="1" lang="en-US">
                <a:latin typeface="Comfortaa"/>
                <a:ea typeface="Comfortaa"/>
                <a:cs typeface="Comfortaa"/>
                <a:sym typeface="Comfortaa"/>
              </a:rPr>
              <a:t>vDPA</a:t>
            </a:r>
            <a:r>
              <a:rPr b="1" i="0" lang="en-US" sz="3000">
                <a:solidFill>
                  <a:srgbClr val="1C2230"/>
                </a:solidFill>
                <a:latin typeface="Comfortaa"/>
                <a:ea typeface="Comfortaa"/>
                <a:cs typeface="Comfortaa"/>
                <a:sym typeface="Comfortaa"/>
              </a:rPr>
              <a:t>:</a:t>
            </a:r>
            <a:r>
              <a:rPr b="1" lang="en-US">
                <a:latin typeface="Comfortaa"/>
                <a:ea typeface="Comfortaa"/>
                <a:cs typeface="Comfortaa"/>
                <a:sym typeface="Comfortaa"/>
              </a:rPr>
              <a:t> data plane offloaded to the Hardware</a:t>
            </a:r>
            <a:endParaRPr sz="3000">
              <a:latin typeface="Comfortaa"/>
              <a:ea typeface="Comfortaa"/>
              <a:cs typeface="Comfortaa"/>
              <a:sym typeface="Comfortaa"/>
            </a:endParaRPr>
          </a:p>
        </p:txBody>
      </p:sp>
      <p:sp>
        <p:nvSpPr>
          <p:cNvPr id="402" name="Google Shape;402;p33"/>
          <p:cNvSpPr/>
          <p:nvPr/>
        </p:nvSpPr>
        <p:spPr>
          <a:xfrm>
            <a:off x="812800" y="6238242"/>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673"/>
              </a:buClr>
              <a:buSzPts val="1200"/>
              <a:buFont typeface="IBM Plex Sans"/>
              <a:buNone/>
            </a:pPr>
            <a:r>
              <a:rPr lang="en-US" sz="1200">
                <a:solidFill>
                  <a:srgbClr val="5F6673"/>
                </a:solidFill>
                <a:latin typeface="Comfortaa"/>
                <a:ea typeface="Comfortaa"/>
                <a:cs typeface="Comfortaa"/>
                <a:sym typeface="Comfortaa"/>
              </a:rPr>
              <a:t>https://vdpa-dev.gitlab.io/</a:t>
            </a:r>
            <a:endParaRPr i="0" sz="1200" u="none" cap="none" strike="noStrike">
              <a:solidFill>
                <a:schemeClr val="dk1"/>
              </a:solidFill>
              <a:latin typeface="Comfortaa"/>
              <a:ea typeface="Comfortaa"/>
              <a:cs typeface="Comfortaa"/>
              <a:sym typeface="Comfortaa"/>
            </a:endParaRPr>
          </a:p>
        </p:txBody>
      </p:sp>
      <p:pic>
        <p:nvPicPr>
          <p:cNvPr id="403" name="Google Shape;403;p33"/>
          <p:cNvPicPr preferRelativeResize="0"/>
          <p:nvPr/>
        </p:nvPicPr>
        <p:blipFill>
          <a:blip r:embed="rId3">
            <a:alphaModFix/>
          </a:blip>
          <a:stretch>
            <a:fillRect/>
          </a:stretch>
        </p:blipFill>
        <p:spPr>
          <a:xfrm>
            <a:off x="929425" y="1724771"/>
            <a:ext cx="4747483" cy="4386484"/>
          </a:xfrm>
          <a:prstGeom prst="rect">
            <a:avLst/>
          </a:prstGeom>
          <a:noFill/>
          <a:ln>
            <a:noFill/>
          </a:ln>
          <a:effectLst>
            <a:outerShdw blurRad="57150" rotWithShape="0" algn="bl" dir="5400000" dist="19050">
              <a:srgbClr val="000000">
                <a:alpha val="50000"/>
              </a:srgbClr>
            </a:outerShdw>
          </a:effectLst>
        </p:spPr>
      </p:pic>
      <p:sp>
        <p:nvSpPr>
          <p:cNvPr id="404" name="Google Shape;404;p33"/>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405" name="Google Shape;405;p33"/>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rtl="0" algn="r">
              <a:lnSpc>
                <a:spcPct val="140000"/>
              </a:lnSpc>
              <a:spcBef>
                <a:spcPts val="0"/>
              </a:spcBef>
              <a:spcAft>
                <a:spcPts val="0"/>
              </a:spcAft>
              <a:buClr>
                <a:schemeClr val="accent1"/>
              </a:buClr>
              <a:buSzPts val="1200"/>
              <a:buFont typeface="IBM Plex Mono"/>
              <a:buNone/>
            </a:pPr>
            <a:r>
              <a:rPr lang="en-US" sz="1200">
                <a:solidFill>
                  <a:schemeClr val="accent1"/>
                </a:solidFill>
                <a:latin typeface="Comfortaa"/>
                <a:ea typeface="Comfortaa"/>
                <a:cs typeface="Comfortaa"/>
                <a:sym typeface="Comfortaa"/>
              </a:rPr>
              <a:t>III · DEVICE VIRTUALIZATION</a:t>
            </a:r>
            <a:endParaRPr sz="1200">
              <a:solidFill>
                <a:schemeClr val="dk1"/>
              </a:solidFill>
              <a:latin typeface="Comfortaa"/>
              <a:ea typeface="Comfortaa"/>
              <a:cs typeface="Comfortaa"/>
              <a:sym typeface="Comfortaa"/>
            </a:endParaRPr>
          </a:p>
          <a:p>
            <a:pPr indent="0" lvl="0" marL="0" marR="0" rtl="0" algn="r">
              <a:lnSpc>
                <a:spcPct val="140000"/>
              </a:lnSpc>
              <a:spcBef>
                <a:spcPts val="0"/>
              </a:spcBef>
              <a:spcAft>
                <a:spcPts val="0"/>
              </a:spcAft>
              <a:buClr>
                <a:srgbClr val="B24A17"/>
              </a:buClr>
              <a:buSzPts val="1200"/>
              <a:buFont typeface="IBM Plex Mono"/>
              <a:buNone/>
            </a:pPr>
            <a:r>
              <a:t/>
            </a:r>
            <a:endParaRPr sz="1200">
              <a:solidFill>
                <a:srgbClr val="B24A17"/>
              </a:solidFill>
              <a:latin typeface="Comfortaa"/>
              <a:ea typeface="Comfortaa"/>
              <a:cs typeface="Comfortaa"/>
              <a:sym typeface="Comfortaa"/>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3EE"/>
        </a:solidFill>
      </p:bgPr>
    </p:bg>
    <p:spTree>
      <p:nvGrpSpPr>
        <p:cNvPr id="410" name="Shape 410"/>
        <p:cNvGrpSpPr/>
        <p:nvPr/>
      </p:nvGrpSpPr>
      <p:grpSpPr>
        <a:xfrm>
          <a:off x="0" y="0"/>
          <a:ext cx="0" cy="0"/>
          <a:chOff x="0" y="0"/>
          <a:chExt cx="0" cy="0"/>
        </a:xfrm>
      </p:grpSpPr>
      <p:sp>
        <p:nvSpPr>
          <p:cNvPr id="411" name="Google Shape;411;p34"/>
          <p:cNvSpPr txBox="1"/>
          <p:nvPr>
            <p:ph type="title"/>
          </p:nvPr>
        </p:nvSpPr>
        <p:spPr>
          <a:xfrm>
            <a:off x="812800" y="1102358"/>
            <a:ext cx="10883392" cy="4445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C2230"/>
              </a:buClr>
              <a:buSzPct val="100000"/>
              <a:buFont typeface="IBM Plex Sans"/>
              <a:buNone/>
            </a:pPr>
            <a:r>
              <a:rPr b="1" i="0" lang="en-US" sz="3000">
                <a:solidFill>
                  <a:srgbClr val="1C2230"/>
                </a:solidFill>
                <a:latin typeface="Comfortaa"/>
                <a:ea typeface="Comfortaa"/>
                <a:cs typeface="Comfortaa"/>
                <a:sym typeface="Comfortaa"/>
              </a:rPr>
              <a:t>Passthrough</a:t>
            </a:r>
            <a:endParaRPr sz="3000">
              <a:latin typeface="Comfortaa"/>
              <a:ea typeface="Comfortaa"/>
              <a:cs typeface="Comfortaa"/>
              <a:sym typeface="Comfortaa"/>
            </a:endParaRPr>
          </a:p>
        </p:txBody>
      </p:sp>
      <p:sp>
        <p:nvSpPr>
          <p:cNvPr id="412" name="Google Shape;412;p34"/>
          <p:cNvSpPr/>
          <p:nvPr/>
        </p:nvSpPr>
        <p:spPr>
          <a:xfrm>
            <a:off x="711125" y="1894525"/>
            <a:ext cx="2391900" cy="843900"/>
          </a:xfrm>
          <a:prstGeom prst="roundRect">
            <a:avLst>
              <a:gd fmla="val 8653" name="adj"/>
            </a:avLst>
          </a:prstGeom>
          <a:solidFill>
            <a:srgbClr val="FDFCF9"/>
          </a:solidFill>
          <a:ln cap="flat" cmpd="sng" w="9525">
            <a:solidFill>
              <a:srgbClr val="D9D4C9"/>
            </a:solidFill>
            <a:prstDash val="solid"/>
            <a:round/>
            <a:headEnd len="sm" w="sm" type="none"/>
            <a:tailEnd len="sm" w="sm" type="none"/>
          </a:ln>
        </p:spPr>
        <p:txBody>
          <a:bodyPr anchorCtr="0" anchor="t" bIns="133125" lIns="158525" spcFirstLastPara="1" rIns="100700" wrap="square" tIns="158525">
            <a:noAutofit/>
          </a:bodyPr>
          <a:lstStyle/>
          <a:p>
            <a:pPr indent="0" lvl="0" marL="0" marR="0" rtl="0" algn="l">
              <a:lnSpc>
                <a:spcPct val="135037"/>
              </a:lnSpc>
              <a:spcBef>
                <a:spcPts val="0"/>
              </a:spcBef>
              <a:spcAft>
                <a:spcPts val="0"/>
              </a:spcAft>
              <a:buClr>
                <a:srgbClr val="1C2230"/>
              </a:buClr>
              <a:buSzPts val="1350"/>
              <a:buFont typeface="IBM Plex Sans"/>
              <a:buNone/>
            </a:pPr>
            <a:r>
              <a:rPr b="1" i="0" lang="en-US" sz="1350" u="none" cap="none" strike="noStrike">
                <a:solidFill>
                  <a:srgbClr val="1C2230"/>
                </a:solidFill>
                <a:latin typeface="Comfortaa"/>
                <a:ea typeface="Comfortaa"/>
                <a:cs typeface="Comfortaa"/>
                <a:sym typeface="Comfortaa"/>
              </a:rPr>
              <a:t>1.</a:t>
            </a:r>
            <a:r>
              <a:rPr i="0" lang="en-US" sz="1350" u="none" cap="none" strike="noStrike">
                <a:solidFill>
                  <a:srgbClr val="1C2230"/>
                </a:solidFill>
                <a:latin typeface="Comfortaa"/>
                <a:ea typeface="Comfortaa"/>
                <a:cs typeface="Comfortaa"/>
                <a:sym typeface="Comfortaa"/>
              </a:rPr>
              <a:t> Guest driver writes a </a:t>
            </a:r>
            <a:r>
              <a:rPr b="1" i="0" lang="en-US" sz="1350" u="none" cap="none" strike="noStrike">
                <a:solidFill>
                  <a:srgbClr val="1C2230"/>
                </a:solidFill>
                <a:latin typeface="Comfortaa"/>
                <a:ea typeface="Comfortaa"/>
                <a:cs typeface="Comfortaa"/>
                <a:sym typeface="Comfortaa"/>
              </a:rPr>
              <a:t>GPA</a:t>
            </a:r>
            <a:r>
              <a:rPr i="0" lang="en-US" sz="1350" u="none" cap="none" strike="noStrike">
                <a:solidFill>
                  <a:srgbClr val="1C2230"/>
                </a:solidFill>
                <a:latin typeface="Comfortaa"/>
                <a:ea typeface="Comfortaa"/>
                <a:cs typeface="Comfortaa"/>
                <a:sym typeface="Comfortaa"/>
              </a:rPr>
              <a:t> into the descriptor</a:t>
            </a:r>
            <a:endParaRPr i="0" sz="1350" u="none" cap="none" strike="noStrike">
              <a:solidFill>
                <a:schemeClr val="dk1"/>
              </a:solidFill>
              <a:latin typeface="Comfortaa"/>
              <a:ea typeface="Comfortaa"/>
              <a:cs typeface="Comfortaa"/>
              <a:sym typeface="Comfortaa"/>
            </a:endParaRPr>
          </a:p>
        </p:txBody>
      </p:sp>
      <p:pic>
        <p:nvPicPr>
          <p:cNvPr descr="arrow-right" id="413" name="Google Shape;413;p34"/>
          <p:cNvPicPr preferRelativeResize="0"/>
          <p:nvPr/>
        </p:nvPicPr>
        <p:blipFill rotWithShape="1">
          <a:blip r:embed="rId3">
            <a:alphaModFix/>
          </a:blip>
          <a:srcRect b="0" l="0" r="0" t="0"/>
          <a:stretch/>
        </p:blipFill>
        <p:spPr>
          <a:xfrm>
            <a:off x="3207808" y="2225997"/>
            <a:ext cx="254000" cy="152400"/>
          </a:xfrm>
          <a:prstGeom prst="rect">
            <a:avLst/>
          </a:prstGeom>
          <a:noFill/>
          <a:ln>
            <a:noFill/>
          </a:ln>
        </p:spPr>
      </p:pic>
      <p:sp>
        <p:nvSpPr>
          <p:cNvPr id="414" name="Google Shape;414;p34"/>
          <p:cNvSpPr/>
          <p:nvPr/>
        </p:nvSpPr>
        <p:spPr>
          <a:xfrm>
            <a:off x="3566583" y="1880233"/>
            <a:ext cx="2287058" cy="843915"/>
          </a:xfrm>
          <a:prstGeom prst="roundRect">
            <a:avLst>
              <a:gd fmla="val 8653" name="adj"/>
            </a:avLst>
          </a:prstGeom>
          <a:solidFill>
            <a:srgbClr val="FDFCF9"/>
          </a:solidFill>
          <a:ln cap="flat" cmpd="sng" w="9525">
            <a:solidFill>
              <a:srgbClr val="D9D4C9"/>
            </a:solidFill>
            <a:prstDash val="solid"/>
            <a:round/>
            <a:headEnd len="sm" w="sm" type="none"/>
            <a:tailEnd len="sm" w="sm" type="none"/>
          </a:ln>
        </p:spPr>
        <p:txBody>
          <a:bodyPr anchorCtr="0" anchor="t" bIns="133125" lIns="158525" spcFirstLastPara="1" rIns="100700" wrap="square" tIns="158525">
            <a:noAutofit/>
          </a:bodyPr>
          <a:lstStyle/>
          <a:p>
            <a:pPr indent="0" lvl="0" marL="0" marR="0" rtl="0" algn="l">
              <a:lnSpc>
                <a:spcPct val="135037"/>
              </a:lnSpc>
              <a:spcBef>
                <a:spcPts val="0"/>
              </a:spcBef>
              <a:spcAft>
                <a:spcPts val="0"/>
              </a:spcAft>
              <a:buClr>
                <a:srgbClr val="1C2230"/>
              </a:buClr>
              <a:buSzPts val="1350"/>
              <a:buFont typeface="IBM Plex Sans"/>
              <a:buNone/>
            </a:pPr>
            <a:r>
              <a:rPr b="1" i="0" lang="en-US" sz="1350" u="none" cap="none" strike="noStrike">
                <a:solidFill>
                  <a:srgbClr val="1C2230"/>
                </a:solidFill>
                <a:latin typeface="Comfortaa"/>
                <a:ea typeface="Comfortaa"/>
                <a:cs typeface="Comfortaa"/>
                <a:sym typeface="Comfortaa"/>
              </a:rPr>
              <a:t>2.</a:t>
            </a:r>
            <a:r>
              <a:rPr i="0" lang="en-US" sz="1350" u="none" cap="none" strike="noStrike">
                <a:solidFill>
                  <a:srgbClr val="1C2230"/>
                </a:solidFill>
                <a:latin typeface="Comfortaa"/>
                <a:ea typeface="Comfortaa"/>
                <a:cs typeface="Comfortaa"/>
                <a:sym typeface="Comfortaa"/>
              </a:rPr>
              <a:t> The NIC issues a DMA to that GPA</a:t>
            </a:r>
            <a:endParaRPr i="0" sz="1350" u="none" cap="none" strike="noStrike">
              <a:solidFill>
                <a:schemeClr val="dk1"/>
              </a:solidFill>
              <a:latin typeface="Comfortaa"/>
              <a:ea typeface="Comfortaa"/>
              <a:cs typeface="Comfortaa"/>
              <a:sym typeface="Comfortaa"/>
            </a:endParaRPr>
          </a:p>
        </p:txBody>
      </p:sp>
      <p:pic>
        <p:nvPicPr>
          <p:cNvPr descr="arrow-right" id="415" name="Google Shape;415;p34"/>
          <p:cNvPicPr preferRelativeResize="0"/>
          <p:nvPr/>
        </p:nvPicPr>
        <p:blipFill rotWithShape="1">
          <a:blip r:embed="rId3">
            <a:alphaModFix/>
          </a:blip>
          <a:srcRect b="0" l="0" r="0" t="0"/>
          <a:stretch/>
        </p:blipFill>
        <p:spPr>
          <a:xfrm>
            <a:off x="5958417" y="2225997"/>
            <a:ext cx="254000" cy="152400"/>
          </a:xfrm>
          <a:prstGeom prst="rect">
            <a:avLst/>
          </a:prstGeom>
          <a:noFill/>
          <a:ln>
            <a:noFill/>
          </a:ln>
        </p:spPr>
      </p:pic>
      <p:sp>
        <p:nvSpPr>
          <p:cNvPr id="416" name="Google Shape;416;p34"/>
          <p:cNvSpPr/>
          <p:nvPr/>
        </p:nvSpPr>
        <p:spPr>
          <a:xfrm>
            <a:off x="6323542" y="1886583"/>
            <a:ext cx="2295525" cy="831215"/>
          </a:xfrm>
          <a:prstGeom prst="roundRect">
            <a:avLst>
              <a:gd fmla="val 8021" name="adj"/>
            </a:avLst>
          </a:prstGeom>
          <a:solidFill>
            <a:srgbClr val="FDFCF9"/>
          </a:solidFill>
          <a:ln cap="flat" cmpd="sng" w="19050">
            <a:solidFill>
              <a:srgbClr val="B24A17"/>
            </a:solidFill>
            <a:prstDash val="solid"/>
            <a:round/>
            <a:headEnd len="sm" w="sm" type="none"/>
            <a:tailEnd len="sm" w="sm" type="none"/>
          </a:ln>
        </p:spPr>
        <p:txBody>
          <a:bodyPr anchorCtr="0" anchor="t" bIns="139200" lIns="164600" spcFirstLastPara="1" rIns="106800" wrap="square" tIns="164600">
            <a:noAutofit/>
          </a:bodyPr>
          <a:lstStyle/>
          <a:p>
            <a:pPr indent="0" lvl="0" marL="0" marR="0" rtl="0" algn="l">
              <a:lnSpc>
                <a:spcPct val="135037"/>
              </a:lnSpc>
              <a:spcBef>
                <a:spcPts val="0"/>
              </a:spcBef>
              <a:spcAft>
                <a:spcPts val="0"/>
              </a:spcAft>
              <a:buClr>
                <a:srgbClr val="1C2230"/>
              </a:buClr>
              <a:buSzPts val="1350"/>
              <a:buFont typeface="IBM Plex Sans"/>
              <a:buNone/>
            </a:pPr>
            <a:r>
              <a:rPr b="1" i="0" lang="en-US" sz="1350" u="none" cap="none" strike="noStrike">
                <a:solidFill>
                  <a:srgbClr val="1C2230"/>
                </a:solidFill>
                <a:latin typeface="Comfortaa"/>
                <a:ea typeface="Comfortaa"/>
                <a:cs typeface="Comfortaa"/>
                <a:sym typeface="Comfortaa"/>
              </a:rPr>
              <a:t>3.</a:t>
            </a:r>
            <a:r>
              <a:rPr i="0" lang="en-US" sz="1350" u="none" cap="none" strike="noStrike">
                <a:solidFill>
                  <a:srgbClr val="1C2230"/>
                </a:solidFill>
                <a:latin typeface="Comfortaa"/>
                <a:ea typeface="Comfortaa"/>
                <a:cs typeface="Comfortaa"/>
                <a:sym typeface="Comfortaa"/>
              </a:rPr>
              <a:t> IOMMU, in the VM domain: </a:t>
            </a:r>
            <a:r>
              <a:rPr b="1" i="0" lang="en-US" sz="1350" u="none" cap="none" strike="noStrike">
                <a:solidFill>
                  <a:srgbClr val="1C2230"/>
                </a:solidFill>
                <a:latin typeface="Comfortaa"/>
                <a:ea typeface="Comfortaa"/>
                <a:cs typeface="Comfortaa"/>
                <a:sym typeface="Comfortaa"/>
              </a:rPr>
              <a:t>GPA → HPA</a:t>
            </a:r>
            <a:endParaRPr i="0" sz="1350" u="none" cap="none" strike="noStrike">
              <a:solidFill>
                <a:schemeClr val="dk1"/>
              </a:solidFill>
              <a:latin typeface="Comfortaa"/>
              <a:ea typeface="Comfortaa"/>
              <a:cs typeface="Comfortaa"/>
              <a:sym typeface="Comfortaa"/>
            </a:endParaRPr>
          </a:p>
        </p:txBody>
      </p:sp>
      <p:pic>
        <p:nvPicPr>
          <p:cNvPr descr="arrow-right" id="417" name="Google Shape;417;p34"/>
          <p:cNvPicPr preferRelativeResize="0"/>
          <p:nvPr/>
        </p:nvPicPr>
        <p:blipFill rotWithShape="1">
          <a:blip r:embed="rId3">
            <a:alphaModFix/>
          </a:blip>
          <a:srcRect b="0" l="0" r="0" t="0"/>
          <a:stretch/>
        </p:blipFill>
        <p:spPr>
          <a:xfrm>
            <a:off x="8730192" y="2225997"/>
            <a:ext cx="254000" cy="152400"/>
          </a:xfrm>
          <a:prstGeom prst="rect">
            <a:avLst/>
          </a:prstGeom>
          <a:noFill/>
          <a:ln>
            <a:noFill/>
          </a:ln>
        </p:spPr>
      </p:pic>
      <p:sp>
        <p:nvSpPr>
          <p:cNvPr id="418" name="Google Shape;418;p34"/>
          <p:cNvSpPr/>
          <p:nvPr/>
        </p:nvSpPr>
        <p:spPr>
          <a:xfrm>
            <a:off x="9088967" y="1880233"/>
            <a:ext cx="2287058" cy="843915"/>
          </a:xfrm>
          <a:prstGeom prst="roundRect">
            <a:avLst>
              <a:gd fmla="val 8653" name="adj"/>
            </a:avLst>
          </a:prstGeom>
          <a:solidFill>
            <a:srgbClr val="FDFCF9"/>
          </a:solidFill>
          <a:ln cap="flat" cmpd="sng" w="9525">
            <a:solidFill>
              <a:srgbClr val="D9D4C9"/>
            </a:solidFill>
            <a:prstDash val="solid"/>
            <a:round/>
            <a:headEnd len="sm" w="sm" type="none"/>
            <a:tailEnd len="sm" w="sm" type="none"/>
          </a:ln>
        </p:spPr>
        <p:txBody>
          <a:bodyPr anchorCtr="0" anchor="t" bIns="133125" lIns="158525" spcFirstLastPara="1" rIns="100700" wrap="square" tIns="158525">
            <a:noAutofit/>
          </a:bodyPr>
          <a:lstStyle/>
          <a:p>
            <a:pPr indent="0" lvl="0" marL="0" marR="0" rtl="0" algn="l">
              <a:lnSpc>
                <a:spcPct val="135037"/>
              </a:lnSpc>
              <a:spcBef>
                <a:spcPts val="0"/>
              </a:spcBef>
              <a:spcAft>
                <a:spcPts val="0"/>
              </a:spcAft>
              <a:buClr>
                <a:srgbClr val="1C2230"/>
              </a:buClr>
              <a:buSzPts val="1350"/>
              <a:buFont typeface="IBM Plex Sans"/>
              <a:buNone/>
            </a:pPr>
            <a:r>
              <a:rPr b="1" i="0" lang="en-US" sz="1350" u="none" cap="none" strike="noStrike">
                <a:solidFill>
                  <a:srgbClr val="1C2230"/>
                </a:solidFill>
                <a:latin typeface="Comfortaa"/>
                <a:ea typeface="Comfortaa"/>
                <a:cs typeface="Comfortaa"/>
                <a:sym typeface="Comfortaa"/>
              </a:rPr>
              <a:t>4.</a:t>
            </a:r>
            <a:r>
              <a:rPr i="0" lang="en-US" sz="1350" u="none" cap="none" strike="noStrike">
                <a:solidFill>
                  <a:srgbClr val="1C2230"/>
                </a:solidFill>
                <a:latin typeface="Comfortaa"/>
                <a:ea typeface="Comfortaa"/>
                <a:cs typeface="Comfortaa"/>
                <a:sym typeface="Comfortaa"/>
              </a:rPr>
              <a:t> The packet lands in guest RAM</a:t>
            </a:r>
            <a:endParaRPr i="0" sz="1350" u="none" cap="none" strike="noStrike">
              <a:solidFill>
                <a:schemeClr val="dk1"/>
              </a:solidFill>
              <a:latin typeface="Comfortaa"/>
              <a:ea typeface="Comfortaa"/>
              <a:cs typeface="Comfortaa"/>
              <a:sym typeface="Comfortaa"/>
            </a:endParaRPr>
          </a:p>
        </p:txBody>
      </p:sp>
      <p:sp>
        <p:nvSpPr>
          <p:cNvPr id="419" name="Google Shape;419;p34"/>
          <p:cNvSpPr/>
          <p:nvPr/>
        </p:nvSpPr>
        <p:spPr>
          <a:xfrm>
            <a:off x="711125" y="3086100"/>
            <a:ext cx="5396400" cy="1291500"/>
          </a:xfrm>
          <a:prstGeom prst="roundRect">
            <a:avLst>
              <a:gd fmla="val 7622" name="adj"/>
            </a:avLst>
          </a:prstGeom>
          <a:solidFill>
            <a:srgbClr val="FDFCF9"/>
          </a:solidFill>
          <a:ln cap="flat" cmpd="sng" w="9525">
            <a:solidFill>
              <a:srgbClr val="D9D4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omfortaa"/>
              <a:ea typeface="Comfortaa"/>
              <a:cs typeface="Comfortaa"/>
              <a:sym typeface="Comfortaa"/>
            </a:endParaRPr>
          </a:p>
        </p:txBody>
      </p:sp>
      <p:sp>
        <p:nvSpPr>
          <p:cNvPr id="420" name="Google Shape;420;p34"/>
          <p:cNvSpPr/>
          <p:nvPr/>
        </p:nvSpPr>
        <p:spPr>
          <a:xfrm>
            <a:off x="1046692" y="3316821"/>
            <a:ext cx="4855231" cy="2692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C2230"/>
              </a:buClr>
              <a:buSzPts val="1600"/>
              <a:buFont typeface="IBM Plex Sans"/>
              <a:buNone/>
            </a:pPr>
            <a:r>
              <a:rPr b="1" i="0" lang="en-US" sz="1600" u="none" cap="none" strike="noStrike">
                <a:solidFill>
                  <a:srgbClr val="1C2230"/>
                </a:solidFill>
                <a:latin typeface="Comfortaa"/>
                <a:ea typeface="Comfortaa"/>
                <a:cs typeface="Comfortaa"/>
                <a:sym typeface="Comfortaa"/>
              </a:rPr>
              <a:t>VFIO</a:t>
            </a:r>
            <a:endParaRPr i="0" sz="1600" u="none" cap="none" strike="noStrike">
              <a:solidFill>
                <a:schemeClr val="dk1"/>
              </a:solidFill>
              <a:latin typeface="Comfortaa"/>
              <a:ea typeface="Comfortaa"/>
              <a:cs typeface="Comfortaa"/>
              <a:sym typeface="Comfortaa"/>
            </a:endParaRPr>
          </a:p>
        </p:txBody>
      </p:sp>
      <p:sp>
        <p:nvSpPr>
          <p:cNvPr id="421" name="Google Shape;421;p34"/>
          <p:cNvSpPr/>
          <p:nvPr/>
        </p:nvSpPr>
        <p:spPr>
          <a:xfrm>
            <a:off x="1046700" y="3649550"/>
            <a:ext cx="5154000" cy="522600"/>
          </a:xfrm>
          <a:prstGeom prst="rect">
            <a:avLst/>
          </a:prstGeom>
          <a:noFill/>
          <a:ln>
            <a:noFill/>
          </a:ln>
        </p:spPr>
        <p:txBody>
          <a:bodyPr anchorCtr="0" anchor="t" bIns="0" lIns="0" spcFirstLastPara="1" rIns="0" wrap="square" tIns="0">
            <a:noAutofit/>
          </a:bodyPr>
          <a:lstStyle/>
          <a:p>
            <a:pPr indent="0" lvl="0" marL="0" marR="0" rtl="0" algn="l">
              <a:lnSpc>
                <a:spcPct val="145037"/>
              </a:lnSpc>
              <a:spcBef>
                <a:spcPts val="0"/>
              </a:spcBef>
              <a:spcAft>
                <a:spcPts val="0"/>
              </a:spcAft>
              <a:buClr>
                <a:srgbClr val="1C2230"/>
              </a:buClr>
              <a:buSzPts val="1350"/>
              <a:buFont typeface="IBM Plex Sans"/>
              <a:buNone/>
            </a:pPr>
            <a:r>
              <a:rPr i="0" lang="en-US" sz="1350" u="none" cap="none" strike="noStrike">
                <a:solidFill>
                  <a:srgbClr val="1C2230"/>
                </a:solidFill>
                <a:latin typeface="Comfortaa"/>
                <a:ea typeface="Comfortaa"/>
                <a:cs typeface="Comfortaa"/>
                <a:sym typeface="Comfortaa"/>
              </a:rPr>
              <a:t>Exposes the group to QEMU: container, group, device — or iommufd. VFIO_IOMMU_MAP_DMA installs GPA → HPA.</a:t>
            </a:r>
            <a:endParaRPr i="0" sz="1350" u="none" cap="none" strike="noStrike">
              <a:solidFill>
                <a:schemeClr val="dk1"/>
              </a:solidFill>
              <a:latin typeface="Comfortaa"/>
              <a:ea typeface="Comfortaa"/>
              <a:cs typeface="Comfortaa"/>
              <a:sym typeface="Comfortaa"/>
            </a:endParaRPr>
          </a:p>
        </p:txBody>
      </p:sp>
      <p:sp>
        <p:nvSpPr>
          <p:cNvPr id="422" name="Google Shape;422;p34"/>
          <p:cNvSpPr/>
          <p:nvPr/>
        </p:nvSpPr>
        <p:spPr>
          <a:xfrm>
            <a:off x="6323550" y="3057525"/>
            <a:ext cx="5175300" cy="1291500"/>
          </a:xfrm>
          <a:prstGeom prst="roundRect">
            <a:avLst>
              <a:gd fmla="val 7622" name="adj"/>
            </a:avLst>
          </a:prstGeom>
          <a:solidFill>
            <a:srgbClr val="FDFCF9"/>
          </a:solidFill>
          <a:ln cap="flat" cmpd="sng" w="9525">
            <a:solidFill>
              <a:srgbClr val="D9D4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omfortaa"/>
              <a:ea typeface="Comfortaa"/>
              <a:cs typeface="Comfortaa"/>
              <a:sym typeface="Comfortaa"/>
            </a:endParaRPr>
          </a:p>
        </p:txBody>
      </p:sp>
      <p:sp>
        <p:nvSpPr>
          <p:cNvPr id="423" name="Google Shape;423;p34"/>
          <p:cNvSpPr/>
          <p:nvPr/>
        </p:nvSpPr>
        <p:spPr>
          <a:xfrm>
            <a:off x="6431492" y="3316821"/>
            <a:ext cx="4855231" cy="2692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C2230"/>
              </a:buClr>
              <a:buSzPts val="1600"/>
              <a:buFont typeface="IBM Plex Sans"/>
              <a:buNone/>
            </a:pPr>
            <a:r>
              <a:rPr b="1" i="0" lang="en-US" sz="1600" u="none" cap="none" strike="noStrike">
                <a:solidFill>
                  <a:srgbClr val="1C2230"/>
                </a:solidFill>
                <a:latin typeface="Comfortaa"/>
                <a:ea typeface="Comfortaa"/>
                <a:cs typeface="Comfortaa"/>
                <a:sym typeface="Comfortaa"/>
              </a:rPr>
              <a:t>What we gain</a:t>
            </a:r>
            <a:endParaRPr i="0" sz="1600" u="none" cap="none" strike="noStrike">
              <a:solidFill>
                <a:schemeClr val="dk1"/>
              </a:solidFill>
              <a:latin typeface="Comfortaa"/>
              <a:ea typeface="Comfortaa"/>
              <a:cs typeface="Comfortaa"/>
              <a:sym typeface="Comfortaa"/>
            </a:endParaRPr>
          </a:p>
        </p:txBody>
      </p:sp>
      <p:sp>
        <p:nvSpPr>
          <p:cNvPr id="424" name="Google Shape;424;p34"/>
          <p:cNvSpPr/>
          <p:nvPr/>
        </p:nvSpPr>
        <p:spPr>
          <a:xfrm>
            <a:off x="6431492" y="3649551"/>
            <a:ext cx="4855231" cy="522605"/>
          </a:xfrm>
          <a:prstGeom prst="rect">
            <a:avLst/>
          </a:prstGeom>
          <a:noFill/>
          <a:ln>
            <a:noFill/>
          </a:ln>
        </p:spPr>
        <p:txBody>
          <a:bodyPr anchorCtr="0" anchor="t" bIns="0" lIns="0" spcFirstLastPara="1" rIns="0" wrap="square" tIns="0">
            <a:noAutofit/>
          </a:bodyPr>
          <a:lstStyle/>
          <a:p>
            <a:pPr indent="0" lvl="0" marL="0" marR="0" rtl="0" algn="l">
              <a:lnSpc>
                <a:spcPct val="145037"/>
              </a:lnSpc>
              <a:spcBef>
                <a:spcPts val="0"/>
              </a:spcBef>
              <a:spcAft>
                <a:spcPts val="0"/>
              </a:spcAft>
              <a:buClr>
                <a:srgbClr val="1C2230"/>
              </a:buClr>
              <a:buSzPts val="1350"/>
              <a:buFont typeface="IBM Plex Sans"/>
              <a:buNone/>
            </a:pPr>
            <a:r>
              <a:rPr i="0" lang="en-US" sz="1350" u="none" cap="none" strike="noStrike">
                <a:solidFill>
                  <a:srgbClr val="1C2230"/>
                </a:solidFill>
                <a:latin typeface="Comfortaa"/>
                <a:ea typeface="Comfortaa"/>
                <a:cs typeface="Comfortaa"/>
                <a:sym typeface="Comfortaa"/>
              </a:rPr>
              <a:t>Zero exits on the data path: only configuration, and interrupts without posted interrupts.</a:t>
            </a:r>
            <a:endParaRPr i="0" sz="1350" u="none" cap="none" strike="noStrike">
              <a:solidFill>
                <a:schemeClr val="dk1"/>
              </a:solidFill>
              <a:latin typeface="Comfortaa"/>
              <a:ea typeface="Comfortaa"/>
              <a:cs typeface="Comfortaa"/>
              <a:sym typeface="Comfortaa"/>
            </a:endParaRPr>
          </a:p>
        </p:txBody>
      </p:sp>
      <p:sp>
        <p:nvSpPr>
          <p:cNvPr id="425" name="Google Shape;425;p34"/>
          <p:cNvSpPr/>
          <p:nvPr/>
        </p:nvSpPr>
        <p:spPr>
          <a:xfrm>
            <a:off x="812800" y="6238242"/>
            <a:ext cx="10883392"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673"/>
              </a:buClr>
              <a:buSzPts val="1200"/>
              <a:buFont typeface="IBM Plex Sans"/>
              <a:buNone/>
            </a:pPr>
            <a:r>
              <a:rPr i="0" lang="en-US" sz="1200" u="none" cap="none" strike="noStrike">
                <a:solidFill>
                  <a:srgbClr val="5F6673"/>
                </a:solidFill>
                <a:latin typeface="Comfortaa"/>
                <a:ea typeface="Comfortaa"/>
                <a:cs typeface="Comfortaa"/>
                <a:sym typeface="Comfortaa"/>
              </a:rPr>
              <a:t>Documentation/driver-api/vfio.rst</a:t>
            </a:r>
            <a:endParaRPr i="0" sz="1200" u="none" cap="none" strike="noStrike">
              <a:solidFill>
                <a:schemeClr val="dk1"/>
              </a:solidFill>
              <a:latin typeface="Comfortaa"/>
              <a:ea typeface="Comfortaa"/>
              <a:cs typeface="Comfortaa"/>
              <a:sym typeface="Comfortaa"/>
            </a:endParaRPr>
          </a:p>
        </p:txBody>
      </p:sp>
      <p:sp>
        <p:nvSpPr>
          <p:cNvPr id="426" name="Google Shape;426;p34"/>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427" name="Google Shape;427;p34"/>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rtl="0" algn="r">
              <a:lnSpc>
                <a:spcPct val="140000"/>
              </a:lnSpc>
              <a:spcBef>
                <a:spcPts val="0"/>
              </a:spcBef>
              <a:spcAft>
                <a:spcPts val="0"/>
              </a:spcAft>
              <a:buClr>
                <a:schemeClr val="accent1"/>
              </a:buClr>
              <a:buSzPts val="1200"/>
              <a:buFont typeface="IBM Plex Mono"/>
              <a:buNone/>
            </a:pPr>
            <a:r>
              <a:rPr lang="en-US" sz="1200">
                <a:solidFill>
                  <a:schemeClr val="accent1"/>
                </a:solidFill>
                <a:latin typeface="Comfortaa"/>
                <a:ea typeface="Comfortaa"/>
                <a:cs typeface="Comfortaa"/>
                <a:sym typeface="Comfortaa"/>
              </a:rPr>
              <a:t>III · DEVICE VIRTUALIZATION</a:t>
            </a:r>
            <a:endParaRPr sz="1200">
              <a:solidFill>
                <a:schemeClr val="dk1"/>
              </a:solidFill>
              <a:latin typeface="Comfortaa"/>
              <a:ea typeface="Comfortaa"/>
              <a:cs typeface="Comfortaa"/>
              <a:sym typeface="Comfortaa"/>
            </a:endParaRPr>
          </a:p>
          <a:p>
            <a:pPr indent="0" lvl="0" marL="0" marR="0" rtl="0" algn="r">
              <a:lnSpc>
                <a:spcPct val="140000"/>
              </a:lnSpc>
              <a:spcBef>
                <a:spcPts val="0"/>
              </a:spcBef>
              <a:spcAft>
                <a:spcPts val="0"/>
              </a:spcAft>
              <a:buClr>
                <a:srgbClr val="B24A17"/>
              </a:buClr>
              <a:buSzPts val="1200"/>
              <a:buFont typeface="IBM Plex Mono"/>
              <a:buNone/>
            </a:pPr>
            <a:r>
              <a:t/>
            </a:r>
            <a:endParaRPr sz="1200">
              <a:solidFill>
                <a:srgbClr val="B24A17"/>
              </a:solidFill>
              <a:latin typeface="Comfortaa"/>
              <a:ea typeface="Comfortaa"/>
              <a:cs typeface="Comfortaa"/>
              <a:sym typeface="Comfortaa"/>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E"/>
        </a:solidFill>
      </p:bgPr>
    </p:bg>
    <p:spTree>
      <p:nvGrpSpPr>
        <p:cNvPr id="432" name="Shape 432"/>
        <p:cNvGrpSpPr/>
        <p:nvPr/>
      </p:nvGrpSpPr>
      <p:grpSpPr>
        <a:xfrm>
          <a:off x="0" y="0"/>
          <a:ext cx="0" cy="0"/>
          <a:chOff x="0" y="0"/>
          <a:chExt cx="0" cy="0"/>
        </a:xfrm>
      </p:grpSpPr>
      <p:sp>
        <p:nvSpPr>
          <p:cNvPr id="433" name="Google Shape;433;p35"/>
          <p:cNvSpPr txBox="1"/>
          <p:nvPr>
            <p:ph type="title"/>
          </p:nvPr>
        </p:nvSpPr>
        <p:spPr>
          <a:xfrm>
            <a:off x="812800" y="1102358"/>
            <a:ext cx="10883400" cy="4446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C2230"/>
              </a:buClr>
              <a:buSzPct val="100000"/>
              <a:buFont typeface="IBM Plex Sans"/>
              <a:buNone/>
            </a:pPr>
            <a:r>
              <a:rPr b="1" i="0" lang="en-US" sz="3000">
                <a:solidFill>
                  <a:srgbClr val="1C2230"/>
                </a:solidFill>
                <a:latin typeface="Comfortaa"/>
                <a:ea typeface="Comfortaa"/>
                <a:cs typeface="Comfortaa"/>
                <a:sym typeface="Comfortaa"/>
              </a:rPr>
              <a:t>Passthrough</a:t>
            </a:r>
            <a:endParaRPr sz="3000">
              <a:latin typeface="Comfortaa"/>
              <a:ea typeface="Comfortaa"/>
              <a:cs typeface="Comfortaa"/>
              <a:sym typeface="Comfortaa"/>
            </a:endParaRPr>
          </a:p>
        </p:txBody>
      </p:sp>
      <p:pic>
        <p:nvPicPr>
          <p:cNvPr id="434" name="Google Shape;434;p35"/>
          <p:cNvPicPr preferRelativeResize="0"/>
          <p:nvPr/>
        </p:nvPicPr>
        <p:blipFill>
          <a:blip r:embed="rId3">
            <a:alphaModFix/>
          </a:blip>
          <a:stretch>
            <a:fillRect/>
          </a:stretch>
        </p:blipFill>
        <p:spPr>
          <a:xfrm>
            <a:off x="929425" y="1694287"/>
            <a:ext cx="5120450" cy="4396624"/>
          </a:xfrm>
          <a:prstGeom prst="rect">
            <a:avLst/>
          </a:prstGeom>
          <a:noFill/>
          <a:ln>
            <a:noFill/>
          </a:ln>
          <a:effectLst>
            <a:outerShdw blurRad="57150" rotWithShape="0" algn="bl" dir="5400000" dist="19050">
              <a:srgbClr val="000000">
                <a:alpha val="50000"/>
              </a:srgbClr>
            </a:outerShdw>
          </a:effectLst>
        </p:spPr>
      </p:pic>
      <p:sp>
        <p:nvSpPr>
          <p:cNvPr id="435" name="Google Shape;435;p35"/>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436" name="Google Shape;436;p35"/>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rtl="0" algn="r">
              <a:lnSpc>
                <a:spcPct val="140000"/>
              </a:lnSpc>
              <a:spcBef>
                <a:spcPts val="0"/>
              </a:spcBef>
              <a:spcAft>
                <a:spcPts val="0"/>
              </a:spcAft>
              <a:buClr>
                <a:schemeClr val="accent1"/>
              </a:buClr>
              <a:buSzPts val="1200"/>
              <a:buFont typeface="IBM Plex Mono"/>
              <a:buNone/>
            </a:pPr>
            <a:r>
              <a:rPr lang="en-US" sz="1200">
                <a:solidFill>
                  <a:schemeClr val="accent1"/>
                </a:solidFill>
                <a:latin typeface="Comfortaa"/>
                <a:ea typeface="Comfortaa"/>
                <a:cs typeface="Comfortaa"/>
                <a:sym typeface="Comfortaa"/>
              </a:rPr>
              <a:t>III · DEVICE VIRTUALIZATION</a:t>
            </a:r>
            <a:endParaRPr sz="1200">
              <a:solidFill>
                <a:schemeClr val="dk1"/>
              </a:solidFill>
              <a:latin typeface="Comfortaa"/>
              <a:ea typeface="Comfortaa"/>
              <a:cs typeface="Comfortaa"/>
              <a:sym typeface="Comfortaa"/>
            </a:endParaRPr>
          </a:p>
          <a:p>
            <a:pPr indent="0" lvl="0" marL="0" marR="0" rtl="0" algn="r">
              <a:lnSpc>
                <a:spcPct val="140000"/>
              </a:lnSpc>
              <a:spcBef>
                <a:spcPts val="0"/>
              </a:spcBef>
              <a:spcAft>
                <a:spcPts val="0"/>
              </a:spcAft>
              <a:buClr>
                <a:srgbClr val="B24A17"/>
              </a:buClr>
              <a:buSzPts val="1200"/>
              <a:buFont typeface="IBM Plex Mono"/>
              <a:buNone/>
            </a:pPr>
            <a:r>
              <a:t/>
            </a:r>
            <a:endParaRPr sz="1200">
              <a:solidFill>
                <a:srgbClr val="B24A17"/>
              </a:solidFill>
              <a:latin typeface="Comfortaa"/>
              <a:ea typeface="Comfortaa"/>
              <a:cs typeface="Comfortaa"/>
              <a:sym typeface="Comfortaa"/>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3EE"/>
        </a:solidFill>
      </p:bgPr>
    </p:bg>
    <p:spTree>
      <p:nvGrpSpPr>
        <p:cNvPr id="441" name="Shape 441"/>
        <p:cNvGrpSpPr/>
        <p:nvPr/>
      </p:nvGrpSpPr>
      <p:grpSpPr>
        <a:xfrm>
          <a:off x="0" y="0"/>
          <a:ext cx="0" cy="0"/>
          <a:chOff x="0" y="0"/>
          <a:chExt cx="0" cy="0"/>
        </a:xfrm>
      </p:grpSpPr>
      <p:sp>
        <p:nvSpPr>
          <p:cNvPr id="442" name="Google Shape;442;p36"/>
          <p:cNvSpPr/>
          <p:nvPr/>
        </p:nvSpPr>
        <p:spPr>
          <a:xfrm>
            <a:off x="812800" y="812800"/>
            <a:ext cx="10883392" cy="238760"/>
          </a:xfrm>
          <a:prstGeom prst="rect">
            <a:avLst/>
          </a:prstGeom>
          <a:noFill/>
          <a:ln>
            <a:noFill/>
          </a:ln>
        </p:spPr>
        <p:txBody>
          <a:bodyPr anchorCtr="0" anchor="t" bIns="0" lIns="0" spcFirstLastPara="1" rIns="0" wrap="square" tIns="0">
            <a:noAutofit/>
          </a:bodyPr>
          <a:lstStyle/>
          <a:p>
            <a:pPr indent="0" lvl="0" marL="0" rtl="0" algn="r">
              <a:lnSpc>
                <a:spcPct val="140000"/>
              </a:lnSpc>
              <a:spcBef>
                <a:spcPts val="0"/>
              </a:spcBef>
              <a:spcAft>
                <a:spcPts val="0"/>
              </a:spcAft>
              <a:buClr>
                <a:schemeClr val="accent1"/>
              </a:buClr>
              <a:buSzPts val="1200"/>
              <a:buFont typeface="IBM Plex Mono"/>
              <a:buNone/>
            </a:pPr>
            <a:r>
              <a:rPr lang="en-US" sz="1200">
                <a:solidFill>
                  <a:schemeClr val="accent1"/>
                </a:solidFill>
                <a:latin typeface="Comfortaa"/>
                <a:ea typeface="Comfortaa"/>
                <a:cs typeface="Comfortaa"/>
                <a:sym typeface="Comfortaa"/>
              </a:rPr>
              <a:t>III · DEVICE VIRTUALIZATION</a:t>
            </a:r>
            <a:endParaRPr sz="1200">
              <a:solidFill>
                <a:schemeClr val="dk1"/>
              </a:solidFill>
              <a:latin typeface="Comfortaa"/>
              <a:ea typeface="Comfortaa"/>
              <a:cs typeface="Comfortaa"/>
              <a:sym typeface="Comfortaa"/>
            </a:endParaRPr>
          </a:p>
          <a:p>
            <a:pPr indent="0" lvl="0" marL="0" marR="0" rtl="0" algn="l">
              <a:lnSpc>
                <a:spcPct val="140000"/>
              </a:lnSpc>
              <a:spcBef>
                <a:spcPts val="0"/>
              </a:spcBef>
              <a:spcAft>
                <a:spcPts val="0"/>
              </a:spcAft>
              <a:buClr>
                <a:srgbClr val="B24A17"/>
              </a:buClr>
              <a:buSzPts val="1200"/>
              <a:buFont typeface="IBM Plex Mono"/>
              <a:buNone/>
            </a:pPr>
            <a:r>
              <a:t/>
            </a:r>
            <a:endParaRPr sz="1200">
              <a:solidFill>
                <a:srgbClr val="B24A17"/>
              </a:solidFill>
              <a:latin typeface="Comfortaa"/>
              <a:ea typeface="Comfortaa"/>
              <a:cs typeface="Comfortaa"/>
              <a:sym typeface="Comfortaa"/>
            </a:endParaRPr>
          </a:p>
        </p:txBody>
      </p:sp>
      <p:sp>
        <p:nvSpPr>
          <p:cNvPr id="443" name="Google Shape;443;p36"/>
          <p:cNvSpPr txBox="1"/>
          <p:nvPr>
            <p:ph type="title"/>
          </p:nvPr>
        </p:nvSpPr>
        <p:spPr>
          <a:xfrm>
            <a:off x="812800" y="1102358"/>
            <a:ext cx="10883392" cy="4445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C2230"/>
              </a:buClr>
              <a:buSzPct val="100000"/>
              <a:buFont typeface="IBM Plex Sans"/>
              <a:buNone/>
            </a:pPr>
            <a:r>
              <a:rPr b="1" i="0" lang="en-US" sz="3000">
                <a:solidFill>
                  <a:srgbClr val="1C2230"/>
                </a:solidFill>
                <a:latin typeface="Comfortaa"/>
                <a:ea typeface="Comfortaa"/>
                <a:cs typeface="Comfortaa"/>
                <a:sym typeface="Comfortaa"/>
              </a:rPr>
              <a:t>Sharing one physical device </a:t>
            </a:r>
            <a:r>
              <a:rPr b="1" lang="en-US">
                <a:latin typeface="Comfortaa"/>
                <a:ea typeface="Comfortaa"/>
                <a:cs typeface="Comfortaa"/>
                <a:sym typeface="Comfortaa"/>
              </a:rPr>
              <a:t>for Passthrough</a:t>
            </a:r>
            <a:endParaRPr sz="3000">
              <a:latin typeface="Comfortaa"/>
              <a:ea typeface="Comfortaa"/>
              <a:cs typeface="Comfortaa"/>
              <a:sym typeface="Comfortaa"/>
            </a:endParaRPr>
          </a:p>
        </p:txBody>
      </p:sp>
      <p:sp>
        <p:nvSpPr>
          <p:cNvPr id="444" name="Google Shape;444;p36"/>
          <p:cNvSpPr/>
          <p:nvPr/>
        </p:nvSpPr>
        <p:spPr>
          <a:xfrm>
            <a:off x="815975" y="1880233"/>
            <a:ext cx="3380317" cy="1904153"/>
          </a:xfrm>
          <a:prstGeom prst="roundRect">
            <a:avLst>
              <a:gd fmla="val 5169" name="adj"/>
            </a:avLst>
          </a:prstGeom>
          <a:solidFill>
            <a:srgbClr val="FDFCF9"/>
          </a:solidFill>
          <a:ln cap="flat" cmpd="sng" w="9525">
            <a:solidFill>
              <a:srgbClr val="D9D4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omfortaa"/>
              <a:ea typeface="Comfortaa"/>
              <a:cs typeface="Comfortaa"/>
              <a:sym typeface="Comfortaa"/>
            </a:endParaRPr>
          </a:p>
        </p:txBody>
      </p:sp>
      <p:sp>
        <p:nvSpPr>
          <p:cNvPr id="445" name="Google Shape;445;p36"/>
          <p:cNvSpPr/>
          <p:nvPr/>
        </p:nvSpPr>
        <p:spPr>
          <a:xfrm>
            <a:off x="1072092" y="2136353"/>
            <a:ext cx="2954126" cy="2844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C2230"/>
              </a:buClr>
              <a:buSzPts val="1700"/>
              <a:buFont typeface="IBM Plex Sans"/>
              <a:buNone/>
            </a:pPr>
            <a:r>
              <a:rPr b="1" i="0" lang="en-US" sz="1700" u="none" cap="none" strike="noStrike">
                <a:solidFill>
                  <a:srgbClr val="1C2230"/>
                </a:solidFill>
                <a:latin typeface="Comfortaa"/>
                <a:ea typeface="Comfortaa"/>
                <a:cs typeface="Comfortaa"/>
                <a:sym typeface="Comfortaa"/>
              </a:rPr>
              <a:t>SR-IOV</a:t>
            </a:r>
            <a:endParaRPr i="0" sz="1700" u="none" cap="none" strike="noStrike">
              <a:solidFill>
                <a:schemeClr val="dk1"/>
              </a:solidFill>
              <a:latin typeface="Comfortaa"/>
              <a:ea typeface="Comfortaa"/>
              <a:cs typeface="Comfortaa"/>
              <a:sym typeface="Comfortaa"/>
            </a:endParaRPr>
          </a:p>
        </p:txBody>
      </p:sp>
      <p:sp>
        <p:nvSpPr>
          <p:cNvPr id="446" name="Google Shape;446;p36"/>
          <p:cNvSpPr/>
          <p:nvPr/>
        </p:nvSpPr>
        <p:spPr>
          <a:xfrm>
            <a:off x="1072092" y="2497026"/>
            <a:ext cx="2954126" cy="105664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1C2230"/>
              </a:buClr>
              <a:buSzPts val="1400"/>
              <a:buFont typeface="IBM Plex Sans"/>
              <a:buNone/>
            </a:pPr>
            <a:r>
              <a:rPr i="0" lang="en-US" sz="1400" u="none" cap="none" strike="noStrike">
                <a:solidFill>
                  <a:srgbClr val="1C2230"/>
                </a:solidFill>
                <a:latin typeface="Comfortaa"/>
                <a:ea typeface="Comfortaa"/>
                <a:cs typeface="Comfortaa"/>
                <a:sym typeface="Comfortaa"/>
              </a:rPr>
              <a:t>One physical function, several virtual functions. Each VF has its own Requester ID, hence its own IOMMU context.</a:t>
            </a:r>
            <a:endParaRPr i="0" sz="1400" u="none" cap="none" strike="noStrike">
              <a:solidFill>
                <a:schemeClr val="dk1"/>
              </a:solidFill>
              <a:latin typeface="Comfortaa"/>
              <a:ea typeface="Comfortaa"/>
              <a:cs typeface="Comfortaa"/>
              <a:sym typeface="Comfortaa"/>
            </a:endParaRPr>
          </a:p>
        </p:txBody>
      </p:sp>
      <p:sp>
        <p:nvSpPr>
          <p:cNvPr id="447" name="Google Shape;447;p36"/>
          <p:cNvSpPr/>
          <p:nvPr/>
        </p:nvSpPr>
        <p:spPr>
          <a:xfrm>
            <a:off x="4405842" y="1880233"/>
            <a:ext cx="3380317" cy="1904153"/>
          </a:xfrm>
          <a:prstGeom prst="roundRect">
            <a:avLst>
              <a:gd fmla="val 5169" name="adj"/>
            </a:avLst>
          </a:prstGeom>
          <a:solidFill>
            <a:srgbClr val="FDFCF9"/>
          </a:solidFill>
          <a:ln cap="flat" cmpd="sng" w="9525">
            <a:solidFill>
              <a:srgbClr val="D9D4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omfortaa"/>
              <a:ea typeface="Comfortaa"/>
              <a:cs typeface="Comfortaa"/>
              <a:sym typeface="Comfortaa"/>
            </a:endParaRPr>
          </a:p>
        </p:txBody>
      </p:sp>
      <p:sp>
        <p:nvSpPr>
          <p:cNvPr id="448" name="Google Shape;448;p36"/>
          <p:cNvSpPr/>
          <p:nvPr/>
        </p:nvSpPr>
        <p:spPr>
          <a:xfrm>
            <a:off x="4661958" y="2136353"/>
            <a:ext cx="2954126" cy="2844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C2230"/>
              </a:buClr>
              <a:buSzPts val="1700"/>
              <a:buFont typeface="IBM Plex Sans"/>
              <a:buNone/>
            </a:pPr>
            <a:r>
              <a:rPr b="1" i="0" lang="en-US" sz="1700" u="none" cap="none" strike="noStrike">
                <a:solidFill>
                  <a:srgbClr val="1C2230"/>
                </a:solidFill>
                <a:latin typeface="Comfortaa"/>
                <a:ea typeface="Comfortaa"/>
                <a:cs typeface="Comfortaa"/>
                <a:sym typeface="Comfortaa"/>
              </a:rPr>
              <a:t>Posted interrupts</a:t>
            </a:r>
            <a:endParaRPr i="0" sz="1700" u="none" cap="none" strike="noStrike">
              <a:solidFill>
                <a:schemeClr val="dk1"/>
              </a:solidFill>
              <a:latin typeface="Comfortaa"/>
              <a:ea typeface="Comfortaa"/>
              <a:cs typeface="Comfortaa"/>
              <a:sym typeface="Comfortaa"/>
            </a:endParaRPr>
          </a:p>
        </p:txBody>
      </p:sp>
      <p:sp>
        <p:nvSpPr>
          <p:cNvPr id="449" name="Google Shape;449;p36"/>
          <p:cNvSpPr/>
          <p:nvPr/>
        </p:nvSpPr>
        <p:spPr>
          <a:xfrm>
            <a:off x="4661958" y="2497026"/>
            <a:ext cx="2954126" cy="79883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1C2230"/>
              </a:buClr>
              <a:buSzPts val="1400"/>
              <a:buFont typeface="IBM Plex Sans"/>
              <a:buNone/>
            </a:pPr>
            <a:r>
              <a:rPr i="0" lang="en-US" sz="1400" u="none" cap="none" strike="noStrike">
                <a:solidFill>
                  <a:srgbClr val="1C2230"/>
                </a:solidFill>
                <a:latin typeface="Comfortaa"/>
                <a:ea typeface="Comfortaa"/>
                <a:cs typeface="Comfortaa"/>
                <a:sym typeface="Comfortaa"/>
              </a:rPr>
              <a:t>The IOMMU delivers the interrupt straight to the target vCPU, with no VM exit at all.</a:t>
            </a:r>
            <a:endParaRPr i="0" sz="1400" u="none" cap="none" strike="noStrike">
              <a:solidFill>
                <a:schemeClr val="dk1"/>
              </a:solidFill>
              <a:latin typeface="Comfortaa"/>
              <a:ea typeface="Comfortaa"/>
              <a:cs typeface="Comfortaa"/>
              <a:sym typeface="Comfortaa"/>
            </a:endParaRPr>
          </a:p>
        </p:txBody>
      </p:sp>
      <p:sp>
        <p:nvSpPr>
          <p:cNvPr id="450" name="Google Shape;450;p36"/>
          <p:cNvSpPr/>
          <p:nvPr/>
        </p:nvSpPr>
        <p:spPr>
          <a:xfrm>
            <a:off x="7995708" y="1880233"/>
            <a:ext cx="3380317" cy="1904153"/>
          </a:xfrm>
          <a:prstGeom prst="roundRect">
            <a:avLst>
              <a:gd fmla="val 5169" name="adj"/>
            </a:avLst>
          </a:prstGeom>
          <a:solidFill>
            <a:srgbClr val="FDFCF9"/>
          </a:solidFill>
          <a:ln cap="flat" cmpd="sng" w="9525">
            <a:solidFill>
              <a:srgbClr val="D9D4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omfortaa"/>
              <a:ea typeface="Comfortaa"/>
              <a:cs typeface="Comfortaa"/>
              <a:sym typeface="Comfortaa"/>
            </a:endParaRPr>
          </a:p>
        </p:txBody>
      </p:sp>
      <p:sp>
        <p:nvSpPr>
          <p:cNvPr id="451" name="Google Shape;451;p36"/>
          <p:cNvSpPr/>
          <p:nvPr/>
        </p:nvSpPr>
        <p:spPr>
          <a:xfrm>
            <a:off x="8251825" y="2136353"/>
            <a:ext cx="2954126" cy="2844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C2230"/>
              </a:buClr>
              <a:buSzPts val="1700"/>
              <a:buFont typeface="IBM Plex Sans"/>
              <a:buNone/>
            </a:pPr>
            <a:r>
              <a:rPr b="1" i="0" lang="en-US" sz="1700" u="none" cap="none" strike="noStrike">
                <a:solidFill>
                  <a:srgbClr val="1C2230"/>
                </a:solidFill>
                <a:latin typeface="Comfortaa"/>
                <a:ea typeface="Comfortaa"/>
                <a:cs typeface="Comfortaa"/>
                <a:sym typeface="Comfortaa"/>
              </a:rPr>
              <a:t>S-IOV and mdev</a:t>
            </a:r>
            <a:endParaRPr i="0" sz="1700" u="none" cap="none" strike="noStrike">
              <a:solidFill>
                <a:schemeClr val="dk1"/>
              </a:solidFill>
              <a:latin typeface="Comfortaa"/>
              <a:ea typeface="Comfortaa"/>
              <a:cs typeface="Comfortaa"/>
              <a:sym typeface="Comfortaa"/>
            </a:endParaRPr>
          </a:p>
        </p:txBody>
      </p:sp>
      <p:sp>
        <p:nvSpPr>
          <p:cNvPr id="452" name="Google Shape;452;p36"/>
          <p:cNvSpPr/>
          <p:nvPr/>
        </p:nvSpPr>
        <p:spPr>
          <a:xfrm>
            <a:off x="8251825" y="2497026"/>
            <a:ext cx="2954126" cy="79883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1C2230"/>
              </a:buClr>
              <a:buSzPts val="1400"/>
              <a:buFont typeface="IBM Plex Sans"/>
              <a:buNone/>
            </a:pPr>
            <a:r>
              <a:rPr i="0" lang="en-US" sz="1400" u="none" cap="none" strike="noStrike">
                <a:solidFill>
                  <a:srgbClr val="1C2230"/>
                </a:solidFill>
                <a:latin typeface="Comfortaa"/>
                <a:ea typeface="Comfortaa"/>
                <a:cs typeface="Comfortaa"/>
                <a:sym typeface="Comfortaa"/>
              </a:rPr>
              <a:t>Finer sharing: interfaces isolated by PASID, or a device mediated by the host driver — vGPUs work this way.</a:t>
            </a:r>
            <a:endParaRPr i="0" sz="1400" u="none" cap="none" strike="noStrike">
              <a:solidFill>
                <a:schemeClr val="dk1"/>
              </a:solidFill>
              <a:latin typeface="Comfortaa"/>
              <a:ea typeface="Comfortaa"/>
              <a:cs typeface="Comfortaa"/>
              <a:sym typeface="Comfortaa"/>
            </a:endParaRPr>
          </a:p>
        </p:txBody>
      </p:sp>
      <p:cxnSp>
        <p:nvCxnSpPr>
          <p:cNvPr id="453" name="Google Shape;453;p36"/>
          <p:cNvCxnSpPr/>
          <p:nvPr/>
        </p:nvCxnSpPr>
        <p:spPr>
          <a:xfrm>
            <a:off x="831850" y="4143164"/>
            <a:ext cx="0" cy="386080"/>
          </a:xfrm>
          <a:prstGeom prst="straightConnector1">
            <a:avLst/>
          </a:prstGeom>
          <a:noFill/>
          <a:ln cap="flat" cmpd="sng" w="38100">
            <a:solidFill>
              <a:srgbClr val="B24A17"/>
            </a:solidFill>
            <a:prstDash val="solid"/>
            <a:round/>
            <a:headEnd len="sm" w="sm" type="none"/>
            <a:tailEnd len="sm" w="sm" type="none"/>
          </a:ln>
        </p:spPr>
      </p:cxnSp>
      <p:sp>
        <p:nvSpPr>
          <p:cNvPr id="454" name="Google Shape;454;p36"/>
          <p:cNvSpPr/>
          <p:nvPr/>
        </p:nvSpPr>
        <p:spPr>
          <a:xfrm>
            <a:off x="1027642" y="4193964"/>
            <a:ext cx="10662105" cy="3098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230"/>
              </a:buClr>
              <a:buSzPts val="1600"/>
              <a:buFont typeface="IBM Plex Sans"/>
              <a:buNone/>
            </a:pPr>
            <a:r>
              <a:rPr i="0" lang="en-US" sz="1600" u="none" cap="none" strike="noStrike">
                <a:solidFill>
                  <a:srgbClr val="1C2230"/>
                </a:solidFill>
                <a:latin typeface="Comfortaa"/>
                <a:ea typeface="Comfortaa"/>
                <a:cs typeface="Comfortaa"/>
                <a:sym typeface="Comfortaa"/>
              </a:rPr>
              <a:t>The Requester ID, then the PASID, is what lets the IOMMU keep tenants apart.</a:t>
            </a:r>
            <a:endParaRPr i="0" sz="1600" u="none" cap="none" strike="noStrike">
              <a:solidFill>
                <a:schemeClr val="dk1"/>
              </a:solidFill>
              <a:latin typeface="Comfortaa"/>
              <a:ea typeface="Comfortaa"/>
              <a:cs typeface="Comfortaa"/>
              <a:sym typeface="Comfortaa"/>
            </a:endParaRPr>
          </a:p>
        </p:txBody>
      </p:sp>
      <p:sp>
        <p:nvSpPr>
          <p:cNvPr id="455" name="Google Shape;455;p36"/>
          <p:cNvSpPr/>
          <p:nvPr/>
        </p:nvSpPr>
        <p:spPr>
          <a:xfrm>
            <a:off x="812800" y="6238242"/>
            <a:ext cx="10883392"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673"/>
              </a:buClr>
              <a:buSzPts val="1200"/>
              <a:buFont typeface="IBM Plex Sans"/>
              <a:buNone/>
            </a:pPr>
            <a:r>
              <a:rPr i="0" lang="en-US" sz="1200" u="none" cap="none" strike="noStrike">
                <a:solidFill>
                  <a:srgbClr val="5F6673"/>
                </a:solidFill>
                <a:latin typeface="Comfortaa"/>
                <a:ea typeface="Comfortaa"/>
                <a:cs typeface="Comfortaa"/>
                <a:sym typeface="Comfortaa"/>
              </a:rPr>
              <a:t>echo 4 &gt; /sys/class/net/eth0/device/sriov_numvfs</a:t>
            </a:r>
            <a:endParaRPr i="0" sz="1200" u="none" cap="none" strike="noStrike">
              <a:solidFill>
                <a:schemeClr val="dk1"/>
              </a:solidFill>
              <a:latin typeface="Comfortaa"/>
              <a:ea typeface="Comfortaa"/>
              <a:cs typeface="Comfortaa"/>
              <a:sym typeface="Comfortaa"/>
            </a:endParaRPr>
          </a:p>
        </p:txBody>
      </p:sp>
      <p:sp>
        <p:nvSpPr>
          <p:cNvPr id="456" name="Google Shape;456;p36"/>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E"/>
        </a:solidFill>
      </p:bgPr>
    </p:bg>
    <p:spTree>
      <p:nvGrpSpPr>
        <p:cNvPr id="461" name="Shape 461"/>
        <p:cNvGrpSpPr/>
        <p:nvPr/>
      </p:nvGrpSpPr>
      <p:grpSpPr>
        <a:xfrm>
          <a:off x="0" y="0"/>
          <a:ext cx="0" cy="0"/>
          <a:chOff x="0" y="0"/>
          <a:chExt cx="0" cy="0"/>
        </a:xfrm>
      </p:grpSpPr>
      <p:sp>
        <p:nvSpPr>
          <p:cNvPr id="462" name="Google Shape;462;p37"/>
          <p:cNvSpPr txBox="1"/>
          <p:nvPr>
            <p:ph type="title"/>
          </p:nvPr>
        </p:nvSpPr>
        <p:spPr>
          <a:xfrm>
            <a:off x="812800" y="1102358"/>
            <a:ext cx="10883392" cy="4445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C2230"/>
              </a:buClr>
              <a:buSzPct val="100000"/>
              <a:buFont typeface="IBM Plex Sans"/>
              <a:buNone/>
            </a:pPr>
            <a:r>
              <a:rPr b="1" i="0" lang="en-US" sz="3000">
                <a:solidFill>
                  <a:srgbClr val="1C2230"/>
                </a:solidFill>
                <a:latin typeface="Comfortaa"/>
                <a:ea typeface="Comfortaa"/>
                <a:cs typeface="Comfortaa"/>
                <a:sym typeface="Comfortaa"/>
              </a:rPr>
              <a:t>The trade-off</a:t>
            </a:r>
            <a:r>
              <a:rPr b="1" lang="en-US">
                <a:latin typeface="Comfortaa"/>
                <a:ea typeface="Comfortaa"/>
                <a:cs typeface="Comfortaa"/>
                <a:sym typeface="Comfortaa"/>
              </a:rPr>
              <a:t> per assignation technique.</a:t>
            </a:r>
            <a:endParaRPr sz="3000">
              <a:latin typeface="Comfortaa"/>
              <a:ea typeface="Comfortaa"/>
              <a:cs typeface="Comfortaa"/>
              <a:sym typeface="Comfortaa"/>
            </a:endParaRPr>
          </a:p>
        </p:txBody>
      </p:sp>
      <p:graphicFrame>
        <p:nvGraphicFramePr>
          <p:cNvPr id="463" name="Google Shape;463;p37"/>
          <p:cNvGraphicFramePr/>
          <p:nvPr/>
        </p:nvGraphicFramePr>
        <p:xfrm>
          <a:off x="823383" y="1887641"/>
          <a:ext cx="3000000" cy="3000000"/>
        </p:xfrm>
        <a:graphic>
          <a:graphicData uri="http://schemas.openxmlformats.org/drawingml/2006/table">
            <a:tbl>
              <a:tblPr>
                <a:noFill/>
                <a:tableStyleId>{2C9794BF-300B-47EC-A758-20547E4869C1}</a:tableStyleId>
              </a:tblPr>
              <a:tblGrid>
                <a:gridCol w="2744500"/>
                <a:gridCol w="1688925"/>
                <a:gridCol w="1900050"/>
                <a:gridCol w="2111175"/>
                <a:gridCol w="2111175"/>
              </a:tblGrid>
              <a:tr h="410625">
                <a:tc>
                  <a:txBody>
                    <a:bodyPr/>
                    <a:lstStyle/>
                    <a:p>
                      <a:pPr indent="0" lvl="0" marL="0" marR="0" rtl="0" algn="l">
                        <a:lnSpc>
                          <a:spcPct val="140000"/>
                        </a:lnSpc>
                        <a:spcBef>
                          <a:spcPts val="0"/>
                        </a:spcBef>
                        <a:spcAft>
                          <a:spcPts val="0"/>
                        </a:spcAft>
                        <a:buClr>
                          <a:srgbClr val="1C2230"/>
                        </a:buClr>
                        <a:buSzPts val="1500"/>
                        <a:buFont typeface="IBM Plex Sans"/>
                        <a:buNone/>
                      </a:pPr>
                      <a:r>
                        <a:rPr b="1" lang="en-US" sz="1500" u="none" cap="none" strike="noStrike">
                          <a:solidFill>
                            <a:srgbClr val="1C2230"/>
                          </a:solidFill>
                          <a:latin typeface="Comfortaa"/>
                          <a:ea typeface="Comfortaa"/>
                          <a:cs typeface="Comfortaa"/>
                          <a:sym typeface="Comfortaa"/>
                        </a:rPr>
                        <a:t>Approach</a:t>
                      </a:r>
                      <a:endParaRPr sz="1500" u="none" cap="none" strike="noStrike">
                        <a:latin typeface="Comfortaa"/>
                        <a:ea typeface="Comfortaa"/>
                        <a:cs typeface="Comfortaa"/>
                        <a:sym typeface="Comfortaa"/>
                      </a:endParaRPr>
                    </a:p>
                  </a:txBody>
                  <a:tcPr marT="66675" marB="66675" marR="66675" marL="66675">
                    <a:lnL cap="flat" cmpd="sng" w="12700">
                      <a:solidFill>
                        <a:srgbClr val="C4C2BE"/>
                      </a:solidFill>
                      <a:prstDash val="solid"/>
                      <a:round/>
                      <a:headEnd len="sm" w="sm" type="none"/>
                      <a:tailEnd len="sm" w="sm" type="none"/>
                    </a:lnL>
                    <a:lnR cap="flat" cmpd="sng" w="12700">
                      <a:solidFill>
                        <a:srgbClr val="B5B4B0"/>
                      </a:solidFill>
                      <a:prstDash val="solid"/>
                      <a:round/>
                      <a:headEnd len="sm" w="sm" type="none"/>
                      <a:tailEnd len="sm" w="sm" type="none"/>
                    </a:lnR>
                    <a:lnT cap="flat" cmpd="sng" w="12700">
                      <a:solidFill>
                        <a:srgbClr val="C4C2BE"/>
                      </a:solidFill>
                      <a:prstDash val="solid"/>
                      <a:round/>
                      <a:headEnd len="sm" w="sm" type="none"/>
                      <a:tailEnd len="sm" w="sm" type="none"/>
                    </a:lnT>
                    <a:lnB cap="flat" cmpd="sng" w="12700">
                      <a:solidFill>
                        <a:srgbClr val="B5B4B0"/>
                      </a:solidFill>
                      <a:prstDash val="solid"/>
                      <a:round/>
                      <a:headEnd len="sm" w="sm" type="none"/>
                      <a:tailEnd len="sm" w="sm" type="none"/>
                    </a:lnB>
                    <a:solidFill>
                      <a:srgbClr val="E3E1DC"/>
                    </a:solidFill>
                  </a:tcPr>
                </a:tc>
                <a:tc>
                  <a:txBody>
                    <a:bodyPr/>
                    <a:lstStyle/>
                    <a:p>
                      <a:pPr indent="0" lvl="0" marL="0" marR="0" rtl="0" algn="l">
                        <a:lnSpc>
                          <a:spcPct val="140000"/>
                        </a:lnSpc>
                        <a:spcBef>
                          <a:spcPts val="0"/>
                        </a:spcBef>
                        <a:spcAft>
                          <a:spcPts val="0"/>
                        </a:spcAft>
                        <a:buClr>
                          <a:srgbClr val="1C2230"/>
                        </a:buClr>
                        <a:buSzPts val="1500"/>
                        <a:buFont typeface="IBM Plex Sans"/>
                        <a:buNone/>
                      </a:pPr>
                      <a:r>
                        <a:rPr b="1" lang="en-US" sz="1500" u="none" cap="none" strike="noStrike">
                          <a:solidFill>
                            <a:srgbClr val="1C2230"/>
                          </a:solidFill>
                          <a:latin typeface="Comfortaa"/>
                          <a:ea typeface="Comfortaa"/>
                          <a:cs typeface="Comfortaa"/>
                          <a:sym typeface="Comfortaa"/>
                        </a:rPr>
                        <a:t>Speed</a:t>
                      </a:r>
                      <a:endParaRPr sz="1500" u="none" cap="none" strike="noStrike">
                        <a:latin typeface="Comfortaa"/>
                        <a:ea typeface="Comfortaa"/>
                        <a:cs typeface="Comfortaa"/>
                        <a:sym typeface="Comfortaa"/>
                      </a:endParaRPr>
                    </a:p>
                  </a:txBody>
                  <a:tcPr marT="66675" marB="66675" marR="66675" marL="66675">
                    <a:lnL cap="flat" cmpd="sng" w="12700">
                      <a:solidFill>
                        <a:srgbClr val="B5B4B0"/>
                      </a:solidFill>
                      <a:prstDash val="solid"/>
                      <a:round/>
                      <a:headEnd len="sm" w="sm" type="none"/>
                      <a:tailEnd len="sm" w="sm" type="none"/>
                    </a:lnL>
                    <a:lnR cap="flat" cmpd="sng" w="12700">
                      <a:solidFill>
                        <a:srgbClr val="B5B4B0"/>
                      </a:solidFill>
                      <a:prstDash val="solid"/>
                      <a:round/>
                      <a:headEnd len="sm" w="sm" type="none"/>
                      <a:tailEnd len="sm" w="sm" type="none"/>
                    </a:lnR>
                    <a:lnT cap="flat" cmpd="sng" w="12700">
                      <a:solidFill>
                        <a:srgbClr val="C4C2BE"/>
                      </a:solidFill>
                      <a:prstDash val="solid"/>
                      <a:round/>
                      <a:headEnd len="sm" w="sm" type="none"/>
                      <a:tailEnd len="sm" w="sm" type="none"/>
                    </a:lnT>
                    <a:lnB cap="flat" cmpd="sng" w="12700">
                      <a:solidFill>
                        <a:srgbClr val="B5B4B0"/>
                      </a:solidFill>
                      <a:prstDash val="solid"/>
                      <a:round/>
                      <a:headEnd len="sm" w="sm" type="none"/>
                      <a:tailEnd len="sm" w="sm" type="none"/>
                    </a:lnB>
                    <a:solidFill>
                      <a:srgbClr val="E3E1DC"/>
                    </a:solidFill>
                  </a:tcPr>
                </a:tc>
                <a:tc>
                  <a:txBody>
                    <a:bodyPr/>
                    <a:lstStyle/>
                    <a:p>
                      <a:pPr indent="0" lvl="0" marL="0" marR="0" rtl="0" algn="l">
                        <a:lnSpc>
                          <a:spcPct val="140000"/>
                        </a:lnSpc>
                        <a:spcBef>
                          <a:spcPts val="0"/>
                        </a:spcBef>
                        <a:spcAft>
                          <a:spcPts val="0"/>
                        </a:spcAft>
                        <a:buClr>
                          <a:srgbClr val="1C2230"/>
                        </a:buClr>
                        <a:buSzPts val="1500"/>
                        <a:buFont typeface="IBM Plex Sans"/>
                        <a:buNone/>
                      </a:pPr>
                      <a:r>
                        <a:rPr b="1" lang="en-US" sz="1500" u="none" cap="none" strike="noStrike">
                          <a:solidFill>
                            <a:srgbClr val="1C2230"/>
                          </a:solidFill>
                          <a:latin typeface="Comfortaa"/>
                          <a:ea typeface="Comfortaa"/>
                          <a:cs typeface="Comfortaa"/>
                          <a:sym typeface="Comfortaa"/>
                        </a:rPr>
                        <a:t>Isolation</a:t>
                      </a:r>
                      <a:endParaRPr sz="1500" u="none" cap="none" strike="noStrike">
                        <a:latin typeface="Comfortaa"/>
                        <a:ea typeface="Comfortaa"/>
                        <a:cs typeface="Comfortaa"/>
                        <a:sym typeface="Comfortaa"/>
                      </a:endParaRPr>
                    </a:p>
                  </a:txBody>
                  <a:tcPr marT="66675" marB="66675" marR="66675" marL="66675">
                    <a:lnL cap="flat" cmpd="sng" w="12700">
                      <a:solidFill>
                        <a:srgbClr val="B5B4B0"/>
                      </a:solidFill>
                      <a:prstDash val="solid"/>
                      <a:round/>
                      <a:headEnd len="sm" w="sm" type="none"/>
                      <a:tailEnd len="sm" w="sm" type="none"/>
                    </a:lnL>
                    <a:lnR cap="flat" cmpd="sng" w="12700">
                      <a:solidFill>
                        <a:srgbClr val="B5B4B0"/>
                      </a:solidFill>
                      <a:prstDash val="solid"/>
                      <a:round/>
                      <a:headEnd len="sm" w="sm" type="none"/>
                      <a:tailEnd len="sm" w="sm" type="none"/>
                    </a:lnR>
                    <a:lnT cap="flat" cmpd="sng" w="12700">
                      <a:solidFill>
                        <a:srgbClr val="C4C2BE"/>
                      </a:solidFill>
                      <a:prstDash val="solid"/>
                      <a:round/>
                      <a:headEnd len="sm" w="sm" type="none"/>
                      <a:tailEnd len="sm" w="sm" type="none"/>
                    </a:lnT>
                    <a:lnB cap="flat" cmpd="sng" w="12700">
                      <a:solidFill>
                        <a:srgbClr val="B5B4B0"/>
                      </a:solidFill>
                      <a:prstDash val="solid"/>
                      <a:round/>
                      <a:headEnd len="sm" w="sm" type="none"/>
                      <a:tailEnd len="sm" w="sm" type="none"/>
                    </a:lnB>
                    <a:solidFill>
                      <a:srgbClr val="E3E1DC"/>
                    </a:solidFill>
                  </a:tcPr>
                </a:tc>
                <a:tc>
                  <a:txBody>
                    <a:bodyPr/>
                    <a:lstStyle/>
                    <a:p>
                      <a:pPr indent="0" lvl="0" marL="0" marR="0" rtl="0" algn="l">
                        <a:lnSpc>
                          <a:spcPct val="140000"/>
                        </a:lnSpc>
                        <a:spcBef>
                          <a:spcPts val="0"/>
                        </a:spcBef>
                        <a:spcAft>
                          <a:spcPts val="0"/>
                        </a:spcAft>
                        <a:buClr>
                          <a:srgbClr val="1C2230"/>
                        </a:buClr>
                        <a:buSzPts val="1500"/>
                        <a:buFont typeface="IBM Plex Sans"/>
                        <a:buNone/>
                      </a:pPr>
                      <a:r>
                        <a:rPr b="1" lang="en-US" sz="1500" u="none" cap="none" strike="noStrike">
                          <a:solidFill>
                            <a:srgbClr val="1C2230"/>
                          </a:solidFill>
                          <a:latin typeface="Comfortaa"/>
                          <a:ea typeface="Comfortaa"/>
                          <a:cs typeface="Comfortaa"/>
                          <a:sym typeface="Comfortaa"/>
                        </a:rPr>
                        <a:t>Live migration</a:t>
                      </a:r>
                      <a:endParaRPr sz="1500" u="none" cap="none" strike="noStrike">
                        <a:latin typeface="Comfortaa"/>
                        <a:ea typeface="Comfortaa"/>
                        <a:cs typeface="Comfortaa"/>
                        <a:sym typeface="Comfortaa"/>
                      </a:endParaRPr>
                    </a:p>
                  </a:txBody>
                  <a:tcPr marT="66675" marB="66675" marR="66675" marL="66675">
                    <a:lnL cap="flat" cmpd="sng" w="12700">
                      <a:solidFill>
                        <a:srgbClr val="B5B4B0"/>
                      </a:solidFill>
                      <a:prstDash val="solid"/>
                      <a:round/>
                      <a:headEnd len="sm" w="sm" type="none"/>
                      <a:tailEnd len="sm" w="sm" type="none"/>
                    </a:lnL>
                    <a:lnR cap="flat" cmpd="sng" w="12700">
                      <a:solidFill>
                        <a:srgbClr val="B5B4B0"/>
                      </a:solidFill>
                      <a:prstDash val="solid"/>
                      <a:round/>
                      <a:headEnd len="sm" w="sm" type="none"/>
                      <a:tailEnd len="sm" w="sm" type="none"/>
                    </a:lnR>
                    <a:lnT cap="flat" cmpd="sng" w="12700">
                      <a:solidFill>
                        <a:srgbClr val="C4C2BE"/>
                      </a:solidFill>
                      <a:prstDash val="solid"/>
                      <a:round/>
                      <a:headEnd len="sm" w="sm" type="none"/>
                      <a:tailEnd len="sm" w="sm" type="none"/>
                    </a:lnT>
                    <a:lnB cap="flat" cmpd="sng" w="12700">
                      <a:solidFill>
                        <a:srgbClr val="B5B4B0"/>
                      </a:solidFill>
                      <a:prstDash val="solid"/>
                      <a:round/>
                      <a:headEnd len="sm" w="sm" type="none"/>
                      <a:tailEnd len="sm" w="sm" type="none"/>
                    </a:lnB>
                    <a:solidFill>
                      <a:srgbClr val="E3E1DC"/>
                    </a:solidFill>
                  </a:tcPr>
                </a:tc>
                <a:tc>
                  <a:txBody>
                    <a:bodyPr/>
                    <a:lstStyle/>
                    <a:p>
                      <a:pPr indent="0" lvl="0" marL="0" marR="0" rtl="0" algn="l">
                        <a:lnSpc>
                          <a:spcPct val="140000"/>
                        </a:lnSpc>
                        <a:spcBef>
                          <a:spcPts val="0"/>
                        </a:spcBef>
                        <a:spcAft>
                          <a:spcPts val="0"/>
                        </a:spcAft>
                        <a:buClr>
                          <a:srgbClr val="1C2230"/>
                        </a:buClr>
                        <a:buSzPts val="1500"/>
                        <a:buFont typeface="IBM Plex Sans"/>
                        <a:buNone/>
                      </a:pPr>
                      <a:r>
                        <a:rPr b="1" lang="en-US" sz="1500" u="none" cap="none" strike="noStrike">
                          <a:solidFill>
                            <a:srgbClr val="1C2230"/>
                          </a:solidFill>
                          <a:latin typeface="Comfortaa"/>
                          <a:ea typeface="Comfortaa"/>
                          <a:cs typeface="Comfortaa"/>
                          <a:sym typeface="Comfortaa"/>
                        </a:rPr>
                        <a:t>Overcommit</a:t>
                      </a:r>
                      <a:endParaRPr sz="1500" u="none" cap="none" strike="noStrike">
                        <a:latin typeface="Comfortaa"/>
                        <a:ea typeface="Comfortaa"/>
                        <a:cs typeface="Comfortaa"/>
                        <a:sym typeface="Comfortaa"/>
                      </a:endParaRPr>
                    </a:p>
                  </a:txBody>
                  <a:tcPr marT="66675" marB="66675" marR="66675" marL="66675">
                    <a:lnL cap="flat" cmpd="sng" w="12700">
                      <a:solidFill>
                        <a:srgbClr val="B5B4B0"/>
                      </a:solidFill>
                      <a:prstDash val="solid"/>
                      <a:round/>
                      <a:headEnd len="sm" w="sm" type="none"/>
                      <a:tailEnd len="sm" w="sm" type="none"/>
                    </a:lnL>
                    <a:lnR cap="flat" cmpd="sng" w="12700">
                      <a:solidFill>
                        <a:srgbClr val="B5B4B0"/>
                      </a:solidFill>
                      <a:prstDash val="solid"/>
                      <a:round/>
                      <a:headEnd len="sm" w="sm" type="none"/>
                      <a:tailEnd len="sm" w="sm" type="none"/>
                    </a:lnR>
                    <a:lnT cap="flat" cmpd="sng" w="12700">
                      <a:solidFill>
                        <a:srgbClr val="C4C2BE"/>
                      </a:solidFill>
                      <a:prstDash val="solid"/>
                      <a:round/>
                      <a:headEnd len="sm" w="sm" type="none"/>
                      <a:tailEnd len="sm" w="sm" type="none"/>
                    </a:lnT>
                    <a:lnB cap="flat" cmpd="sng" w="12700">
                      <a:solidFill>
                        <a:srgbClr val="B5B4B0"/>
                      </a:solidFill>
                      <a:prstDash val="solid"/>
                      <a:round/>
                      <a:headEnd len="sm" w="sm" type="none"/>
                      <a:tailEnd len="sm" w="sm" type="none"/>
                    </a:lnB>
                    <a:solidFill>
                      <a:srgbClr val="E3E1DC"/>
                    </a:solidFill>
                  </a:tcPr>
                </a:tc>
              </a:tr>
              <a:tr h="410625">
                <a:tc>
                  <a:txBody>
                    <a:bodyPr/>
                    <a:lstStyle/>
                    <a:p>
                      <a:pPr indent="0" lvl="0" marL="0" marR="0" rtl="0" algn="l">
                        <a:lnSpc>
                          <a:spcPct val="140000"/>
                        </a:lnSpc>
                        <a:spcBef>
                          <a:spcPts val="0"/>
                        </a:spcBef>
                        <a:spcAft>
                          <a:spcPts val="0"/>
                        </a:spcAft>
                        <a:buClr>
                          <a:srgbClr val="1C2230"/>
                        </a:buClr>
                        <a:buSzPts val="1500"/>
                        <a:buFont typeface="IBM Plex Sans"/>
                        <a:buNone/>
                      </a:pPr>
                      <a:r>
                        <a:rPr lang="en-US" sz="1500" u="none" cap="none" strike="noStrike">
                          <a:solidFill>
                            <a:srgbClr val="1C2230"/>
                          </a:solidFill>
                          <a:latin typeface="Comfortaa"/>
                          <a:ea typeface="Comfortaa"/>
                          <a:cs typeface="Comfortaa"/>
                          <a:sym typeface="Comfortaa"/>
                        </a:rPr>
                        <a:t>Emulation</a:t>
                      </a:r>
                      <a:endParaRPr sz="1500" u="none" cap="none" strike="noStrike">
                        <a:latin typeface="Comfortaa"/>
                        <a:ea typeface="Comfortaa"/>
                        <a:cs typeface="Comfortaa"/>
                        <a:sym typeface="Comfortaa"/>
                      </a:endParaRPr>
                    </a:p>
                  </a:txBody>
                  <a:tcPr marT="66675" marB="66675" marR="66675" marL="66675">
                    <a:lnL cap="flat" cmpd="sng" w="12700">
                      <a:solidFill>
                        <a:srgbClr val="C4C2BE"/>
                      </a:solidFill>
                      <a:prstDash val="solid"/>
                      <a:round/>
                      <a:headEnd len="sm" w="sm" type="none"/>
                      <a:tailEnd len="sm" w="sm" type="none"/>
                    </a:lnL>
                    <a:lnR cap="flat" cmpd="sng" w="12700">
                      <a:solidFill>
                        <a:srgbClr val="C4C2BE"/>
                      </a:solidFill>
                      <a:prstDash val="solid"/>
                      <a:round/>
                      <a:headEnd len="sm" w="sm" type="none"/>
                      <a:tailEnd len="sm" w="sm" type="none"/>
                    </a:lnR>
                    <a:lnT cap="flat" cmpd="sng" w="12700">
                      <a:solidFill>
                        <a:srgbClr val="B5B4B0"/>
                      </a:solidFill>
                      <a:prstDash val="solid"/>
                      <a:round/>
                      <a:headEnd len="sm" w="sm" type="none"/>
                      <a:tailEnd len="sm" w="sm" type="none"/>
                    </a:lnT>
                    <a:lnB cap="flat" cmpd="sng" w="12700">
                      <a:solidFill>
                        <a:srgbClr val="C4C2BE"/>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C2230"/>
                        </a:buClr>
                        <a:buSzPts val="1500"/>
                        <a:buFont typeface="IBM Plex Sans"/>
                        <a:buNone/>
                      </a:pPr>
                      <a:r>
                        <a:rPr lang="en-US" sz="1500" u="none" cap="none" strike="noStrike">
                          <a:solidFill>
                            <a:srgbClr val="1C2230"/>
                          </a:solidFill>
                          <a:latin typeface="Comfortaa"/>
                          <a:ea typeface="Comfortaa"/>
                          <a:cs typeface="Comfortaa"/>
                          <a:sym typeface="Comfortaa"/>
                        </a:rPr>
                        <a:t>Low</a:t>
                      </a:r>
                      <a:endParaRPr sz="1500" u="none" cap="none" strike="noStrike">
                        <a:latin typeface="Comfortaa"/>
                        <a:ea typeface="Comfortaa"/>
                        <a:cs typeface="Comfortaa"/>
                        <a:sym typeface="Comfortaa"/>
                      </a:endParaRPr>
                    </a:p>
                  </a:txBody>
                  <a:tcPr marT="66675" marB="66675" marR="66675" marL="66675">
                    <a:lnL cap="flat" cmpd="sng" w="12700">
                      <a:solidFill>
                        <a:srgbClr val="C4C2BE"/>
                      </a:solidFill>
                      <a:prstDash val="solid"/>
                      <a:round/>
                      <a:headEnd len="sm" w="sm" type="none"/>
                      <a:tailEnd len="sm" w="sm" type="none"/>
                    </a:lnL>
                    <a:lnR cap="flat" cmpd="sng" w="12700">
                      <a:solidFill>
                        <a:srgbClr val="C4C2BE"/>
                      </a:solidFill>
                      <a:prstDash val="solid"/>
                      <a:round/>
                      <a:headEnd len="sm" w="sm" type="none"/>
                      <a:tailEnd len="sm" w="sm" type="none"/>
                    </a:lnR>
                    <a:lnT cap="flat" cmpd="sng" w="12700">
                      <a:solidFill>
                        <a:srgbClr val="B5B4B0"/>
                      </a:solidFill>
                      <a:prstDash val="solid"/>
                      <a:round/>
                      <a:headEnd len="sm" w="sm" type="none"/>
                      <a:tailEnd len="sm" w="sm" type="none"/>
                    </a:lnT>
                    <a:lnB cap="flat" cmpd="sng" w="12700">
                      <a:solidFill>
                        <a:srgbClr val="C4C2BE"/>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C2230"/>
                        </a:buClr>
                        <a:buSzPts val="1500"/>
                        <a:buFont typeface="IBM Plex Sans"/>
                        <a:buNone/>
                      </a:pPr>
                      <a:r>
                        <a:rPr lang="en-US" sz="1500" u="none" cap="none" strike="noStrike">
                          <a:solidFill>
                            <a:srgbClr val="1C2230"/>
                          </a:solidFill>
                          <a:latin typeface="Comfortaa"/>
                          <a:ea typeface="Comfortaa"/>
                          <a:cs typeface="Comfortaa"/>
                          <a:sym typeface="Comfortaa"/>
                        </a:rPr>
                        <a:t>Software</a:t>
                      </a:r>
                      <a:endParaRPr sz="1500" u="none" cap="none" strike="noStrike">
                        <a:latin typeface="Comfortaa"/>
                        <a:ea typeface="Comfortaa"/>
                        <a:cs typeface="Comfortaa"/>
                        <a:sym typeface="Comfortaa"/>
                      </a:endParaRPr>
                    </a:p>
                  </a:txBody>
                  <a:tcPr marT="66675" marB="66675" marR="66675" marL="66675">
                    <a:lnL cap="flat" cmpd="sng" w="12700">
                      <a:solidFill>
                        <a:srgbClr val="C4C2BE"/>
                      </a:solidFill>
                      <a:prstDash val="solid"/>
                      <a:round/>
                      <a:headEnd len="sm" w="sm" type="none"/>
                      <a:tailEnd len="sm" w="sm" type="none"/>
                    </a:lnL>
                    <a:lnR cap="flat" cmpd="sng" w="12700">
                      <a:solidFill>
                        <a:srgbClr val="C4C2BE"/>
                      </a:solidFill>
                      <a:prstDash val="solid"/>
                      <a:round/>
                      <a:headEnd len="sm" w="sm" type="none"/>
                      <a:tailEnd len="sm" w="sm" type="none"/>
                    </a:lnR>
                    <a:lnT cap="flat" cmpd="sng" w="12700">
                      <a:solidFill>
                        <a:srgbClr val="B5B4B0"/>
                      </a:solidFill>
                      <a:prstDash val="solid"/>
                      <a:round/>
                      <a:headEnd len="sm" w="sm" type="none"/>
                      <a:tailEnd len="sm" w="sm" type="none"/>
                    </a:lnT>
                    <a:lnB cap="flat" cmpd="sng" w="12700">
                      <a:solidFill>
                        <a:srgbClr val="C4C2BE"/>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C2230"/>
                        </a:buClr>
                        <a:buSzPts val="1500"/>
                        <a:buFont typeface="IBM Plex Sans"/>
                        <a:buNone/>
                      </a:pPr>
                      <a:r>
                        <a:rPr lang="en-US" sz="1500" u="none" cap="none" strike="noStrike">
                          <a:solidFill>
                            <a:srgbClr val="1C2230"/>
                          </a:solidFill>
                          <a:latin typeface="Comfortaa"/>
                          <a:ea typeface="Comfortaa"/>
                          <a:cs typeface="Comfortaa"/>
                          <a:sym typeface="Comfortaa"/>
                        </a:rPr>
                        <a:t>Yes</a:t>
                      </a:r>
                      <a:endParaRPr sz="1500" u="none" cap="none" strike="noStrike">
                        <a:latin typeface="Comfortaa"/>
                        <a:ea typeface="Comfortaa"/>
                        <a:cs typeface="Comfortaa"/>
                        <a:sym typeface="Comfortaa"/>
                      </a:endParaRPr>
                    </a:p>
                  </a:txBody>
                  <a:tcPr marT="66675" marB="66675" marR="66675" marL="66675">
                    <a:lnL cap="flat" cmpd="sng" w="12700">
                      <a:solidFill>
                        <a:srgbClr val="C4C2BE"/>
                      </a:solidFill>
                      <a:prstDash val="solid"/>
                      <a:round/>
                      <a:headEnd len="sm" w="sm" type="none"/>
                      <a:tailEnd len="sm" w="sm" type="none"/>
                    </a:lnL>
                    <a:lnR cap="flat" cmpd="sng" w="12700">
                      <a:solidFill>
                        <a:srgbClr val="C4C2BE"/>
                      </a:solidFill>
                      <a:prstDash val="solid"/>
                      <a:round/>
                      <a:headEnd len="sm" w="sm" type="none"/>
                      <a:tailEnd len="sm" w="sm" type="none"/>
                    </a:lnR>
                    <a:lnT cap="flat" cmpd="sng" w="12700">
                      <a:solidFill>
                        <a:srgbClr val="B5B4B0"/>
                      </a:solidFill>
                      <a:prstDash val="solid"/>
                      <a:round/>
                      <a:headEnd len="sm" w="sm" type="none"/>
                      <a:tailEnd len="sm" w="sm" type="none"/>
                    </a:lnT>
                    <a:lnB cap="flat" cmpd="sng" w="12700">
                      <a:solidFill>
                        <a:srgbClr val="C4C2BE"/>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C2230"/>
                        </a:buClr>
                        <a:buSzPts val="1500"/>
                        <a:buFont typeface="IBM Plex Sans"/>
                        <a:buNone/>
                      </a:pPr>
                      <a:r>
                        <a:rPr lang="en-US" sz="1500" u="none" cap="none" strike="noStrike">
                          <a:solidFill>
                            <a:srgbClr val="1C2230"/>
                          </a:solidFill>
                          <a:latin typeface="Comfortaa"/>
                          <a:ea typeface="Comfortaa"/>
                          <a:cs typeface="Comfortaa"/>
                          <a:sym typeface="Comfortaa"/>
                        </a:rPr>
                        <a:t>Yes</a:t>
                      </a:r>
                      <a:endParaRPr sz="1500" u="none" cap="none" strike="noStrike">
                        <a:latin typeface="Comfortaa"/>
                        <a:ea typeface="Comfortaa"/>
                        <a:cs typeface="Comfortaa"/>
                        <a:sym typeface="Comfortaa"/>
                      </a:endParaRPr>
                    </a:p>
                  </a:txBody>
                  <a:tcPr marT="66675" marB="66675" marR="66675" marL="66675">
                    <a:lnL cap="flat" cmpd="sng" w="12700">
                      <a:solidFill>
                        <a:srgbClr val="C4C2BE"/>
                      </a:solidFill>
                      <a:prstDash val="solid"/>
                      <a:round/>
                      <a:headEnd len="sm" w="sm" type="none"/>
                      <a:tailEnd len="sm" w="sm" type="none"/>
                    </a:lnL>
                    <a:lnR cap="flat" cmpd="sng" w="12700">
                      <a:solidFill>
                        <a:srgbClr val="C4C2BE"/>
                      </a:solidFill>
                      <a:prstDash val="solid"/>
                      <a:round/>
                      <a:headEnd len="sm" w="sm" type="none"/>
                      <a:tailEnd len="sm" w="sm" type="none"/>
                    </a:lnR>
                    <a:lnT cap="flat" cmpd="sng" w="12700">
                      <a:solidFill>
                        <a:srgbClr val="B5B4B0"/>
                      </a:solidFill>
                      <a:prstDash val="solid"/>
                      <a:round/>
                      <a:headEnd len="sm" w="sm" type="none"/>
                      <a:tailEnd len="sm" w="sm" type="none"/>
                    </a:lnT>
                    <a:lnB cap="flat" cmpd="sng" w="12700">
                      <a:solidFill>
                        <a:srgbClr val="C4C2BE"/>
                      </a:solidFill>
                      <a:prstDash val="solid"/>
                      <a:round/>
                      <a:headEnd len="sm" w="sm" type="none"/>
                      <a:tailEnd len="sm" w="sm" type="none"/>
                    </a:lnB>
                  </a:tcPr>
                </a:tc>
              </a:tr>
              <a:tr h="410625">
                <a:tc>
                  <a:txBody>
                    <a:bodyPr/>
                    <a:lstStyle/>
                    <a:p>
                      <a:pPr indent="0" lvl="0" marL="0" marR="0" rtl="0" algn="l">
                        <a:lnSpc>
                          <a:spcPct val="140000"/>
                        </a:lnSpc>
                        <a:spcBef>
                          <a:spcPts val="0"/>
                        </a:spcBef>
                        <a:spcAft>
                          <a:spcPts val="0"/>
                        </a:spcAft>
                        <a:buClr>
                          <a:srgbClr val="1C2230"/>
                        </a:buClr>
                        <a:buSzPts val="1500"/>
                        <a:buFont typeface="IBM Plex Sans"/>
                        <a:buNone/>
                      </a:pPr>
                      <a:r>
                        <a:rPr lang="en-US" sz="1500" u="none" cap="none" strike="noStrike">
                          <a:solidFill>
                            <a:srgbClr val="1C2230"/>
                          </a:solidFill>
                          <a:latin typeface="Comfortaa"/>
                          <a:ea typeface="Comfortaa"/>
                          <a:cs typeface="Comfortaa"/>
                          <a:sym typeface="Comfortaa"/>
                        </a:rPr>
                        <a:t>virtio, vhost</a:t>
                      </a:r>
                      <a:endParaRPr sz="1500" u="none" cap="none" strike="noStrike">
                        <a:latin typeface="Comfortaa"/>
                        <a:ea typeface="Comfortaa"/>
                        <a:cs typeface="Comfortaa"/>
                        <a:sym typeface="Comfortaa"/>
                      </a:endParaRPr>
                    </a:p>
                  </a:txBody>
                  <a:tcPr marT="66675" marB="66675" marR="66675" marL="66675">
                    <a:lnL cap="flat" cmpd="sng" w="12700">
                      <a:solidFill>
                        <a:srgbClr val="C4C2BE"/>
                      </a:solidFill>
                      <a:prstDash val="solid"/>
                      <a:round/>
                      <a:headEnd len="sm" w="sm" type="none"/>
                      <a:tailEnd len="sm" w="sm" type="none"/>
                    </a:lnL>
                    <a:lnR cap="flat" cmpd="sng" w="12700">
                      <a:solidFill>
                        <a:srgbClr val="C4C2BE"/>
                      </a:solidFill>
                      <a:prstDash val="solid"/>
                      <a:round/>
                      <a:headEnd len="sm" w="sm" type="none"/>
                      <a:tailEnd len="sm" w="sm" type="none"/>
                    </a:lnR>
                    <a:lnT cap="flat" cmpd="sng" w="12700">
                      <a:solidFill>
                        <a:srgbClr val="C4C2BE"/>
                      </a:solidFill>
                      <a:prstDash val="solid"/>
                      <a:round/>
                      <a:headEnd len="sm" w="sm" type="none"/>
                      <a:tailEnd len="sm" w="sm" type="none"/>
                    </a:lnT>
                    <a:lnB cap="flat" cmpd="sng" w="12700">
                      <a:solidFill>
                        <a:srgbClr val="C4C2BE"/>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C2230"/>
                        </a:buClr>
                        <a:buSzPts val="1500"/>
                        <a:buFont typeface="IBM Plex Sans"/>
                        <a:buNone/>
                      </a:pPr>
                      <a:r>
                        <a:rPr lang="en-US" sz="1500" u="none" cap="none" strike="noStrike">
                          <a:solidFill>
                            <a:srgbClr val="1C2230"/>
                          </a:solidFill>
                          <a:latin typeface="Comfortaa"/>
                          <a:ea typeface="Comfortaa"/>
                          <a:cs typeface="Comfortaa"/>
                          <a:sym typeface="Comfortaa"/>
                        </a:rPr>
                        <a:t>Good</a:t>
                      </a:r>
                      <a:endParaRPr sz="1500" u="none" cap="none" strike="noStrike">
                        <a:latin typeface="Comfortaa"/>
                        <a:ea typeface="Comfortaa"/>
                        <a:cs typeface="Comfortaa"/>
                        <a:sym typeface="Comfortaa"/>
                      </a:endParaRPr>
                    </a:p>
                  </a:txBody>
                  <a:tcPr marT="66675" marB="66675" marR="66675" marL="66675">
                    <a:lnL cap="flat" cmpd="sng" w="12700">
                      <a:solidFill>
                        <a:srgbClr val="C4C2BE"/>
                      </a:solidFill>
                      <a:prstDash val="solid"/>
                      <a:round/>
                      <a:headEnd len="sm" w="sm" type="none"/>
                      <a:tailEnd len="sm" w="sm" type="none"/>
                    </a:lnL>
                    <a:lnR cap="flat" cmpd="sng" w="12700">
                      <a:solidFill>
                        <a:srgbClr val="C4C2BE"/>
                      </a:solidFill>
                      <a:prstDash val="solid"/>
                      <a:round/>
                      <a:headEnd len="sm" w="sm" type="none"/>
                      <a:tailEnd len="sm" w="sm" type="none"/>
                    </a:lnR>
                    <a:lnT cap="flat" cmpd="sng" w="12700">
                      <a:solidFill>
                        <a:srgbClr val="C4C2BE"/>
                      </a:solidFill>
                      <a:prstDash val="solid"/>
                      <a:round/>
                      <a:headEnd len="sm" w="sm" type="none"/>
                      <a:tailEnd len="sm" w="sm" type="none"/>
                    </a:lnT>
                    <a:lnB cap="flat" cmpd="sng" w="12700">
                      <a:solidFill>
                        <a:srgbClr val="C4C2BE"/>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C2230"/>
                        </a:buClr>
                        <a:buSzPts val="1500"/>
                        <a:buFont typeface="IBM Plex Sans"/>
                        <a:buNone/>
                      </a:pPr>
                      <a:r>
                        <a:rPr lang="en-US" sz="1500" u="none" cap="none" strike="noStrike">
                          <a:solidFill>
                            <a:srgbClr val="1C2230"/>
                          </a:solidFill>
                          <a:latin typeface="Comfortaa"/>
                          <a:ea typeface="Comfortaa"/>
                          <a:cs typeface="Comfortaa"/>
                          <a:sym typeface="Comfortaa"/>
                        </a:rPr>
                        <a:t>Software</a:t>
                      </a:r>
                      <a:endParaRPr sz="1500" u="none" cap="none" strike="noStrike">
                        <a:latin typeface="Comfortaa"/>
                        <a:ea typeface="Comfortaa"/>
                        <a:cs typeface="Comfortaa"/>
                        <a:sym typeface="Comfortaa"/>
                      </a:endParaRPr>
                    </a:p>
                  </a:txBody>
                  <a:tcPr marT="66675" marB="66675" marR="66675" marL="66675">
                    <a:lnL cap="flat" cmpd="sng" w="12700">
                      <a:solidFill>
                        <a:srgbClr val="C4C2BE"/>
                      </a:solidFill>
                      <a:prstDash val="solid"/>
                      <a:round/>
                      <a:headEnd len="sm" w="sm" type="none"/>
                      <a:tailEnd len="sm" w="sm" type="none"/>
                    </a:lnL>
                    <a:lnR cap="flat" cmpd="sng" w="12700">
                      <a:solidFill>
                        <a:srgbClr val="C4C2BE"/>
                      </a:solidFill>
                      <a:prstDash val="solid"/>
                      <a:round/>
                      <a:headEnd len="sm" w="sm" type="none"/>
                      <a:tailEnd len="sm" w="sm" type="none"/>
                    </a:lnR>
                    <a:lnT cap="flat" cmpd="sng" w="12700">
                      <a:solidFill>
                        <a:srgbClr val="C4C2BE"/>
                      </a:solidFill>
                      <a:prstDash val="solid"/>
                      <a:round/>
                      <a:headEnd len="sm" w="sm" type="none"/>
                      <a:tailEnd len="sm" w="sm" type="none"/>
                    </a:lnT>
                    <a:lnB cap="flat" cmpd="sng" w="12700">
                      <a:solidFill>
                        <a:srgbClr val="C4C2BE"/>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C2230"/>
                        </a:buClr>
                        <a:buSzPts val="1500"/>
                        <a:buFont typeface="IBM Plex Sans"/>
                        <a:buNone/>
                      </a:pPr>
                      <a:r>
                        <a:rPr lang="en-US" sz="1500" u="none" cap="none" strike="noStrike">
                          <a:solidFill>
                            <a:srgbClr val="1C2230"/>
                          </a:solidFill>
                          <a:latin typeface="Comfortaa"/>
                          <a:ea typeface="Comfortaa"/>
                          <a:cs typeface="Comfortaa"/>
                          <a:sym typeface="Comfortaa"/>
                        </a:rPr>
                        <a:t>Yes</a:t>
                      </a:r>
                      <a:endParaRPr sz="1500" u="none" cap="none" strike="noStrike">
                        <a:latin typeface="Comfortaa"/>
                        <a:ea typeface="Comfortaa"/>
                        <a:cs typeface="Comfortaa"/>
                        <a:sym typeface="Comfortaa"/>
                      </a:endParaRPr>
                    </a:p>
                  </a:txBody>
                  <a:tcPr marT="66675" marB="66675" marR="66675" marL="66675">
                    <a:lnL cap="flat" cmpd="sng" w="12700">
                      <a:solidFill>
                        <a:srgbClr val="C4C2BE"/>
                      </a:solidFill>
                      <a:prstDash val="solid"/>
                      <a:round/>
                      <a:headEnd len="sm" w="sm" type="none"/>
                      <a:tailEnd len="sm" w="sm" type="none"/>
                    </a:lnL>
                    <a:lnR cap="flat" cmpd="sng" w="12700">
                      <a:solidFill>
                        <a:srgbClr val="C4C2BE"/>
                      </a:solidFill>
                      <a:prstDash val="solid"/>
                      <a:round/>
                      <a:headEnd len="sm" w="sm" type="none"/>
                      <a:tailEnd len="sm" w="sm" type="none"/>
                    </a:lnR>
                    <a:lnT cap="flat" cmpd="sng" w="12700">
                      <a:solidFill>
                        <a:srgbClr val="C4C2BE"/>
                      </a:solidFill>
                      <a:prstDash val="solid"/>
                      <a:round/>
                      <a:headEnd len="sm" w="sm" type="none"/>
                      <a:tailEnd len="sm" w="sm" type="none"/>
                    </a:lnT>
                    <a:lnB cap="flat" cmpd="sng" w="12700">
                      <a:solidFill>
                        <a:srgbClr val="C4C2BE"/>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C2230"/>
                        </a:buClr>
                        <a:buSzPts val="1500"/>
                        <a:buFont typeface="IBM Plex Sans"/>
                        <a:buNone/>
                      </a:pPr>
                      <a:r>
                        <a:rPr lang="en-US" sz="1500" u="none" cap="none" strike="noStrike">
                          <a:solidFill>
                            <a:srgbClr val="1C2230"/>
                          </a:solidFill>
                          <a:latin typeface="Comfortaa"/>
                          <a:ea typeface="Comfortaa"/>
                          <a:cs typeface="Comfortaa"/>
                          <a:sym typeface="Comfortaa"/>
                        </a:rPr>
                        <a:t>Yes</a:t>
                      </a:r>
                      <a:endParaRPr sz="1500" u="none" cap="none" strike="noStrike">
                        <a:latin typeface="Comfortaa"/>
                        <a:ea typeface="Comfortaa"/>
                        <a:cs typeface="Comfortaa"/>
                        <a:sym typeface="Comfortaa"/>
                      </a:endParaRPr>
                    </a:p>
                  </a:txBody>
                  <a:tcPr marT="66675" marB="66675" marR="66675" marL="66675">
                    <a:lnL cap="flat" cmpd="sng" w="12700">
                      <a:solidFill>
                        <a:srgbClr val="C4C2BE"/>
                      </a:solidFill>
                      <a:prstDash val="solid"/>
                      <a:round/>
                      <a:headEnd len="sm" w="sm" type="none"/>
                      <a:tailEnd len="sm" w="sm" type="none"/>
                    </a:lnL>
                    <a:lnR cap="flat" cmpd="sng" w="12700">
                      <a:solidFill>
                        <a:srgbClr val="C4C2BE"/>
                      </a:solidFill>
                      <a:prstDash val="solid"/>
                      <a:round/>
                      <a:headEnd len="sm" w="sm" type="none"/>
                      <a:tailEnd len="sm" w="sm" type="none"/>
                    </a:lnR>
                    <a:lnT cap="flat" cmpd="sng" w="12700">
                      <a:solidFill>
                        <a:srgbClr val="C4C2BE"/>
                      </a:solidFill>
                      <a:prstDash val="solid"/>
                      <a:round/>
                      <a:headEnd len="sm" w="sm" type="none"/>
                      <a:tailEnd len="sm" w="sm" type="none"/>
                    </a:lnT>
                    <a:lnB cap="flat" cmpd="sng" w="12700">
                      <a:solidFill>
                        <a:srgbClr val="C4C2BE"/>
                      </a:solidFill>
                      <a:prstDash val="solid"/>
                      <a:round/>
                      <a:headEnd len="sm" w="sm" type="none"/>
                      <a:tailEnd len="sm" w="sm" type="none"/>
                    </a:lnB>
                  </a:tcPr>
                </a:tc>
              </a:tr>
              <a:tr h="410625">
                <a:tc>
                  <a:txBody>
                    <a:bodyPr/>
                    <a:lstStyle/>
                    <a:p>
                      <a:pPr indent="0" lvl="0" marL="0" marR="0" rtl="0" algn="l">
                        <a:lnSpc>
                          <a:spcPct val="140000"/>
                        </a:lnSpc>
                        <a:spcBef>
                          <a:spcPts val="0"/>
                        </a:spcBef>
                        <a:spcAft>
                          <a:spcPts val="0"/>
                        </a:spcAft>
                        <a:buClr>
                          <a:srgbClr val="1C2230"/>
                        </a:buClr>
                        <a:buSzPts val="1500"/>
                        <a:buFont typeface="IBM Plex Sans"/>
                        <a:buNone/>
                      </a:pPr>
                      <a:r>
                        <a:rPr lang="en-US" sz="1500" u="none" cap="none" strike="noStrike">
                          <a:solidFill>
                            <a:srgbClr val="1C2230"/>
                          </a:solidFill>
                          <a:latin typeface="Comfortaa"/>
                          <a:ea typeface="Comfortaa"/>
                          <a:cs typeface="Comfortaa"/>
                          <a:sym typeface="Comfortaa"/>
                        </a:rPr>
                        <a:t>vDPA</a:t>
                      </a:r>
                      <a:endParaRPr sz="1500" u="none" cap="none" strike="noStrike">
                        <a:latin typeface="Comfortaa"/>
                        <a:ea typeface="Comfortaa"/>
                        <a:cs typeface="Comfortaa"/>
                        <a:sym typeface="Comfortaa"/>
                      </a:endParaRPr>
                    </a:p>
                  </a:txBody>
                  <a:tcPr marT="66675" marB="66675" marR="66675" marL="66675">
                    <a:lnL cap="flat" cmpd="sng" w="12700">
                      <a:solidFill>
                        <a:srgbClr val="C4C2BE"/>
                      </a:solidFill>
                      <a:prstDash val="solid"/>
                      <a:round/>
                      <a:headEnd len="sm" w="sm" type="none"/>
                      <a:tailEnd len="sm" w="sm" type="none"/>
                    </a:lnL>
                    <a:lnR cap="flat" cmpd="sng" w="12700">
                      <a:solidFill>
                        <a:srgbClr val="C4C2BE"/>
                      </a:solidFill>
                      <a:prstDash val="solid"/>
                      <a:round/>
                      <a:headEnd len="sm" w="sm" type="none"/>
                      <a:tailEnd len="sm" w="sm" type="none"/>
                    </a:lnR>
                    <a:lnT cap="flat" cmpd="sng" w="12700">
                      <a:solidFill>
                        <a:srgbClr val="C4C2BE"/>
                      </a:solidFill>
                      <a:prstDash val="solid"/>
                      <a:round/>
                      <a:headEnd len="sm" w="sm" type="none"/>
                      <a:tailEnd len="sm" w="sm" type="none"/>
                    </a:lnT>
                    <a:lnB cap="flat" cmpd="sng" w="12700">
                      <a:solidFill>
                        <a:srgbClr val="C4C2BE"/>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C2230"/>
                        </a:buClr>
                        <a:buSzPts val="1500"/>
                        <a:buFont typeface="IBM Plex Sans"/>
                        <a:buNone/>
                      </a:pPr>
                      <a:r>
                        <a:rPr lang="en-US" sz="1500" u="none" cap="none" strike="noStrike">
                          <a:solidFill>
                            <a:srgbClr val="1C2230"/>
                          </a:solidFill>
                          <a:latin typeface="Comfortaa"/>
                          <a:ea typeface="Comfortaa"/>
                          <a:cs typeface="Comfortaa"/>
                          <a:sym typeface="Comfortaa"/>
                        </a:rPr>
                        <a:t>Near native</a:t>
                      </a:r>
                      <a:endParaRPr sz="1500" u="none" cap="none" strike="noStrike">
                        <a:latin typeface="Comfortaa"/>
                        <a:ea typeface="Comfortaa"/>
                        <a:cs typeface="Comfortaa"/>
                        <a:sym typeface="Comfortaa"/>
                      </a:endParaRPr>
                    </a:p>
                  </a:txBody>
                  <a:tcPr marT="66675" marB="66675" marR="66675" marL="66675">
                    <a:lnL cap="flat" cmpd="sng" w="12700">
                      <a:solidFill>
                        <a:srgbClr val="C4C2BE"/>
                      </a:solidFill>
                      <a:prstDash val="solid"/>
                      <a:round/>
                      <a:headEnd len="sm" w="sm" type="none"/>
                      <a:tailEnd len="sm" w="sm" type="none"/>
                    </a:lnL>
                    <a:lnR cap="flat" cmpd="sng" w="12700">
                      <a:solidFill>
                        <a:srgbClr val="C4C2BE"/>
                      </a:solidFill>
                      <a:prstDash val="solid"/>
                      <a:round/>
                      <a:headEnd len="sm" w="sm" type="none"/>
                      <a:tailEnd len="sm" w="sm" type="none"/>
                    </a:lnR>
                    <a:lnT cap="flat" cmpd="sng" w="12700">
                      <a:solidFill>
                        <a:srgbClr val="C4C2BE"/>
                      </a:solidFill>
                      <a:prstDash val="solid"/>
                      <a:round/>
                      <a:headEnd len="sm" w="sm" type="none"/>
                      <a:tailEnd len="sm" w="sm" type="none"/>
                    </a:lnT>
                    <a:lnB cap="flat" cmpd="sng" w="12700">
                      <a:solidFill>
                        <a:srgbClr val="C4C2BE"/>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C2230"/>
                        </a:buClr>
                        <a:buSzPts val="1500"/>
                        <a:buFont typeface="IBM Plex Sans"/>
                        <a:buNone/>
                      </a:pPr>
                      <a:r>
                        <a:rPr lang="en-US" sz="1500" u="none" cap="none" strike="noStrike">
                          <a:solidFill>
                            <a:srgbClr val="1C2230"/>
                          </a:solidFill>
                          <a:latin typeface="Comfortaa"/>
                          <a:ea typeface="Comfortaa"/>
                          <a:cs typeface="Comfortaa"/>
                          <a:sym typeface="Comfortaa"/>
                        </a:rPr>
                        <a:t>IOMMU</a:t>
                      </a:r>
                      <a:endParaRPr sz="1500" u="none" cap="none" strike="noStrike">
                        <a:latin typeface="Comfortaa"/>
                        <a:ea typeface="Comfortaa"/>
                        <a:cs typeface="Comfortaa"/>
                        <a:sym typeface="Comfortaa"/>
                      </a:endParaRPr>
                    </a:p>
                  </a:txBody>
                  <a:tcPr marT="66675" marB="66675" marR="66675" marL="66675">
                    <a:lnL cap="flat" cmpd="sng" w="12700">
                      <a:solidFill>
                        <a:srgbClr val="C4C2BE"/>
                      </a:solidFill>
                      <a:prstDash val="solid"/>
                      <a:round/>
                      <a:headEnd len="sm" w="sm" type="none"/>
                      <a:tailEnd len="sm" w="sm" type="none"/>
                    </a:lnL>
                    <a:lnR cap="flat" cmpd="sng" w="12700">
                      <a:solidFill>
                        <a:srgbClr val="C4C2BE"/>
                      </a:solidFill>
                      <a:prstDash val="solid"/>
                      <a:round/>
                      <a:headEnd len="sm" w="sm" type="none"/>
                      <a:tailEnd len="sm" w="sm" type="none"/>
                    </a:lnR>
                    <a:lnT cap="flat" cmpd="sng" w="12700">
                      <a:solidFill>
                        <a:srgbClr val="C4C2BE"/>
                      </a:solidFill>
                      <a:prstDash val="solid"/>
                      <a:round/>
                      <a:headEnd len="sm" w="sm" type="none"/>
                      <a:tailEnd len="sm" w="sm" type="none"/>
                    </a:lnT>
                    <a:lnB cap="flat" cmpd="sng" w="12700">
                      <a:solidFill>
                        <a:srgbClr val="C4C2BE"/>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C2230"/>
                        </a:buClr>
                        <a:buSzPts val="1500"/>
                        <a:buFont typeface="IBM Plex Sans"/>
                        <a:buNone/>
                      </a:pPr>
                      <a:r>
                        <a:rPr lang="en-US" sz="1500" u="none" cap="none" strike="noStrike">
                          <a:solidFill>
                            <a:srgbClr val="1C2230"/>
                          </a:solidFill>
                          <a:latin typeface="Comfortaa"/>
                          <a:ea typeface="Comfortaa"/>
                          <a:cs typeface="Comfortaa"/>
                          <a:sym typeface="Comfortaa"/>
                        </a:rPr>
                        <a:t>Yes, via virtio state</a:t>
                      </a:r>
                      <a:endParaRPr sz="1500" u="none" cap="none" strike="noStrike">
                        <a:latin typeface="Comfortaa"/>
                        <a:ea typeface="Comfortaa"/>
                        <a:cs typeface="Comfortaa"/>
                        <a:sym typeface="Comfortaa"/>
                      </a:endParaRPr>
                    </a:p>
                  </a:txBody>
                  <a:tcPr marT="66675" marB="66675" marR="66675" marL="66675">
                    <a:lnL cap="flat" cmpd="sng" w="12700">
                      <a:solidFill>
                        <a:srgbClr val="C4C2BE"/>
                      </a:solidFill>
                      <a:prstDash val="solid"/>
                      <a:round/>
                      <a:headEnd len="sm" w="sm" type="none"/>
                      <a:tailEnd len="sm" w="sm" type="none"/>
                    </a:lnL>
                    <a:lnR cap="flat" cmpd="sng" w="12700">
                      <a:solidFill>
                        <a:srgbClr val="C4C2BE"/>
                      </a:solidFill>
                      <a:prstDash val="solid"/>
                      <a:round/>
                      <a:headEnd len="sm" w="sm" type="none"/>
                      <a:tailEnd len="sm" w="sm" type="none"/>
                    </a:lnR>
                    <a:lnT cap="flat" cmpd="sng" w="12700">
                      <a:solidFill>
                        <a:srgbClr val="C4C2BE"/>
                      </a:solidFill>
                      <a:prstDash val="solid"/>
                      <a:round/>
                      <a:headEnd len="sm" w="sm" type="none"/>
                      <a:tailEnd len="sm" w="sm" type="none"/>
                    </a:lnT>
                    <a:lnB cap="flat" cmpd="sng" w="12700">
                      <a:solidFill>
                        <a:srgbClr val="C4C2BE"/>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C2230"/>
                        </a:buClr>
                        <a:buSzPts val="1500"/>
                        <a:buFont typeface="IBM Plex Sans"/>
                        <a:buNone/>
                      </a:pPr>
                      <a:r>
                        <a:rPr lang="en-US" sz="1500" u="none" cap="none" strike="noStrike">
                          <a:solidFill>
                            <a:srgbClr val="1C2230"/>
                          </a:solidFill>
                          <a:latin typeface="Comfortaa"/>
                          <a:ea typeface="Comfortaa"/>
                          <a:cs typeface="Comfortaa"/>
                          <a:sym typeface="Comfortaa"/>
                        </a:rPr>
                        <a:t>No: pinning</a:t>
                      </a:r>
                      <a:endParaRPr sz="1500" u="none" cap="none" strike="noStrike">
                        <a:latin typeface="Comfortaa"/>
                        <a:ea typeface="Comfortaa"/>
                        <a:cs typeface="Comfortaa"/>
                        <a:sym typeface="Comfortaa"/>
                      </a:endParaRPr>
                    </a:p>
                  </a:txBody>
                  <a:tcPr marT="66675" marB="66675" marR="66675" marL="66675">
                    <a:lnL cap="flat" cmpd="sng" w="12700">
                      <a:solidFill>
                        <a:srgbClr val="C4C2BE"/>
                      </a:solidFill>
                      <a:prstDash val="solid"/>
                      <a:round/>
                      <a:headEnd len="sm" w="sm" type="none"/>
                      <a:tailEnd len="sm" w="sm" type="none"/>
                    </a:lnL>
                    <a:lnR cap="flat" cmpd="sng" w="12700">
                      <a:solidFill>
                        <a:srgbClr val="C4C2BE"/>
                      </a:solidFill>
                      <a:prstDash val="solid"/>
                      <a:round/>
                      <a:headEnd len="sm" w="sm" type="none"/>
                      <a:tailEnd len="sm" w="sm" type="none"/>
                    </a:lnR>
                    <a:lnT cap="flat" cmpd="sng" w="12700">
                      <a:solidFill>
                        <a:srgbClr val="C4C2BE"/>
                      </a:solidFill>
                      <a:prstDash val="solid"/>
                      <a:round/>
                      <a:headEnd len="sm" w="sm" type="none"/>
                      <a:tailEnd len="sm" w="sm" type="none"/>
                    </a:lnT>
                    <a:lnB cap="flat" cmpd="sng" w="12700">
                      <a:solidFill>
                        <a:srgbClr val="C4C2BE"/>
                      </a:solidFill>
                      <a:prstDash val="solid"/>
                      <a:round/>
                      <a:headEnd len="sm" w="sm" type="none"/>
                      <a:tailEnd len="sm" w="sm" type="none"/>
                    </a:lnB>
                  </a:tcPr>
                </a:tc>
              </a:tr>
              <a:tr h="410625">
                <a:tc>
                  <a:txBody>
                    <a:bodyPr/>
                    <a:lstStyle/>
                    <a:p>
                      <a:pPr indent="0" lvl="0" marL="0" marR="0" rtl="0" algn="l">
                        <a:lnSpc>
                          <a:spcPct val="140000"/>
                        </a:lnSpc>
                        <a:spcBef>
                          <a:spcPts val="0"/>
                        </a:spcBef>
                        <a:spcAft>
                          <a:spcPts val="0"/>
                        </a:spcAft>
                        <a:buClr>
                          <a:srgbClr val="1C2230"/>
                        </a:buClr>
                        <a:buSzPts val="1500"/>
                        <a:buFont typeface="IBM Plex Sans"/>
                        <a:buNone/>
                      </a:pPr>
                      <a:r>
                        <a:rPr lang="en-US" sz="1500" u="none" cap="none" strike="noStrike">
                          <a:solidFill>
                            <a:srgbClr val="1C2230"/>
                          </a:solidFill>
                          <a:latin typeface="Comfortaa"/>
                          <a:ea typeface="Comfortaa"/>
                          <a:cs typeface="Comfortaa"/>
                          <a:sym typeface="Comfortaa"/>
                        </a:rPr>
                        <a:t>Passthrough, SR-IOV</a:t>
                      </a:r>
                      <a:endParaRPr sz="1500" u="none" cap="none" strike="noStrike">
                        <a:latin typeface="Comfortaa"/>
                        <a:ea typeface="Comfortaa"/>
                        <a:cs typeface="Comfortaa"/>
                        <a:sym typeface="Comfortaa"/>
                      </a:endParaRPr>
                    </a:p>
                  </a:txBody>
                  <a:tcPr marT="66675" marB="66675" marR="66675" marL="66675">
                    <a:lnL cap="flat" cmpd="sng" w="12700">
                      <a:solidFill>
                        <a:srgbClr val="C4C2BE"/>
                      </a:solidFill>
                      <a:prstDash val="solid"/>
                      <a:round/>
                      <a:headEnd len="sm" w="sm" type="none"/>
                      <a:tailEnd len="sm" w="sm" type="none"/>
                    </a:lnL>
                    <a:lnR cap="flat" cmpd="sng" w="12700">
                      <a:solidFill>
                        <a:srgbClr val="C4C2BE"/>
                      </a:solidFill>
                      <a:prstDash val="solid"/>
                      <a:round/>
                      <a:headEnd len="sm" w="sm" type="none"/>
                      <a:tailEnd len="sm" w="sm" type="none"/>
                    </a:lnR>
                    <a:lnT cap="flat" cmpd="sng" w="12700">
                      <a:solidFill>
                        <a:srgbClr val="C4C2BE"/>
                      </a:solidFill>
                      <a:prstDash val="solid"/>
                      <a:round/>
                      <a:headEnd len="sm" w="sm" type="none"/>
                      <a:tailEnd len="sm" w="sm" type="none"/>
                    </a:lnT>
                    <a:lnB cap="flat" cmpd="sng" w="12700">
                      <a:solidFill>
                        <a:srgbClr val="C4C2BE"/>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C2230"/>
                        </a:buClr>
                        <a:buSzPts val="1500"/>
                        <a:buFont typeface="IBM Plex Sans"/>
                        <a:buNone/>
                      </a:pPr>
                      <a:r>
                        <a:rPr lang="en-US" sz="1500" u="none" cap="none" strike="noStrike">
                          <a:solidFill>
                            <a:srgbClr val="1C2230"/>
                          </a:solidFill>
                          <a:latin typeface="Comfortaa"/>
                          <a:ea typeface="Comfortaa"/>
                          <a:cs typeface="Comfortaa"/>
                          <a:sym typeface="Comfortaa"/>
                        </a:rPr>
                        <a:t>Native</a:t>
                      </a:r>
                      <a:endParaRPr sz="1500" u="none" cap="none" strike="noStrike">
                        <a:latin typeface="Comfortaa"/>
                        <a:ea typeface="Comfortaa"/>
                        <a:cs typeface="Comfortaa"/>
                        <a:sym typeface="Comfortaa"/>
                      </a:endParaRPr>
                    </a:p>
                  </a:txBody>
                  <a:tcPr marT="66675" marB="66675" marR="66675" marL="66675">
                    <a:lnL cap="flat" cmpd="sng" w="12700">
                      <a:solidFill>
                        <a:srgbClr val="C4C2BE"/>
                      </a:solidFill>
                      <a:prstDash val="solid"/>
                      <a:round/>
                      <a:headEnd len="sm" w="sm" type="none"/>
                      <a:tailEnd len="sm" w="sm" type="none"/>
                    </a:lnL>
                    <a:lnR cap="flat" cmpd="sng" w="12700">
                      <a:solidFill>
                        <a:srgbClr val="C4C2BE"/>
                      </a:solidFill>
                      <a:prstDash val="solid"/>
                      <a:round/>
                      <a:headEnd len="sm" w="sm" type="none"/>
                      <a:tailEnd len="sm" w="sm" type="none"/>
                    </a:lnR>
                    <a:lnT cap="flat" cmpd="sng" w="12700">
                      <a:solidFill>
                        <a:srgbClr val="C4C2BE"/>
                      </a:solidFill>
                      <a:prstDash val="solid"/>
                      <a:round/>
                      <a:headEnd len="sm" w="sm" type="none"/>
                      <a:tailEnd len="sm" w="sm" type="none"/>
                    </a:lnT>
                    <a:lnB cap="flat" cmpd="sng" w="12700">
                      <a:solidFill>
                        <a:srgbClr val="C4C2BE"/>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C2230"/>
                        </a:buClr>
                        <a:buSzPts val="1500"/>
                        <a:buFont typeface="IBM Plex Sans"/>
                        <a:buNone/>
                      </a:pPr>
                      <a:r>
                        <a:rPr lang="en-US" sz="1500" u="none" cap="none" strike="noStrike">
                          <a:solidFill>
                            <a:srgbClr val="1C2230"/>
                          </a:solidFill>
                          <a:latin typeface="Comfortaa"/>
                          <a:ea typeface="Comfortaa"/>
                          <a:cs typeface="Comfortaa"/>
                          <a:sym typeface="Comfortaa"/>
                        </a:rPr>
                        <a:t>IOMMU</a:t>
                      </a:r>
                      <a:endParaRPr sz="1500" u="none" cap="none" strike="noStrike">
                        <a:latin typeface="Comfortaa"/>
                        <a:ea typeface="Comfortaa"/>
                        <a:cs typeface="Comfortaa"/>
                        <a:sym typeface="Comfortaa"/>
                      </a:endParaRPr>
                    </a:p>
                  </a:txBody>
                  <a:tcPr marT="66675" marB="66675" marR="66675" marL="66675">
                    <a:lnL cap="flat" cmpd="sng" w="12700">
                      <a:solidFill>
                        <a:srgbClr val="C4C2BE"/>
                      </a:solidFill>
                      <a:prstDash val="solid"/>
                      <a:round/>
                      <a:headEnd len="sm" w="sm" type="none"/>
                      <a:tailEnd len="sm" w="sm" type="none"/>
                    </a:lnL>
                    <a:lnR cap="flat" cmpd="sng" w="12700">
                      <a:solidFill>
                        <a:srgbClr val="C4C2BE"/>
                      </a:solidFill>
                      <a:prstDash val="solid"/>
                      <a:round/>
                      <a:headEnd len="sm" w="sm" type="none"/>
                      <a:tailEnd len="sm" w="sm" type="none"/>
                    </a:lnR>
                    <a:lnT cap="flat" cmpd="sng" w="12700">
                      <a:solidFill>
                        <a:srgbClr val="C4C2BE"/>
                      </a:solidFill>
                      <a:prstDash val="solid"/>
                      <a:round/>
                      <a:headEnd len="sm" w="sm" type="none"/>
                      <a:tailEnd len="sm" w="sm" type="none"/>
                    </a:lnT>
                    <a:lnB cap="flat" cmpd="sng" w="12700">
                      <a:solidFill>
                        <a:srgbClr val="C4C2BE"/>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C2230"/>
                        </a:buClr>
                        <a:buSzPts val="1500"/>
                        <a:buFont typeface="IBM Plex Sans"/>
                        <a:buNone/>
                      </a:pPr>
                      <a:r>
                        <a:rPr lang="en-US" sz="1500" u="none" cap="none" strike="noStrike">
                          <a:solidFill>
                            <a:srgbClr val="1C2230"/>
                          </a:solidFill>
                          <a:latin typeface="Comfortaa"/>
                          <a:ea typeface="Comfortaa"/>
                          <a:cs typeface="Comfortaa"/>
                          <a:sym typeface="Comfortaa"/>
                        </a:rPr>
                        <a:t>Vendor drivers only</a:t>
                      </a:r>
                      <a:endParaRPr sz="1500" u="none" cap="none" strike="noStrike">
                        <a:latin typeface="Comfortaa"/>
                        <a:ea typeface="Comfortaa"/>
                        <a:cs typeface="Comfortaa"/>
                        <a:sym typeface="Comfortaa"/>
                      </a:endParaRPr>
                    </a:p>
                  </a:txBody>
                  <a:tcPr marT="66675" marB="66675" marR="66675" marL="66675">
                    <a:lnL cap="flat" cmpd="sng" w="12700">
                      <a:solidFill>
                        <a:srgbClr val="C4C2BE"/>
                      </a:solidFill>
                      <a:prstDash val="solid"/>
                      <a:round/>
                      <a:headEnd len="sm" w="sm" type="none"/>
                      <a:tailEnd len="sm" w="sm" type="none"/>
                    </a:lnL>
                    <a:lnR cap="flat" cmpd="sng" w="12700">
                      <a:solidFill>
                        <a:srgbClr val="C4C2BE"/>
                      </a:solidFill>
                      <a:prstDash val="solid"/>
                      <a:round/>
                      <a:headEnd len="sm" w="sm" type="none"/>
                      <a:tailEnd len="sm" w="sm" type="none"/>
                    </a:lnR>
                    <a:lnT cap="flat" cmpd="sng" w="12700">
                      <a:solidFill>
                        <a:srgbClr val="C4C2BE"/>
                      </a:solidFill>
                      <a:prstDash val="solid"/>
                      <a:round/>
                      <a:headEnd len="sm" w="sm" type="none"/>
                      <a:tailEnd len="sm" w="sm" type="none"/>
                    </a:lnT>
                    <a:lnB cap="flat" cmpd="sng" w="12700">
                      <a:solidFill>
                        <a:srgbClr val="C4C2BE"/>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C2230"/>
                        </a:buClr>
                        <a:buSzPts val="1500"/>
                        <a:buFont typeface="IBM Plex Sans"/>
                        <a:buNone/>
                      </a:pPr>
                      <a:r>
                        <a:rPr lang="en-US" sz="1500" u="none" cap="none" strike="noStrike">
                          <a:solidFill>
                            <a:srgbClr val="1C2230"/>
                          </a:solidFill>
                          <a:latin typeface="Comfortaa"/>
                          <a:ea typeface="Comfortaa"/>
                          <a:cs typeface="Comfortaa"/>
                          <a:sym typeface="Comfortaa"/>
                        </a:rPr>
                        <a:t>No: pinning</a:t>
                      </a:r>
                      <a:endParaRPr sz="1500" u="none" cap="none" strike="noStrike">
                        <a:latin typeface="Comfortaa"/>
                        <a:ea typeface="Comfortaa"/>
                        <a:cs typeface="Comfortaa"/>
                        <a:sym typeface="Comfortaa"/>
                      </a:endParaRPr>
                    </a:p>
                  </a:txBody>
                  <a:tcPr marT="66675" marB="66675" marR="66675" marL="66675">
                    <a:lnL cap="flat" cmpd="sng" w="12700">
                      <a:solidFill>
                        <a:srgbClr val="C4C2BE"/>
                      </a:solidFill>
                      <a:prstDash val="solid"/>
                      <a:round/>
                      <a:headEnd len="sm" w="sm" type="none"/>
                      <a:tailEnd len="sm" w="sm" type="none"/>
                    </a:lnL>
                    <a:lnR cap="flat" cmpd="sng" w="12700">
                      <a:solidFill>
                        <a:srgbClr val="C4C2BE"/>
                      </a:solidFill>
                      <a:prstDash val="solid"/>
                      <a:round/>
                      <a:headEnd len="sm" w="sm" type="none"/>
                      <a:tailEnd len="sm" w="sm" type="none"/>
                    </a:lnR>
                    <a:lnT cap="flat" cmpd="sng" w="12700">
                      <a:solidFill>
                        <a:srgbClr val="C4C2BE"/>
                      </a:solidFill>
                      <a:prstDash val="solid"/>
                      <a:round/>
                      <a:headEnd len="sm" w="sm" type="none"/>
                      <a:tailEnd len="sm" w="sm" type="none"/>
                    </a:lnT>
                    <a:lnB cap="flat" cmpd="sng" w="12700">
                      <a:solidFill>
                        <a:srgbClr val="C4C2BE"/>
                      </a:solidFill>
                      <a:prstDash val="solid"/>
                      <a:round/>
                      <a:headEnd len="sm" w="sm" type="none"/>
                      <a:tailEnd len="sm" w="sm" type="none"/>
                    </a:lnB>
                  </a:tcPr>
                </a:tc>
              </a:tr>
            </a:tbl>
          </a:graphicData>
        </a:graphic>
      </p:graphicFrame>
      <p:cxnSp>
        <p:nvCxnSpPr>
          <p:cNvPr id="464" name="Google Shape;464;p37"/>
          <p:cNvCxnSpPr/>
          <p:nvPr/>
        </p:nvCxnSpPr>
        <p:spPr>
          <a:xfrm>
            <a:off x="831850" y="4296408"/>
            <a:ext cx="0" cy="386080"/>
          </a:xfrm>
          <a:prstGeom prst="straightConnector1">
            <a:avLst/>
          </a:prstGeom>
          <a:noFill/>
          <a:ln cap="flat" cmpd="sng" w="38100">
            <a:solidFill>
              <a:srgbClr val="B24A17"/>
            </a:solidFill>
            <a:prstDash val="solid"/>
            <a:round/>
            <a:headEnd len="sm" w="sm" type="none"/>
            <a:tailEnd len="sm" w="sm" type="none"/>
          </a:ln>
        </p:spPr>
      </p:cxnSp>
      <p:sp>
        <p:nvSpPr>
          <p:cNvPr id="465" name="Google Shape;465;p37"/>
          <p:cNvSpPr/>
          <p:nvPr/>
        </p:nvSpPr>
        <p:spPr>
          <a:xfrm>
            <a:off x="1027642" y="4347208"/>
            <a:ext cx="10662105" cy="3098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230"/>
              </a:buClr>
              <a:buSzPts val="1600"/>
              <a:buFont typeface="IBM Plex Sans"/>
              <a:buNone/>
            </a:pPr>
            <a:r>
              <a:rPr i="0" lang="en-US" sz="1600" u="none" cap="none" strike="noStrike">
                <a:solidFill>
                  <a:srgbClr val="1C2230"/>
                </a:solidFill>
                <a:latin typeface="Comfortaa"/>
                <a:ea typeface="Comfortaa"/>
                <a:cs typeface="Comfortaa"/>
                <a:sym typeface="Comfortaa"/>
              </a:rPr>
              <a:t>The last column is the open question of the next part.</a:t>
            </a:r>
            <a:endParaRPr i="0" sz="1600" u="none" cap="none" strike="noStrike">
              <a:solidFill>
                <a:schemeClr val="dk1"/>
              </a:solidFill>
              <a:latin typeface="Comfortaa"/>
              <a:ea typeface="Comfortaa"/>
              <a:cs typeface="Comfortaa"/>
              <a:sym typeface="Comfortaa"/>
            </a:endParaRPr>
          </a:p>
        </p:txBody>
      </p:sp>
      <p:sp>
        <p:nvSpPr>
          <p:cNvPr id="466" name="Google Shape;466;p37"/>
          <p:cNvSpPr/>
          <p:nvPr/>
        </p:nvSpPr>
        <p:spPr>
          <a:xfrm>
            <a:off x="812800" y="6238242"/>
            <a:ext cx="10883392"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673"/>
              </a:buClr>
              <a:buSzPts val="1200"/>
              <a:buFont typeface="IBM Plex Sans"/>
              <a:buNone/>
            </a:pPr>
            <a:r>
              <a:rPr i="0" lang="en-US" sz="1200" u="none" cap="none" strike="noStrike">
                <a:solidFill>
                  <a:srgbClr val="5F6673"/>
                </a:solidFill>
                <a:latin typeface="Comfortaa"/>
                <a:ea typeface="Comfortaa"/>
                <a:cs typeface="Comfortaa"/>
                <a:sym typeface="Comfortaa"/>
              </a:rPr>
              <a:t>M2 · Device virtualization</a:t>
            </a:r>
            <a:endParaRPr i="0" sz="1200" u="none" cap="none" strike="noStrike">
              <a:solidFill>
                <a:schemeClr val="dk1"/>
              </a:solidFill>
              <a:latin typeface="Comfortaa"/>
              <a:ea typeface="Comfortaa"/>
              <a:cs typeface="Comfortaa"/>
              <a:sym typeface="Comfortaa"/>
            </a:endParaRPr>
          </a:p>
        </p:txBody>
      </p:sp>
      <p:sp>
        <p:nvSpPr>
          <p:cNvPr id="467" name="Google Shape;467;p37"/>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468" name="Google Shape;468;p37"/>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rtl="0" algn="r">
              <a:lnSpc>
                <a:spcPct val="140000"/>
              </a:lnSpc>
              <a:spcBef>
                <a:spcPts val="0"/>
              </a:spcBef>
              <a:spcAft>
                <a:spcPts val="0"/>
              </a:spcAft>
              <a:buClr>
                <a:schemeClr val="accent1"/>
              </a:buClr>
              <a:buSzPts val="1200"/>
              <a:buFont typeface="IBM Plex Mono"/>
              <a:buNone/>
            </a:pPr>
            <a:r>
              <a:rPr lang="en-US" sz="1200">
                <a:solidFill>
                  <a:schemeClr val="accent1"/>
                </a:solidFill>
                <a:latin typeface="Comfortaa"/>
                <a:ea typeface="Comfortaa"/>
                <a:cs typeface="Comfortaa"/>
                <a:sym typeface="Comfortaa"/>
              </a:rPr>
              <a:t>III · DEVICE VIRTUALIZATION</a:t>
            </a:r>
            <a:endParaRPr sz="1200">
              <a:solidFill>
                <a:schemeClr val="dk1"/>
              </a:solidFill>
              <a:latin typeface="Comfortaa"/>
              <a:ea typeface="Comfortaa"/>
              <a:cs typeface="Comfortaa"/>
              <a:sym typeface="Comfortaa"/>
            </a:endParaRPr>
          </a:p>
          <a:p>
            <a:pPr indent="0" lvl="0" marL="0" marR="0" rtl="0" algn="r">
              <a:lnSpc>
                <a:spcPct val="140000"/>
              </a:lnSpc>
              <a:spcBef>
                <a:spcPts val="0"/>
              </a:spcBef>
              <a:spcAft>
                <a:spcPts val="0"/>
              </a:spcAft>
              <a:buClr>
                <a:srgbClr val="B24A17"/>
              </a:buClr>
              <a:buSzPts val="1200"/>
              <a:buFont typeface="IBM Plex Mono"/>
              <a:buNone/>
            </a:pPr>
            <a:r>
              <a:t/>
            </a:r>
            <a:endParaRPr sz="1200">
              <a:solidFill>
                <a:srgbClr val="B24A17"/>
              </a:solidFill>
              <a:latin typeface="Comfortaa"/>
              <a:ea typeface="Comfortaa"/>
              <a:cs typeface="Comfortaa"/>
              <a:sym typeface="Comfortaa"/>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E"/>
        </a:solidFill>
      </p:bgPr>
    </p:bg>
    <p:spTree>
      <p:nvGrpSpPr>
        <p:cNvPr id="473" name="Shape 473"/>
        <p:cNvGrpSpPr/>
        <p:nvPr/>
      </p:nvGrpSpPr>
      <p:grpSpPr>
        <a:xfrm>
          <a:off x="0" y="0"/>
          <a:ext cx="0" cy="0"/>
          <a:chOff x="0" y="0"/>
          <a:chExt cx="0" cy="0"/>
        </a:xfrm>
      </p:grpSpPr>
      <p:sp>
        <p:nvSpPr>
          <p:cNvPr id="474" name="Google Shape;474;p38"/>
          <p:cNvSpPr/>
          <p:nvPr/>
        </p:nvSpPr>
        <p:spPr>
          <a:xfrm>
            <a:off x="812800" y="812800"/>
            <a:ext cx="10883392" cy="23876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B24A17"/>
              </a:buClr>
              <a:buSzPts val="1200"/>
              <a:buFont typeface="IBM Plex Mono"/>
              <a:buNone/>
            </a:pPr>
            <a:r>
              <a:rPr lang="en-US" sz="1200">
                <a:solidFill>
                  <a:srgbClr val="B24A17"/>
                </a:solidFill>
                <a:latin typeface="Comfortaa"/>
                <a:ea typeface="Comfortaa"/>
                <a:cs typeface="Comfortaa"/>
                <a:sym typeface="Comfortaa"/>
              </a:rPr>
              <a:t>IV</a:t>
            </a:r>
            <a:r>
              <a:rPr i="0" lang="en-US" sz="1200" u="none" cap="none" strike="noStrike">
                <a:solidFill>
                  <a:srgbClr val="B24A17"/>
                </a:solidFill>
                <a:latin typeface="Comfortaa"/>
                <a:ea typeface="Comfortaa"/>
                <a:cs typeface="Comfortaa"/>
                <a:sym typeface="Comfortaa"/>
              </a:rPr>
              <a:t> · NESTED TRANSLATION</a:t>
            </a:r>
            <a:endParaRPr i="0" sz="1200" u="none" cap="none" strike="noStrike">
              <a:solidFill>
                <a:schemeClr val="dk1"/>
              </a:solidFill>
              <a:latin typeface="Comfortaa"/>
              <a:ea typeface="Comfortaa"/>
              <a:cs typeface="Comfortaa"/>
              <a:sym typeface="Comfortaa"/>
            </a:endParaRPr>
          </a:p>
        </p:txBody>
      </p:sp>
      <p:sp>
        <p:nvSpPr>
          <p:cNvPr id="475" name="Google Shape;475;p38"/>
          <p:cNvSpPr txBox="1"/>
          <p:nvPr>
            <p:ph type="title"/>
          </p:nvPr>
        </p:nvSpPr>
        <p:spPr>
          <a:xfrm>
            <a:off x="812800" y="1102358"/>
            <a:ext cx="10883392" cy="4445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C2230"/>
              </a:buClr>
              <a:buSzPct val="100000"/>
              <a:buFont typeface="IBM Plex Sans"/>
              <a:buNone/>
            </a:pPr>
            <a:r>
              <a:rPr b="1" i="0" lang="en-US" sz="3000">
                <a:solidFill>
                  <a:srgbClr val="1C2230"/>
                </a:solidFill>
                <a:latin typeface="Comfortaa"/>
                <a:ea typeface="Comfortaa"/>
                <a:cs typeface="Comfortaa"/>
                <a:sym typeface="Comfortaa"/>
              </a:rPr>
              <a:t>Why put an IOMMU inside the guest?</a:t>
            </a:r>
            <a:endParaRPr sz="3000">
              <a:latin typeface="Comfortaa"/>
              <a:ea typeface="Comfortaa"/>
              <a:cs typeface="Comfortaa"/>
              <a:sym typeface="Comfortaa"/>
            </a:endParaRPr>
          </a:p>
        </p:txBody>
      </p:sp>
      <p:sp>
        <p:nvSpPr>
          <p:cNvPr id="476" name="Google Shape;476;p38"/>
          <p:cNvSpPr/>
          <p:nvPr/>
        </p:nvSpPr>
        <p:spPr>
          <a:xfrm>
            <a:off x="815975" y="1880233"/>
            <a:ext cx="3380317" cy="1646343"/>
          </a:xfrm>
          <a:prstGeom prst="roundRect">
            <a:avLst>
              <a:gd fmla="val 5978" name="adj"/>
            </a:avLst>
          </a:prstGeom>
          <a:solidFill>
            <a:srgbClr val="FDFCF9"/>
          </a:solidFill>
          <a:ln cap="flat" cmpd="sng" w="9525">
            <a:solidFill>
              <a:srgbClr val="D9D4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omfortaa"/>
              <a:ea typeface="Comfortaa"/>
              <a:cs typeface="Comfortaa"/>
              <a:sym typeface="Comfortaa"/>
            </a:endParaRPr>
          </a:p>
        </p:txBody>
      </p:sp>
      <p:sp>
        <p:nvSpPr>
          <p:cNvPr id="477" name="Google Shape;477;p38"/>
          <p:cNvSpPr/>
          <p:nvPr/>
        </p:nvSpPr>
        <p:spPr>
          <a:xfrm>
            <a:off x="1072092" y="2136353"/>
            <a:ext cx="2954126" cy="2844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C2230"/>
              </a:buClr>
              <a:buSzPts val="1700"/>
              <a:buFont typeface="IBM Plex Sans"/>
              <a:buNone/>
            </a:pPr>
            <a:r>
              <a:rPr b="1" i="0" lang="en-US" sz="1700" u="none" cap="none" strike="noStrike">
                <a:solidFill>
                  <a:srgbClr val="1C2230"/>
                </a:solidFill>
                <a:latin typeface="Comfortaa"/>
                <a:ea typeface="Comfortaa"/>
                <a:cs typeface="Comfortaa"/>
                <a:sym typeface="Comfortaa"/>
              </a:rPr>
              <a:t>Protect the guest</a:t>
            </a:r>
            <a:endParaRPr i="0" sz="1700" u="none" cap="none" strike="noStrike">
              <a:solidFill>
                <a:schemeClr val="dk1"/>
              </a:solidFill>
              <a:latin typeface="Comfortaa"/>
              <a:ea typeface="Comfortaa"/>
              <a:cs typeface="Comfortaa"/>
              <a:sym typeface="Comfortaa"/>
            </a:endParaRPr>
          </a:p>
        </p:txBody>
      </p:sp>
      <p:sp>
        <p:nvSpPr>
          <p:cNvPr id="478" name="Google Shape;478;p38"/>
          <p:cNvSpPr/>
          <p:nvPr/>
        </p:nvSpPr>
        <p:spPr>
          <a:xfrm>
            <a:off x="1072092" y="2497026"/>
            <a:ext cx="2954126" cy="54102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1C2230"/>
              </a:buClr>
              <a:buSzPts val="1400"/>
              <a:buFont typeface="IBM Plex Sans"/>
              <a:buNone/>
            </a:pPr>
            <a:r>
              <a:rPr i="0" lang="en-US" sz="1400" u="none" cap="none" strike="noStrike">
                <a:solidFill>
                  <a:srgbClr val="1C2230"/>
                </a:solidFill>
                <a:latin typeface="Comfortaa"/>
                <a:ea typeface="Comfortaa"/>
                <a:cs typeface="Comfortaa"/>
                <a:sym typeface="Comfortaa"/>
              </a:rPr>
              <a:t>From its own devices, for exactly the same reasons as on the host.</a:t>
            </a:r>
            <a:endParaRPr i="0" sz="1400" u="none" cap="none" strike="noStrike">
              <a:solidFill>
                <a:schemeClr val="dk1"/>
              </a:solidFill>
              <a:latin typeface="Comfortaa"/>
              <a:ea typeface="Comfortaa"/>
              <a:cs typeface="Comfortaa"/>
              <a:sym typeface="Comfortaa"/>
            </a:endParaRPr>
          </a:p>
        </p:txBody>
      </p:sp>
      <p:sp>
        <p:nvSpPr>
          <p:cNvPr id="479" name="Google Shape;479;p38"/>
          <p:cNvSpPr/>
          <p:nvPr/>
        </p:nvSpPr>
        <p:spPr>
          <a:xfrm>
            <a:off x="4405842" y="1880233"/>
            <a:ext cx="3380317" cy="1646343"/>
          </a:xfrm>
          <a:prstGeom prst="roundRect">
            <a:avLst>
              <a:gd fmla="val 5978" name="adj"/>
            </a:avLst>
          </a:prstGeom>
          <a:solidFill>
            <a:srgbClr val="FDFCF9"/>
          </a:solidFill>
          <a:ln cap="flat" cmpd="sng" w="9525">
            <a:solidFill>
              <a:srgbClr val="D9D4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omfortaa"/>
              <a:ea typeface="Comfortaa"/>
              <a:cs typeface="Comfortaa"/>
              <a:sym typeface="Comfortaa"/>
            </a:endParaRPr>
          </a:p>
        </p:txBody>
      </p:sp>
      <p:sp>
        <p:nvSpPr>
          <p:cNvPr id="480" name="Google Shape;480;p38"/>
          <p:cNvSpPr/>
          <p:nvPr/>
        </p:nvSpPr>
        <p:spPr>
          <a:xfrm>
            <a:off x="4661958" y="2136353"/>
            <a:ext cx="2954126" cy="2844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C2230"/>
              </a:buClr>
              <a:buSzPts val="1700"/>
              <a:buFont typeface="IBM Plex Sans"/>
              <a:buNone/>
            </a:pPr>
            <a:r>
              <a:rPr b="1" i="0" lang="en-US" sz="1700" u="none" cap="none" strike="noStrike">
                <a:solidFill>
                  <a:srgbClr val="1C2230"/>
                </a:solidFill>
                <a:latin typeface="Comfortaa"/>
                <a:ea typeface="Comfortaa"/>
                <a:cs typeface="Comfortaa"/>
                <a:sym typeface="Comfortaa"/>
              </a:rPr>
              <a:t>Userspace drivers</a:t>
            </a:r>
            <a:endParaRPr i="0" sz="1700" u="none" cap="none" strike="noStrike">
              <a:solidFill>
                <a:schemeClr val="dk1"/>
              </a:solidFill>
              <a:latin typeface="Comfortaa"/>
              <a:ea typeface="Comfortaa"/>
              <a:cs typeface="Comfortaa"/>
              <a:sym typeface="Comfortaa"/>
            </a:endParaRPr>
          </a:p>
        </p:txBody>
      </p:sp>
      <p:sp>
        <p:nvSpPr>
          <p:cNvPr id="481" name="Google Shape;481;p38"/>
          <p:cNvSpPr/>
          <p:nvPr/>
        </p:nvSpPr>
        <p:spPr>
          <a:xfrm>
            <a:off x="4661958" y="2497026"/>
            <a:ext cx="2954126" cy="79883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1C2230"/>
              </a:buClr>
              <a:buSzPts val="1400"/>
              <a:buFont typeface="IBM Plex Sans"/>
              <a:buNone/>
            </a:pPr>
            <a:r>
              <a:rPr i="0" lang="en-US" sz="1400" u="none" cap="none" strike="noStrike">
                <a:solidFill>
                  <a:srgbClr val="1C2230"/>
                </a:solidFill>
                <a:latin typeface="Comfortaa"/>
                <a:ea typeface="Comfortaa"/>
                <a:cs typeface="Comfortaa"/>
                <a:sym typeface="Comfortaa"/>
              </a:rPr>
              <a:t>DPDK or VFIO running inside the guest need an IOMMU to exist there.</a:t>
            </a:r>
            <a:endParaRPr i="0" sz="1400" u="none" cap="none" strike="noStrike">
              <a:solidFill>
                <a:schemeClr val="dk1"/>
              </a:solidFill>
              <a:latin typeface="Comfortaa"/>
              <a:ea typeface="Comfortaa"/>
              <a:cs typeface="Comfortaa"/>
              <a:sym typeface="Comfortaa"/>
            </a:endParaRPr>
          </a:p>
        </p:txBody>
      </p:sp>
      <p:sp>
        <p:nvSpPr>
          <p:cNvPr id="482" name="Google Shape;482;p38"/>
          <p:cNvSpPr/>
          <p:nvPr/>
        </p:nvSpPr>
        <p:spPr>
          <a:xfrm>
            <a:off x="7995708" y="1880233"/>
            <a:ext cx="3380317" cy="1646343"/>
          </a:xfrm>
          <a:prstGeom prst="roundRect">
            <a:avLst>
              <a:gd fmla="val 5978" name="adj"/>
            </a:avLst>
          </a:prstGeom>
          <a:solidFill>
            <a:srgbClr val="FDFCF9"/>
          </a:solidFill>
          <a:ln cap="flat" cmpd="sng" w="9525">
            <a:solidFill>
              <a:srgbClr val="D9D4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omfortaa"/>
              <a:ea typeface="Comfortaa"/>
              <a:cs typeface="Comfortaa"/>
              <a:sym typeface="Comfortaa"/>
            </a:endParaRPr>
          </a:p>
        </p:txBody>
      </p:sp>
      <p:sp>
        <p:nvSpPr>
          <p:cNvPr id="483" name="Google Shape;483;p38"/>
          <p:cNvSpPr/>
          <p:nvPr/>
        </p:nvSpPr>
        <p:spPr>
          <a:xfrm>
            <a:off x="8251825" y="2136353"/>
            <a:ext cx="2954126" cy="2844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C2230"/>
              </a:buClr>
              <a:buSzPts val="1700"/>
              <a:buFont typeface="IBM Plex Sans"/>
              <a:buNone/>
            </a:pPr>
            <a:r>
              <a:rPr b="1" i="0" lang="en-US" sz="1700" u="none" cap="none" strike="noStrike">
                <a:solidFill>
                  <a:srgbClr val="1C2230"/>
                </a:solidFill>
                <a:latin typeface="Comfortaa"/>
                <a:ea typeface="Comfortaa"/>
                <a:cs typeface="Comfortaa"/>
                <a:sym typeface="Comfortaa"/>
              </a:rPr>
              <a:t>Nesting</a:t>
            </a:r>
            <a:endParaRPr i="0" sz="1700" u="none" cap="none" strike="noStrike">
              <a:solidFill>
                <a:schemeClr val="dk1"/>
              </a:solidFill>
              <a:latin typeface="Comfortaa"/>
              <a:ea typeface="Comfortaa"/>
              <a:cs typeface="Comfortaa"/>
              <a:sym typeface="Comfortaa"/>
            </a:endParaRPr>
          </a:p>
        </p:txBody>
      </p:sp>
      <p:sp>
        <p:nvSpPr>
          <p:cNvPr id="484" name="Google Shape;484;p38"/>
          <p:cNvSpPr/>
          <p:nvPr/>
        </p:nvSpPr>
        <p:spPr>
          <a:xfrm>
            <a:off x="8251825" y="2497026"/>
            <a:ext cx="2954126" cy="79883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1C2230"/>
              </a:buClr>
              <a:buSzPts val="1400"/>
              <a:buFont typeface="IBM Plex Sans"/>
              <a:buNone/>
            </a:pPr>
            <a:r>
              <a:rPr i="0" lang="en-US" sz="1400" u="none" cap="none" strike="noStrike">
                <a:solidFill>
                  <a:srgbClr val="1C2230"/>
                </a:solidFill>
                <a:latin typeface="Comfortaa"/>
                <a:ea typeface="Comfortaa"/>
                <a:cs typeface="Comfortaa"/>
                <a:sym typeface="Comfortaa"/>
              </a:rPr>
              <a:t>Re-assigning the device to a nested VM, or to a container inside the guest.</a:t>
            </a:r>
            <a:endParaRPr i="0" sz="1400" u="none" cap="none" strike="noStrike">
              <a:solidFill>
                <a:schemeClr val="dk1"/>
              </a:solidFill>
              <a:latin typeface="Comfortaa"/>
              <a:ea typeface="Comfortaa"/>
              <a:cs typeface="Comfortaa"/>
              <a:sym typeface="Comfortaa"/>
            </a:endParaRPr>
          </a:p>
        </p:txBody>
      </p:sp>
      <p:cxnSp>
        <p:nvCxnSpPr>
          <p:cNvPr id="485" name="Google Shape;485;p38"/>
          <p:cNvCxnSpPr/>
          <p:nvPr/>
        </p:nvCxnSpPr>
        <p:spPr>
          <a:xfrm>
            <a:off x="831850" y="3885357"/>
            <a:ext cx="0" cy="386080"/>
          </a:xfrm>
          <a:prstGeom prst="straightConnector1">
            <a:avLst/>
          </a:prstGeom>
          <a:noFill/>
          <a:ln cap="flat" cmpd="sng" w="38100">
            <a:solidFill>
              <a:srgbClr val="B24A17"/>
            </a:solidFill>
            <a:prstDash val="solid"/>
            <a:round/>
            <a:headEnd len="sm" w="sm" type="none"/>
            <a:tailEnd len="sm" w="sm" type="none"/>
          </a:ln>
        </p:spPr>
      </p:cxnSp>
      <p:sp>
        <p:nvSpPr>
          <p:cNvPr id="486" name="Google Shape;486;p38"/>
          <p:cNvSpPr/>
          <p:nvPr/>
        </p:nvSpPr>
        <p:spPr>
          <a:xfrm>
            <a:off x="1027642" y="3936157"/>
            <a:ext cx="10662105" cy="3098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230"/>
              </a:buClr>
              <a:buSzPts val="1600"/>
              <a:buFont typeface="IBM Plex Sans"/>
              <a:buNone/>
            </a:pPr>
            <a:r>
              <a:rPr i="0" lang="en-US" sz="1600" u="none" cap="none" strike="noStrike">
                <a:solidFill>
                  <a:srgbClr val="1C2230"/>
                </a:solidFill>
                <a:latin typeface="Comfortaa"/>
                <a:ea typeface="Comfortaa"/>
                <a:cs typeface="Comfortaa"/>
                <a:sym typeface="Comfortaa"/>
              </a:rPr>
              <a:t>Now two translations must compose: </a:t>
            </a:r>
            <a:r>
              <a:rPr b="1" i="0" lang="en-US" sz="1600" u="none" cap="none" strike="noStrike">
                <a:solidFill>
                  <a:srgbClr val="1C2230"/>
                </a:solidFill>
                <a:latin typeface="Comfortaa"/>
                <a:ea typeface="Comfortaa"/>
                <a:cs typeface="Comfortaa"/>
                <a:sym typeface="Comfortaa"/>
              </a:rPr>
              <a:t>IOVA → GPA</a:t>
            </a:r>
            <a:r>
              <a:rPr i="0" lang="en-US" sz="1600" u="none" cap="none" strike="noStrike">
                <a:solidFill>
                  <a:srgbClr val="1C2230"/>
                </a:solidFill>
                <a:latin typeface="Comfortaa"/>
                <a:ea typeface="Comfortaa"/>
                <a:cs typeface="Comfortaa"/>
                <a:sym typeface="Comfortaa"/>
              </a:rPr>
              <a:t> in the guest, then </a:t>
            </a:r>
            <a:r>
              <a:rPr b="1" i="0" lang="en-US" sz="1600" u="none" cap="none" strike="noStrike">
                <a:solidFill>
                  <a:srgbClr val="1C2230"/>
                </a:solidFill>
                <a:latin typeface="Comfortaa"/>
                <a:ea typeface="Comfortaa"/>
                <a:cs typeface="Comfortaa"/>
                <a:sym typeface="Comfortaa"/>
              </a:rPr>
              <a:t>GPA → HPA</a:t>
            </a:r>
            <a:r>
              <a:rPr i="0" lang="en-US" sz="1600" u="none" cap="none" strike="noStrike">
                <a:solidFill>
                  <a:srgbClr val="1C2230"/>
                </a:solidFill>
                <a:latin typeface="Comfortaa"/>
                <a:ea typeface="Comfortaa"/>
                <a:cs typeface="Comfortaa"/>
                <a:sym typeface="Comfortaa"/>
              </a:rPr>
              <a:t> in the host.</a:t>
            </a:r>
            <a:endParaRPr i="0" sz="1600" u="none" cap="none" strike="noStrike">
              <a:solidFill>
                <a:schemeClr val="dk1"/>
              </a:solidFill>
              <a:latin typeface="Comfortaa"/>
              <a:ea typeface="Comfortaa"/>
              <a:cs typeface="Comfortaa"/>
              <a:sym typeface="Comfortaa"/>
            </a:endParaRPr>
          </a:p>
        </p:txBody>
      </p:sp>
      <p:sp>
        <p:nvSpPr>
          <p:cNvPr id="487" name="Google Shape;487;p38"/>
          <p:cNvSpPr/>
          <p:nvPr/>
        </p:nvSpPr>
        <p:spPr>
          <a:xfrm>
            <a:off x="812800" y="6238242"/>
            <a:ext cx="10883392"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673"/>
              </a:buClr>
              <a:buSzPts val="1200"/>
              <a:buFont typeface="IBM Plex Sans"/>
              <a:buNone/>
            </a:pPr>
            <a:r>
              <a:rPr i="0" lang="en-US" sz="1200" u="none" cap="none" strike="noStrike">
                <a:solidFill>
                  <a:srgbClr val="5F6673"/>
                </a:solidFill>
                <a:latin typeface="Comfortaa"/>
                <a:ea typeface="Comfortaa"/>
                <a:cs typeface="Comfortaa"/>
                <a:sym typeface="Comfortaa"/>
              </a:rPr>
              <a:t>M2 · Device virtualization</a:t>
            </a:r>
            <a:endParaRPr i="0" sz="1200" u="none" cap="none" strike="noStrike">
              <a:solidFill>
                <a:schemeClr val="dk1"/>
              </a:solidFill>
              <a:latin typeface="Comfortaa"/>
              <a:ea typeface="Comfortaa"/>
              <a:cs typeface="Comfortaa"/>
              <a:sym typeface="Comfortaa"/>
            </a:endParaRPr>
          </a:p>
        </p:txBody>
      </p:sp>
      <p:sp>
        <p:nvSpPr>
          <p:cNvPr id="488" name="Google Shape;488;p38"/>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E"/>
        </a:solidFill>
      </p:bgPr>
    </p:bg>
    <p:spTree>
      <p:nvGrpSpPr>
        <p:cNvPr id="493" name="Shape 493"/>
        <p:cNvGrpSpPr/>
        <p:nvPr/>
      </p:nvGrpSpPr>
      <p:grpSpPr>
        <a:xfrm>
          <a:off x="0" y="0"/>
          <a:ext cx="0" cy="0"/>
          <a:chOff x="0" y="0"/>
          <a:chExt cx="0" cy="0"/>
        </a:xfrm>
      </p:grpSpPr>
      <p:sp>
        <p:nvSpPr>
          <p:cNvPr id="494" name="Google Shape;494;p39"/>
          <p:cNvSpPr txBox="1"/>
          <p:nvPr>
            <p:ph type="title"/>
          </p:nvPr>
        </p:nvSpPr>
        <p:spPr>
          <a:xfrm>
            <a:off x="812800" y="1102358"/>
            <a:ext cx="10883392" cy="4445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C2230"/>
              </a:buClr>
              <a:buSzPct val="100000"/>
              <a:buFont typeface="IBM Plex Sans"/>
              <a:buNone/>
            </a:pPr>
            <a:r>
              <a:rPr b="1" i="0" lang="en-US" sz="3000">
                <a:solidFill>
                  <a:srgbClr val="1C2230"/>
                </a:solidFill>
                <a:latin typeface="Comfortaa"/>
                <a:ea typeface="Comfortaa"/>
                <a:cs typeface="Comfortaa"/>
                <a:sym typeface="Comfortaa"/>
              </a:rPr>
              <a:t>Three ways to compose </a:t>
            </a:r>
            <a:r>
              <a:rPr b="1" lang="en-US">
                <a:latin typeface="Comfortaa"/>
                <a:ea typeface="Comfortaa"/>
                <a:cs typeface="Comfortaa"/>
                <a:sym typeface="Comfortaa"/>
              </a:rPr>
              <a:t>IOMMU for guest</a:t>
            </a:r>
            <a:endParaRPr sz="3000">
              <a:latin typeface="Comfortaa"/>
              <a:ea typeface="Comfortaa"/>
              <a:cs typeface="Comfortaa"/>
              <a:sym typeface="Comfortaa"/>
            </a:endParaRPr>
          </a:p>
        </p:txBody>
      </p:sp>
      <p:sp>
        <p:nvSpPr>
          <p:cNvPr id="495" name="Google Shape;495;p39"/>
          <p:cNvSpPr/>
          <p:nvPr/>
        </p:nvSpPr>
        <p:spPr>
          <a:xfrm>
            <a:off x="815975" y="1880233"/>
            <a:ext cx="3373226" cy="2161963"/>
          </a:xfrm>
          <a:prstGeom prst="roundRect">
            <a:avLst>
              <a:gd fmla="val 4553" name="adj"/>
            </a:avLst>
          </a:prstGeom>
          <a:solidFill>
            <a:srgbClr val="FDFCF9"/>
          </a:solidFill>
          <a:ln cap="flat" cmpd="sng" w="9525">
            <a:solidFill>
              <a:srgbClr val="D9D4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omfortaa"/>
              <a:ea typeface="Comfortaa"/>
              <a:cs typeface="Comfortaa"/>
              <a:sym typeface="Comfortaa"/>
            </a:endParaRPr>
          </a:p>
        </p:txBody>
      </p:sp>
      <p:sp>
        <p:nvSpPr>
          <p:cNvPr id="496" name="Google Shape;496;p39"/>
          <p:cNvSpPr/>
          <p:nvPr/>
        </p:nvSpPr>
        <p:spPr>
          <a:xfrm>
            <a:off x="1072092" y="2136353"/>
            <a:ext cx="2946822" cy="2844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C2230"/>
              </a:buClr>
              <a:buSzPts val="1700"/>
              <a:buFont typeface="IBM Plex Sans"/>
              <a:buNone/>
            </a:pPr>
            <a:r>
              <a:rPr b="1" i="0" lang="en-US" sz="1700" u="none" cap="none" strike="noStrike">
                <a:solidFill>
                  <a:srgbClr val="1C2230"/>
                </a:solidFill>
                <a:latin typeface="Comfortaa"/>
                <a:ea typeface="Comfortaa"/>
                <a:cs typeface="Comfortaa"/>
                <a:sym typeface="Comfortaa"/>
              </a:rPr>
              <a:t>Emulated, shadowed</a:t>
            </a:r>
            <a:endParaRPr i="0" sz="1700" u="none" cap="none" strike="noStrike">
              <a:solidFill>
                <a:schemeClr val="dk1"/>
              </a:solidFill>
              <a:latin typeface="Comfortaa"/>
              <a:ea typeface="Comfortaa"/>
              <a:cs typeface="Comfortaa"/>
              <a:sym typeface="Comfortaa"/>
            </a:endParaRPr>
          </a:p>
        </p:txBody>
      </p:sp>
      <p:sp>
        <p:nvSpPr>
          <p:cNvPr id="497" name="Google Shape;497;p39"/>
          <p:cNvSpPr/>
          <p:nvPr/>
        </p:nvSpPr>
        <p:spPr>
          <a:xfrm>
            <a:off x="1072092" y="2497026"/>
            <a:ext cx="2946822" cy="131445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1C2230"/>
              </a:buClr>
              <a:buSzPts val="1400"/>
              <a:buFont typeface="IBM Plex Sans"/>
              <a:buNone/>
            </a:pPr>
            <a:r>
              <a:rPr i="0" lang="en-US" sz="1400" u="none" cap="none" strike="noStrike">
                <a:solidFill>
                  <a:srgbClr val="1C2230"/>
                </a:solidFill>
                <a:latin typeface="Comfortaa"/>
                <a:ea typeface="Comfortaa"/>
                <a:cs typeface="Comfortaa"/>
                <a:sym typeface="Comfortaa"/>
              </a:rPr>
              <a:t>QEMU emulates an IOMMU so every guest map traps. QEMU composes IOVA → HPA and programs the real IOMMU.</a:t>
            </a:r>
            <a:endParaRPr i="0" sz="1400" u="none" cap="none" strike="noStrike">
              <a:solidFill>
                <a:schemeClr val="dk1"/>
              </a:solidFill>
              <a:latin typeface="Comfortaa"/>
              <a:ea typeface="Comfortaa"/>
              <a:cs typeface="Comfortaa"/>
              <a:sym typeface="Comfortaa"/>
            </a:endParaRPr>
          </a:p>
        </p:txBody>
      </p:sp>
      <p:sp>
        <p:nvSpPr>
          <p:cNvPr id="498" name="Google Shape;498;p39"/>
          <p:cNvSpPr/>
          <p:nvPr/>
        </p:nvSpPr>
        <p:spPr>
          <a:xfrm>
            <a:off x="4398751" y="1880233"/>
            <a:ext cx="3373332" cy="2161963"/>
          </a:xfrm>
          <a:prstGeom prst="roundRect">
            <a:avLst>
              <a:gd fmla="val 4553" name="adj"/>
            </a:avLst>
          </a:prstGeom>
          <a:solidFill>
            <a:srgbClr val="FDFCF9"/>
          </a:solidFill>
          <a:ln cap="flat" cmpd="sng" w="9525">
            <a:solidFill>
              <a:srgbClr val="D9D4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omfortaa"/>
              <a:ea typeface="Comfortaa"/>
              <a:cs typeface="Comfortaa"/>
              <a:sym typeface="Comfortaa"/>
            </a:endParaRPr>
          </a:p>
        </p:txBody>
      </p:sp>
      <p:sp>
        <p:nvSpPr>
          <p:cNvPr id="499" name="Google Shape;499;p39"/>
          <p:cNvSpPr/>
          <p:nvPr/>
        </p:nvSpPr>
        <p:spPr>
          <a:xfrm>
            <a:off x="4654867" y="2136353"/>
            <a:ext cx="2946931" cy="2844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C2230"/>
              </a:buClr>
              <a:buSzPts val="1700"/>
              <a:buFont typeface="IBM Plex Sans"/>
              <a:buNone/>
            </a:pPr>
            <a:r>
              <a:rPr b="1" i="0" lang="en-US" sz="1700" u="none" cap="none" strike="noStrike">
                <a:solidFill>
                  <a:srgbClr val="1C2230"/>
                </a:solidFill>
                <a:latin typeface="Comfortaa"/>
                <a:ea typeface="Comfortaa"/>
                <a:cs typeface="Comfortaa"/>
                <a:sym typeface="Comfortaa"/>
              </a:rPr>
              <a:t>virtio-iommu</a:t>
            </a:r>
            <a:endParaRPr i="0" sz="1700" u="none" cap="none" strike="noStrike">
              <a:solidFill>
                <a:schemeClr val="dk1"/>
              </a:solidFill>
              <a:latin typeface="Comfortaa"/>
              <a:ea typeface="Comfortaa"/>
              <a:cs typeface="Comfortaa"/>
              <a:sym typeface="Comfortaa"/>
            </a:endParaRPr>
          </a:p>
        </p:txBody>
      </p:sp>
      <p:sp>
        <p:nvSpPr>
          <p:cNvPr id="500" name="Google Shape;500;p39"/>
          <p:cNvSpPr/>
          <p:nvPr/>
        </p:nvSpPr>
        <p:spPr>
          <a:xfrm>
            <a:off x="4654867" y="2497026"/>
            <a:ext cx="2946931" cy="105664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1C2230"/>
              </a:buClr>
              <a:buSzPts val="1400"/>
              <a:buFont typeface="IBM Plex Sans"/>
              <a:buNone/>
            </a:pPr>
            <a:r>
              <a:rPr i="0" lang="en-US" sz="1400" u="none" cap="none" strike="noStrike">
                <a:solidFill>
                  <a:srgbClr val="1C2230"/>
                </a:solidFill>
                <a:latin typeface="Comfortaa"/>
                <a:ea typeface="Comfortaa"/>
                <a:cs typeface="Comfortaa"/>
                <a:sym typeface="Comfortaa"/>
              </a:rPr>
              <a:t>A paravirtual interface: the guest sends MAP and UNMAP requests. Same shadowing, no hardware to imitate.</a:t>
            </a:r>
            <a:endParaRPr i="0" sz="1400" u="none" cap="none" strike="noStrike">
              <a:solidFill>
                <a:schemeClr val="dk1"/>
              </a:solidFill>
              <a:latin typeface="Comfortaa"/>
              <a:ea typeface="Comfortaa"/>
              <a:cs typeface="Comfortaa"/>
              <a:sym typeface="Comfortaa"/>
            </a:endParaRPr>
          </a:p>
        </p:txBody>
      </p:sp>
      <p:sp>
        <p:nvSpPr>
          <p:cNvPr id="501" name="Google Shape;501;p39"/>
          <p:cNvSpPr/>
          <p:nvPr/>
        </p:nvSpPr>
        <p:spPr>
          <a:xfrm>
            <a:off x="7987982" y="1886583"/>
            <a:ext cx="3381692" cy="2149263"/>
          </a:xfrm>
          <a:prstGeom prst="roundRect">
            <a:avLst>
              <a:gd fmla="val 4284" name="adj"/>
            </a:avLst>
          </a:prstGeom>
          <a:solidFill>
            <a:srgbClr val="FDFCF9"/>
          </a:solidFill>
          <a:ln cap="flat" cmpd="sng" w="19050">
            <a:solidFill>
              <a:srgbClr val="B24A1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omfortaa"/>
              <a:ea typeface="Comfortaa"/>
              <a:cs typeface="Comfortaa"/>
              <a:sym typeface="Comfortaa"/>
            </a:endParaRPr>
          </a:p>
        </p:txBody>
      </p:sp>
      <p:sp>
        <p:nvSpPr>
          <p:cNvPr id="502" name="Google Shape;502;p39"/>
          <p:cNvSpPr/>
          <p:nvPr/>
        </p:nvSpPr>
        <p:spPr>
          <a:xfrm>
            <a:off x="8248332" y="2146933"/>
            <a:ext cx="2946822" cy="2844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C2230"/>
              </a:buClr>
              <a:buSzPts val="1700"/>
              <a:buFont typeface="IBM Plex Sans"/>
              <a:buNone/>
            </a:pPr>
            <a:r>
              <a:rPr b="1" i="0" lang="en-US" sz="1700" u="none" cap="none" strike="noStrike">
                <a:solidFill>
                  <a:srgbClr val="1C2230"/>
                </a:solidFill>
                <a:latin typeface="Comfortaa"/>
                <a:ea typeface="Comfortaa"/>
                <a:cs typeface="Comfortaa"/>
                <a:sym typeface="Comfortaa"/>
              </a:rPr>
              <a:t>Hardware nesting</a:t>
            </a:r>
            <a:endParaRPr i="0" sz="1700" u="none" cap="none" strike="noStrike">
              <a:solidFill>
                <a:schemeClr val="dk1"/>
              </a:solidFill>
              <a:latin typeface="Comfortaa"/>
              <a:ea typeface="Comfortaa"/>
              <a:cs typeface="Comfortaa"/>
              <a:sym typeface="Comfortaa"/>
            </a:endParaRPr>
          </a:p>
        </p:txBody>
      </p:sp>
      <p:sp>
        <p:nvSpPr>
          <p:cNvPr id="503" name="Google Shape;503;p39"/>
          <p:cNvSpPr/>
          <p:nvPr/>
        </p:nvSpPr>
        <p:spPr>
          <a:xfrm>
            <a:off x="8248332" y="2507617"/>
            <a:ext cx="2946822" cy="105664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1C2230"/>
              </a:buClr>
              <a:buSzPts val="1400"/>
              <a:buFont typeface="IBM Plex Sans"/>
              <a:buNone/>
            </a:pPr>
            <a:r>
              <a:rPr i="0" lang="en-US" sz="1400" u="none" cap="none" strike="noStrike">
                <a:solidFill>
                  <a:srgbClr val="1C2230"/>
                </a:solidFill>
                <a:latin typeface="Comfortaa"/>
                <a:ea typeface="Comfortaa"/>
                <a:cs typeface="Comfortaa"/>
                <a:sym typeface="Comfortaa"/>
              </a:rPr>
              <a:t>The IOMMU walks the guest tables itself, then the host ones. No exit per map — but a 2D walk on every miss.</a:t>
            </a:r>
            <a:endParaRPr i="0" sz="1400" u="none" cap="none" strike="noStrike">
              <a:solidFill>
                <a:schemeClr val="dk1"/>
              </a:solidFill>
              <a:latin typeface="Comfortaa"/>
              <a:ea typeface="Comfortaa"/>
              <a:cs typeface="Comfortaa"/>
              <a:sym typeface="Comfortaa"/>
            </a:endParaRPr>
          </a:p>
        </p:txBody>
      </p:sp>
      <p:sp>
        <p:nvSpPr>
          <p:cNvPr id="504" name="Google Shape;504;p39"/>
          <p:cNvSpPr/>
          <p:nvPr/>
        </p:nvSpPr>
        <p:spPr>
          <a:xfrm>
            <a:off x="812800" y="6238242"/>
            <a:ext cx="10883392"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673"/>
              </a:buClr>
              <a:buSzPts val="1200"/>
              <a:buFont typeface="IBM Plex Sans"/>
              <a:buNone/>
            </a:pPr>
            <a:r>
              <a:rPr i="0" lang="en-US" sz="1200" u="none" cap="none" strike="noStrike">
                <a:solidFill>
                  <a:srgbClr val="5F6673"/>
                </a:solidFill>
                <a:latin typeface="Comfortaa"/>
                <a:ea typeface="Comfortaa"/>
                <a:cs typeface="Comfortaa"/>
                <a:sym typeface="Comfortaa"/>
              </a:rPr>
              <a:t>Amit et al., vIOMMU: Efficient IOMMU Emulation, USENIX ATC 2011</a:t>
            </a:r>
            <a:endParaRPr i="0" sz="1200" u="none" cap="none" strike="noStrike">
              <a:solidFill>
                <a:schemeClr val="dk1"/>
              </a:solidFill>
              <a:latin typeface="Comfortaa"/>
              <a:ea typeface="Comfortaa"/>
              <a:cs typeface="Comfortaa"/>
              <a:sym typeface="Comfortaa"/>
            </a:endParaRPr>
          </a:p>
        </p:txBody>
      </p:sp>
      <p:sp>
        <p:nvSpPr>
          <p:cNvPr id="505" name="Google Shape;505;p39"/>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506" name="Google Shape;506;p39"/>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B24A17"/>
              </a:buClr>
              <a:buSzPts val="1200"/>
              <a:buFont typeface="IBM Plex Mono"/>
              <a:buNone/>
            </a:pPr>
            <a:r>
              <a:rPr lang="en-US" sz="1200">
                <a:solidFill>
                  <a:srgbClr val="B24A17"/>
                </a:solidFill>
                <a:latin typeface="Comfortaa"/>
                <a:ea typeface="Comfortaa"/>
                <a:cs typeface="Comfortaa"/>
                <a:sym typeface="Comfortaa"/>
              </a:rPr>
              <a:t>IV</a:t>
            </a:r>
            <a:r>
              <a:rPr i="0" lang="en-US" sz="1200" u="none" cap="none" strike="noStrike">
                <a:solidFill>
                  <a:srgbClr val="B24A17"/>
                </a:solidFill>
                <a:latin typeface="Comfortaa"/>
                <a:ea typeface="Comfortaa"/>
                <a:cs typeface="Comfortaa"/>
                <a:sym typeface="Comfortaa"/>
              </a:rPr>
              <a:t> · NESTED TRANSLATION</a:t>
            </a:r>
            <a:endParaRPr i="0" sz="1200" u="none" cap="none" strike="noStrike">
              <a:solidFill>
                <a:schemeClr val="dk1"/>
              </a:solidFill>
              <a:latin typeface="Comfortaa"/>
              <a:ea typeface="Comfortaa"/>
              <a:cs typeface="Comfortaa"/>
              <a:sym typeface="Comfortaa"/>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E"/>
        </a:solidFill>
      </p:bgPr>
    </p:bg>
    <p:spTree>
      <p:nvGrpSpPr>
        <p:cNvPr id="511" name="Shape 511"/>
        <p:cNvGrpSpPr/>
        <p:nvPr/>
      </p:nvGrpSpPr>
      <p:grpSpPr>
        <a:xfrm>
          <a:off x="0" y="0"/>
          <a:ext cx="0" cy="0"/>
          <a:chOff x="0" y="0"/>
          <a:chExt cx="0" cy="0"/>
        </a:xfrm>
      </p:grpSpPr>
      <p:sp>
        <p:nvSpPr>
          <p:cNvPr id="512" name="Google Shape;512;p40"/>
          <p:cNvSpPr txBox="1"/>
          <p:nvPr>
            <p:ph type="title"/>
          </p:nvPr>
        </p:nvSpPr>
        <p:spPr>
          <a:xfrm>
            <a:off x="812800" y="1102358"/>
            <a:ext cx="10883392" cy="4445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C2230"/>
              </a:buClr>
              <a:buSzPct val="100000"/>
              <a:buFont typeface="IBM Plex Sans"/>
              <a:buNone/>
            </a:pPr>
            <a:r>
              <a:rPr b="1" i="0" lang="en-US" sz="3000">
                <a:solidFill>
                  <a:srgbClr val="1C2230"/>
                </a:solidFill>
                <a:latin typeface="Comfortaa"/>
                <a:ea typeface="Comfortaa"/>
                <a:cs typeface="Comfortaa"/>
                <a:sym typeface="Comfortaa"/>
              </a:rPr>
              <a:t>Two stages, one request</a:t>
            </a:r>
            <a:endParaRPr sz="3000">
              <a:latin typeface="Comfortaa"/>
              <a:ea typeface="Comfortaa"/>
              <a:cs typeface="Comfortaa"/>
              <a:sym typeface="Comfortaa"/>
            </a:endParaRPr>
          </a:p>
        </p:txBody>
      </p:sp>
      <p:sp>
        <p:nvSpPr>
          <p:cNvPr id="513" name="Google Shape;513;p40"/>
          <p:cNvSpPr/>
          <p:nvPr/>
        </p:nvSpPr>
        <p:spPr>
          <a:xfrm>
            <a:off x="815975" y="1880233"/>
            <a:ext cx="1898650" cy="876300"/>
          </a:xfrm>
          <a:prstGeom prst="roundRect">
            <a:avLst>
              <a:gd fmla="val 8333" name="adj"/>
            </a:avLst>
          </a:prstGeom>
          <a:solidFill>
            <a:srgbClr val="FDFCF9"/>
          </a:solidFill>
          <a:ln cap="flat" cmpd="sng" w="9525">
            <a:solidFill>
              <a:srgbClr val="D9D4C9"/>
            </a:solidFill>
            <a:prstDash val="solid"/>
            <a:round/>
            <a:headEnd len="sm" w="sm" type="none"/>
            <a:tailEnd len="sm" w="sm" type="none"/>
          </a:ln>
        </p:spPr>
        <p:txBody>
          <a:bodyPr anchorCtr="0" anchor="t" bIns="133125" lIns="158525" spcFirstLastPara="1" rIns="107725" wrap="square" tIns="158525">
            <a:noAutofit/>
          </a:bodyPr>
          <a:lstStyle/>
          <a:p>
            <a:pPr indent="0" lvl="0" marL="0" marR="0" rtl="0" algn="l">
              <a:lnSpc>
                <a:spcPct val="130000"/>
              </a:lnSpc>
              <a:spcBef>
                <a:spcPts val="0"/>
              </a:spcBef>
              <a:spcAft>
                <a:spcPts val="0"/>
              </a:spcAft>
              <a:buClr>
                <a:srgbClr val="1C2230"/>
              </a:buClr>
              <a:buSzPts val="1500"/>
              <a:buFont typeface="IBM Plex Sans"/>
              <a:buNone/>
            </a:pPr>
            <a:r>
              <a:rPr b="1" i="0" lang="en-US" sz="1500" u="none" cap="none" strike="noStrike">
                <a:solidFill>
                  <a:srgbClr val="1C2230"/>
                </a:solidFill>
                <a:latin typeface="Comfortaa"/>
                <a:ea typeface="Comfortaa"/>
                <a:cs typeface="Comfortaa"/>
                <a:sym typeface="Comfortaa"/>
              </a:rPr>
              <a:t>Device</a:t>
            </a:r>
            <a:endParaRPr i="0" sz="1500" u="none" cap="none" strike="noStrike">
              <a:solidFill>
                <a:schemeClr val="dk1"/>
              </a:solidFill>
              <a:latin typeface="Comfortaa"/>
              <a:ea typeface="Comfortaa"/>
              <a:cs typeface="Comfortaa"/>
              <a:sym typeface="Comfortaa"/>
            </a:endParaRPr>
          </a:p>
          <a:p>
            <a:pPr indent="0" lvl="0" marL="0" marR="0" rtl="0" algn="l">
              <a:lnSpc>
                <a:spcPct val="130000"/>
              </a:lnSpc>
              <a:spcBef>
                <a:spcPts val="0"/>
              </a:spcBef>
              <a:spcAft>
                <a:spcPts val="0"/>
              </a:spcAft>
              <a:buClr>
                <a:srgbClr val="1C2230"/>
              </a:buClr>
              <a:buSzPts val="1500"/>
              <a:buFont typeface="IBM Plex Sans"/>
              <a:buNone/>
            </a:pPr>
            <a:r>
              <a:rPr i="0" lang="en-US" sz="1500" u="none" cap="none" strike="noStrike">
                <a:solidFill>
                  <a:srgbClr val="1C2230"/>
                </a:solidFill>
                <a:latin typeface="Comfortaa"/>
                <a:ea typeface="Comfortaa"/>
                <a:cs typeface="Comfortaa"/>
                <a:sym typeface="Comfortaa"/>
              </a:rPr>
              <a:t>IOVA</a:t>
            </a:r>
            <a:endParaRPr i="0" sz="1500" u="none" cap="none" strike="noStrike">
              <a:solidFill>
                <a:schemeClr val="dk1"/>
              </a:solidFill>
              <a:latin typeface="Comfortaa"/>
              <a:ea typeface="Comfortaa"/>
              <a:cs typeface="Comfortaa"/>
              <a:sym typeface="Comfortaa"/>
            </a:endParaRPr>
          </a:p>
        </p:txBody>
      </p:sp>
      <p:pic>
        <p:nvPicPr>
          <p:cNvPr descr="arrow-right" id="514" name="Google Shape;514;p40"/>
          <p:cNvPicPr preferRelativeResize="0"/>
          <p:nvPr/>
        </p:nvPicPr>
        <p:blipFill rotWithShape="1">
          <a:blip r:embed="rId3">
            <a:alphaModFix/>
          </a:blip>
          <a:srcRect b="0" l="0" r="0" t="0"/>
          <a:stretch/>
        </p:blipFill>
        <p:spPr>
          <a:xfrm>
            <a:off x="2870200" y="2216783"/>
            <a:ext cx="355600" cy="203200"/>
          </a:xfrm>
          <a:prstGeom prst="rect">
            <a:avLst/>
          </a:prstGeom>
          <a:noFill/>
          <a:ln>
            <a:noFill/>
          </a:ln>
        </p:spPr>
      </p:pic>
      <p:sp>
        <p:nvSpPr>
          <p:cNvPr id="515" name="Google Shape;515;p40"/>
          <p:cNvSpPr/>
          <p:nvPr/>
        </p:nvSpPr>
        <p:spPr>
          <a:xfrm>
            <a:off x="3387725" y="1886583"/>
            <a:ext cx="2559050" cy="863600"/>
          </a:xfrm>
          <a:prstGeom prst="roundRect">
            <a:avLst>
              <a:gd fmla="val 7721" name="adj"/>
            </a:avLst>
          </a:prstGeom>
          <a:solidFill>
            <a:srgbClr val="FDFCF9"/>
          </a:solidFill>
          <a:ln cap="flat" cmpd="sng" w="19050">
            <a:solidFill>
              <a:srgbClr val="B24A17"/>
            </a:solidFill>
            <a:prstDash val="solid"/>
            <a:round/>
            <a:headEnd len="sm" w="sm" type="none"/>
            <a:tailEnd len="sm" w="sm" type="none"/>
          </a:ln>
        </p:spPr>
        <p:txBody>
          <a:bodyPr anchorCtr="0" anchor="t" bIns="139200" lIns="164600" spcFirstLastPara="1" rIns="98875" wrap="square" tIns="164600">
            <a:noAutofit/>
          </a:bodyPr>
          <a:lstStyle/>
          <a:p>
            <a:pPr indent="0" lvl="0" marL="0" marR="0" rtl="0" algn="l">
              <a:lnSpc>
                <a:spcPct val="130000"/>
              </a:lnSpc>
              <a:spcBef>
                <a:spcPts val="0"/>
              </a:spcBef>
              <a:spcAft>
                <a:spcPts val="0"/>
              </a:spcAft>
              <a:buClr>
                <a:srgbClr val="1C2230"/>
              </a:buClr>
              <a:buSzPts val="1500"/>
              <a:buFont typeface="IBM Plex Sans"/>
              <a:buNone/>
            </a:pPr>
            <a:r>
              <a:rPr b="1" i="0" lang="en-US" sz="1500" u="none" cap="none" strike="noStrike">
                <a:solidFill>
                  <a:srgbClr val="1C2230"/>
                </a:solidFill>
                <a:latin typeface="Comfortaa"/>
                <a:ea typeface="Comfortaa"/>
                <a:cs typeface="Comfortaa"/>
                <a:sym typeface="Comfortaa"/>
              </a:rPr>
              <a:t>Stage 1</a:t>
            </a:r>
            <a:r>
              <a:rPr i="0" lang="en-US" sz="1500" u="none" cap="none" strike="noStrike">
                <a:solidFill>
                  <a:srgbClr val="1C2230"/>
                </a:solidFill>
                <a:latin typeface="Comfortaa"/>
                <a:ea typeface="Comfortaa"/>
                <a:cs typeface="Comfortaa"/>
                <a:sym typeface="Comfortaa"/>
              </a:rPr>
              <a:t> — </a:t>
            </a:r>
            <a:r>
              <a:rPr i="0" lang="en-US" sz="1500" u="none" cap="none" strike="noStrike">
                <a:solidFill>
                  <a:srgbClr val="1C2230"/>
                </a:solidFill>
                <a:latin typeface="Comfortaa"/>
                <a:ea typeface="Comfortaa"/>
                <a:cs typeface="Comfortaa"/>
                <a:sym typeface="Comfortaa"/>
              </a:rPr>
              <a:t>guest tables</a:t>
            </a:r>
            <a:endParaRPr i="0" sz="1500" u="none" cap="none" strike="noStrike">
              <a:solidFill>
                <a:schemeClr val="dk1"/>
              </a:solidFill>
              <a:latin typeface="Comfortaa"/>
              <a:ea typeface="Comfortaa"/>
              <a:cs typeface="Comfortaa"/>
              <a:sym typeface="Comfortaa"/>
            </a:endParaRPr>
          </a:p>
          <a:p>
            <a:pPr indent="0" lvl="0" marL="0" marR="0" rtl="0" algn="l">
              <a:lnSpc>
                <a:spcPct val="130000"/>
              </a:lnSpc>
              <a:spcBef>
                <a:spcPts val="0"/>
              </a:spcBef>
              <a:spcAft>
                <a:spcPts val="0"/>
              </a:spcAft>
              <a:buClr>
                <a:srgbClr val="1C2230"/>
              </a:buClr>
              <a:buSzPts val="1500"/>
              <a:buFont typeface="IBM Plex Sans"/>
              <a:buNone/>
            </a:pPr>
            <a:r>
              <a:rPr i="0" lang="en-US" sz="1500" u="none" cap="none" strike="noStrike">
                <a:solidFill>
                  <a:srgbClr val="1C2230"/>
                </a:solidFill>
                <a:latin typeface="Comfortaa"/>
                <a:ea typeface="Comfortaa"/>
                <a:cs typeface="Comfortaa"/>
                <a:sym typeface="Comfortaa"/>
              </a:rPr>
              <a:t>IOVA → GPA</a:t>
            </a:r>
            <a:endParaRPr i="0" sz="1500" u="none" cap="none" strike="noStrike">
              <a:solidFill>
                <a:schemeClr val="dk1"/>
              </a:solidFill>
              <a:latin typeface="Comfortaa"/>
              <a:ea typeface="Comfortaa"/>
              <a:cs typeface="Comfortaa"/>
              <a:sym typeface="Comfortaa"/>
            </a:endParaRPr>
          </a:p>
        </p:txBody>
      </p:sp>
      <p:pic>
        <p:nvPicPr>
          <p:cNvPr descr="arrow-right" id="516" name="Google Shape;516;p40"/>
          <p:cNvPicPr preferRelativeResize="0"/>
          <p:nvPr/>
        </p:nvPicPr>
        <p:blipFill rotWithShape="1">
          <a:blip r:embed="rId3">
            <a:alphaModFix/>
          </a:blip>
          <a:srcRect b="0" l="0" r="0" t="0"/>
          <a:stretch/>
        </p:blipFill>
        <p:spPr>
          <a:xfrm>
            <a:off x="6108700" y="2216783"/>
            <a:ext cx="355600" cy="203200"/>
          </a:xfrm>
          <a:prstGeom prst="rect">
            <a:avLst/>
          </a:prstGeom>
          <a:noFill/>
          <a:ln>
            <a:noFill/>
          </a:ln>
        </p:spPr>
      </p:pic>
      <p:sp>
        <p:nvSpPr>
          <p:cNvPr id="517" name="Google Shape;517;p40"/>
          <p:cNvSpPr/>
          <p:nvPr/>
        </p:nvSpPr>
        <p:spPr>
          <a:xfrm>
            <a:off x="6626225" y="1886583"/>
            <a:ext cx="2559050" cy="863600"/>
          </a:xfrm>
          <a:prstGeom prst="roundRect">
            <a:avLst>
              <a:gd fmla="val 7721" name="adj"/>
            </a:avLst>
          </a:prstGeom>
          <a:solidFill>
            <a:srgbClr val="FDFCF9"/>
          </a:solidFill>
          <a:ln cap="flat" cmpd="sng" w="19050">
            <a:solidFill>
              <a:srgbClr val="B24A17"/>
            </a:solidFill>
            <a:prstDash val="solid"/>
            <a:round/>
            <a:headEnd len="sm" w="sm" type="none"/>
            <a:tailEnd len="sm" w="sm" type="none"/>
          </a:ln>
        </p:spPr>
        <p:txBody>
          <a:bodyPr anchorCtr="0" anchor="t" bIns="139200" lIns="164600" spcFirstLastPara="1" rIns="98875" wrap="square" tIns="164600">
            <a:noAutofit/>
          </a:bodyPr>
          <a:lstStyle/>
          <a:p>
            <a:pPr indent="0" lvl="0" marL="0" marR="0" rtl="0" algn="l">
              <a:lnSpc>
                <a:spcPct val="130000"/>
              </a:lnSpc>
              <a:spcBef>
                <a:spcPts val="0"/>
              </a:spcBef>
              <a:spcAft>
                <a:spcPts val="0"/>
              </a:spcAft>
              <a:buClr>
                <a:srgbClr val="1C2230"/>
              </a:buClr>
              <a:buSzPts val="1500"/>
              <a:buFont typeface="IBM Plex Sans"/>
              <a:buNone/>
            </a:pPr>
            <a:r>
              <a:rPr b="1" i="0" lang="en-US" sz="1500" u="none" cap="none" strike="noStrike">
                <a:solidFill>
                  <a:srgbClr val="1C2230"/>
                </a:solidFill>
                <a:latin typeface="Comfortaa"/>
                <a:ea typeface="Comfortaa"/>
                <a:cs typeface="Comfortaa"/>
                <a:sym typeface="Comfortaa"/>
              </a:rPr>
              <a:t>Stage 2</a:t>
            </a:r>
            <a:r>
              <a:rPr i="0" lang="en-US" sz="1500" u="none" cap="none" strike="noStrike">
                <a:solidFill>
                  <a:srgbClr val="1C2230"/>
                </a:solidFill>
                <a:latin typeface="Comfortaa"/>
                <a:ea typeface="Comfortaa"/>
                <a:cs typeface="Comfortaa"/>
                <a:sym typeface="Comfortaa"/>
              </a:rPr>
              <a:t> — host tables</a:t>
            </a:r>
            <a:endParaRPr i="0" sz="1500" u="none" cap="none" strike="noStrike">
              <a:solidFill>
                <a:schemeClr val="dk1"/>
              </a:solidFill>
              <a:latin typeface="Comfortaa"/>
              <a:ea typeface="Comfortaa"/>
              <a:cs typeface="Comfortaa"/>
              <a:sym typeface="Comfortaa"/>
            </a:endParaRPr>
          </a:p>
          <a:p>
            <a:pPr indent="0" lvl="0" marL="0" marR="0" rtl="0" algn="l">
              <a:lnSpc>
                <a:spcPct val="130000"/>
              </a:lnSpc>
              <a:spcBef>
                <a:spcPts val="0"/>
              </a:spcBef>
              <a:spcAft>
                <a:spcPts val="0"/>
              </a:spcAft>
              <a:buClr>
                <a:srgbClr val="1C2230"/>
              </a:buClr>
              <a:buSzPts val="1500"/>
              <a:buFont typeface="IBM Plex Sans"/>
              <a:buNone/>
            </a:pPr>
            <a:r>
              <a:rPr i="0" lang="en-US" sz="1500" u="none" cap="none" strike="noStrike">
                <a:solidFill>
                  <a:srgbClr val="1C2230"/>
                </a:solidFill>
                <a:latin typeface="Comfortaa"/>
                <a:ea typeface="Comfortaa"/>
                <a:cs typeface="Comfortaa"/>
                <a:sym typeface="Comfortaa"/>
              </a:rPr>
              <a:t>GPA → HPA</a:t>
            </a:r>
            <a:endParaRPr i="0" sz="1500" u="none" cap="none" strike="noStrike">
              <a:solidFill>
                <a:schemeClr val="dk1"/>
              </a:solidFill>
              <a:latin typeface="Comfortaa"/>
              <a:ea typeface="Comfortaa"/>
              <a:cs typeface="Comfortaa"/>
              <a:sym typeface="Comfortaa"/>
            </a:endParaRPr>
          </a:p>
        </p:txBody>
      </p:sp>
      <p:pic>
        <p:nvPicPr>
          <p:cNvPr descr="arrow-right" id="518" name="Google Shape;518;p40"/>
          <p:cNvPicPr preferRelativeResize="0"/>
          <p:nvPr/>
        </p:nvPicPr>
        <p:blipFill rotWithShape="1">
          <a:blip r:embed="rId3">
            <a:alphaModFix/>
          </a:blip>
          <a:srcRect b="0" l="0" r="0" t="0"/>
          <a:stretch/>
        </p:blipFill>
        <p:spPr>
          <a:xfrm>
            <a:off x="9347200" y="2216783"/>
            <a:ext cx="355600" cy="203200"/>
          </a:xfrm>
          <a:prstGeom prst="rect">
            <a:avLst/>
          </a:prstGeom>
          <a:noFill/>
          <a:ln>
            <a:noFill/>
          </a:ln>
        </p:spPr>
      </p:pic>
      <p:sp>
        <p:nvSpPr>
          <p:cNvPr id="519" name="Google Shape;519;p40"/>
          <p:cNvSpPr/>
          <p:nvPr/>
        </p:nvSpPr>
        <p:spPr>
          <a:xfrm>
            <a:off x="9858375" y="1880233"/>
            <a:ext cx="1517650" cy="876300"/>
          </a:xfrm>
          <a:prstGeom prst="roundRect">
            <a:avLst>
              <a:gd fmla="val 8333" name="adj"/>
            </a:avLst>
          </a:prstGeom>
          <a:solidFill>
            <a:srgbClr val="FDFCF9"/>
          </a:solidFill>
          <a:ln cap="flat" cmpd="sng" w="9525">
            <a:solidFill>
              <a:srgbClr val="D9D4C9"/>
            </a:solidFill>
            <a:prstDash val="solid"/>
            <a:round/>
            <a:headEnd len="sm" w="sm" type="none"/>
            <a:tailEnd len="sm" w="sm" type="none"/>
          </a:ln>
        </p:spPr>
        <p:txBody>
          <a:bodyPr anchorCtr="0" anchor="t" bIns="133125" lIns="158525" spcFirstLastPara="1" rIns="107725" wrap="square" tIns="158525">
            <a:noAutofit/>
          </a:bodyPr>
          <a:lstStyle/>
          <a:p>
            <a:pPr indent="0" lvl="0" marL="0" marR="0" rtl="0" algn="l">
              <a:lnSpc>
                <a:spcPct val="130000"/>
              </a:lnSpc>
              <a:spcBef>
                <a:spcPts val="0"/>
              </a:spcBef>
              <a:spcAft>
                <a:spcPts val="0"/>
              </a:spcAft>
              <a:buClr>
                <a:srgbClr val="1C2230"/>
              </a:buClr>
              <a:buSzPts val="1500"/>
              <a:buFont typeface="IBM Plex Sans"/>
              <a:buNone/>
            </a:pPr>
            <a:r>
              <a:rPr b="1" i="0" lang="en-US" sz="1500" u="none" cap="none" strike="noStrike">
                <a:solidFill>
                  <a:srgbClr val="1C2230"/>
                </a:solidFill>
                <a:latin typeface="Comfortaa"/>
                <a:ea typeface="Comfortaa"/>
                <a:cs typeface="Comfortaa"/>
                <a:sym typeface="Comfortaa"/>
              </a:rPr>
              <a:t>RAM</a:t>
            </a:r>
            <a:endParaRPr i="0" sz="1500" u="none" cap="none" strike="noStrike">
              <a:solidFill>
                <a:schemeClr val="dk1"/>
              </a:solidFill>
              <a:latin typeface="Comfortaa"/>
              <a:ea typeface="Comfortaa"/>
              <a:cs typeface="Comfortaa"/>
              <a:sym typeface="Comfortaa"/>
            </a:endParaRPr>
          </a:p>
        </p:txBody>
      </p:sp>
      <p:cxnSp>
        <p:nvCxnSpPr>
          <p:cNvPr id="520" name="Google Shape;520;p40"/>
          <p:cNvCxnSpPr/>
          <p:nvPr/>
        </p:nvCxnSpPr>
        <p:spPr>
          <a:xfrm>
            <a:off x="831850" y="3115308"/>
            <a:ext cx="0" cy="386080"/>
          </a:xfrm>
          <a:prstGeom prst="straightConnector1">
            <a:avLst/>
          </a:prstGeom>
          <a:noFill/>
          <a:ln cap="flat" cmpd="sng" w="38100">
            <a:solidFill>
              <a:srgbClr val="B24A17"/>
            </a:solidFill>
            <a:prstDash val="solid"/>
            <a:round/>
            <a:headEnd len="sm" w="sm" type="none"/>
            <a:tailEnd len="sm" w="sm" type="none"/>
          </a:ln>
        </p:spPr>
      </p:cxnSp>
      <p:sp>
        <p:nvSpPr>
          <p:cNvPr id="521" name="Google Shape;521;p40"/>
          <p:cNvSpPr/>
          <p:nvPr/>
        </p:nvSpPr>
        <p:spPr>
          <a:xfrm>
            <a:off x="1027642" y="3166108"/>
            <a:ext cx="10662105" cy="3098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230"/>
              </a:buClr>
              <a:buSzPts val="1600"/>
              <a:buFont typeface="IBM Plex Sans"/>
              <a:buNone/>
            </a:pPr>
            <a:r>
              <a:rPr i="0" lang="en-US" sz="1600" u="none" cap="none" strike="noStrike">
                <a:solidFill>
                  <a:srgbClr val="1C2230"/>
                </a:solidFill>
                <a:latin typeface="Comfortaa"/>
                <a:ea typeface="Comfortaa"/>
                <a:cs typeface="Comfortaa"/>
                <a:sym typeface="Comfortaa"/>
              </a:rPr>
              <a:t>Every pointer inside the guest tables is itself a GPA — so each level of stage 1 needs a full stage-2 walk.</a:t>
            </a:r>
            <a:endParaRPr i="0" sz="1600" u="none" cap="none" strike="noStrike">
              <a:solidFill>
                <a:schemeClr val="dk1"/>
              </a:solidFill>
              <a:latin typeface="Comfortaa"/>
              <a:ea typeface="Comfortaa"/>
              <a:cs typeface="Comfortaa"/>
              <a:sym typeface="Comfortaa"/>
            </a:endParaRPr>
          </a:p>
        </p:txBody>
      </p:sp>
      <p:sp>
        <p:nvSpPr>
          <p:cNvPr id="522" name="Google Shape;522;p40"/>
          <p:cNvSpPr/>
          <p:nvPr/>
        </p:nvSpPr>
        <p:spPr>
          <a:xfrm>
            <a:off x="812800" y="6238242"/>
            <a:ext cx="10883392"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673"/>
              </a:buClr>
              <a:buSzPts val="1200"/>
              <a:buFont typeface="IBM Plex Sans"/>
              <a:buNone/>
            </a:pPr>
            <a:r>
              <a:rPr i="0" lang="en-US" sz="1200" u="none" cap="none" strike="noStrike">
                <a:solidFill>
                  <a:srgbClr val="5F6673"/>
                </a:solidFill>
                <a:latin typeface="Comfortaa"/>
                <a:ea typeface="Comfortaa"/>
                <a:cs typeface="Comfortaa"/>
                <a:sym typeface="Comfortaa"/>
              </a:rPr>
              <a:t>Exercise 1 counts the memory accesses this costs</a:t>
            </a:r>
            <a:endParaRPr i="0" sz="1200" u="none" cap="none" strike="noStrike">
              <a:solidFill>
                <a:schemeClr val="dk1"/>
              </a:solidFill>
              <a:latin typeface="Comfortaa"/>
              <a:ea typeface="Comfortaa"/>
              <a:cs typeface="Comfortaa"/>
              <a:sym typeface="Comfortaa"/>
            </a:endParaRPr>
          </a:p>
        </p:txBody>
      </p:sp>
      <p:sp>
        <p:nvSpPr>
          <p:cNvPr id="523" name="Google Shape;523;p40"/>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524" name="Google Shape;524;p40"/>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B24A17"/>
              </a:buClr>
              <a:buSzPts val="1200"/>
              <a:buFont typeface="IBM Plex Mono"/>
              <a:buNone/>
            </a:pPr>
            <a:r>
              <a:rPr lang="en-US" sz="1200">
                <a:solidFill>
                  <a:srgbClr val="B24A17"/>
                </a:solidFill>
                <a:latin typeface="Comfortaa"/>
                <a:ea typeface="Comfortaa"/>
                <a:cs typeface="Comfortaa"/>
                <a:sym typeface="Comfortaa"/>
              </a:rPr>
              <a:t>IV</a:t>
            </a:r>
            <a:r>
              <a:rPr i="0" lang="en-US" sz="1200" u="none" cap="none" strike="noStrike">
                <a:solidFill>
                  <a:srgbClr val="B24A17"/>
                </a:solidFill>
                <a:latin typeface="Comfortaa"/>
                <a:ea typeface="Comfortaa"/>
                <a:cs typeface="Comfortaa"/>
                <a:sym typeface="Comfortaa"/>
              </a:rPr>
              <a:t> · NESTED TRANSLATION</a:t>
            </a:r>
            <a:endParaRPr i="0" sz="1200" u="none" cap="none" strike="noStrike">
              <a:solidFill>
                <a:schemeClr val="dk1"/>
              </a:solidFill>
              <a:latin typeface="Comfortaa"/>
              <a:ea typeface="Comfortaa"/>
              <a:cs typeface="Comfortaa"/>
              <a:sym typeface="Comfortaa"/>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E"/>
        </a:solidFill>
      </p:bgPr>
    </p:bg>
    <p:spTree>
      <p:nvGrpSpPr>
        <p:cNvPr id="529" name="Shape 529"/>
        <p:cNvGrpSpPr/>
        <p:nvPr/>
      </p:nvGrpSpPr>
      <p:grpSpPr>
        <a:xfrm>
          <a:off x="0" y="0"/>
          <a:ext cx="0" cy="0"/>
          <a:chOff x="0" y="0"/>
          <a:chExt cx="0" cy="0"/>
        </a:xfrm>
      </p:grpSpPr>
      <p:sp>
        <p:nvSpPr>
          <p:cNvPr id="530" name="Google Shape;530;p41"/>
          <p:cNvSpPr txBox="1"/>
          <p:nvPr>
            <p:ph type="title"/>
          </p:nvPr>
        </p:nvSpPr>
        <p:spPr>
          <a:xfrm>
            <a:off x="812800" y="1102358"/>
            <a:ext cx="10883400" cy="4446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C2230"/>
              </a:buClr>
              <a:buSzPct val="100000"/>
              <a:buFont typeface="IBM Plex Sans"/>
              <a:buNone/>
            </a:pPr>
            <a:r>
              <a:rPr b="1" i="0" lang="en-US" sz="3000">
                <a:solidFill>
                  <a:srgbClr val="1C2230"/>
                </a:solidFill>
                <a:latin typeface="Comfortaa"/>
                <a:ea typeface="Comfortaa"/>
                <a:cs typeface="Comfortaa"/>
                <a:sym typeface="Comfortaa"/>
              </a:rPr>
              <a:t>Two stages, one request</a:t>
            </a:r>
            <a:endParaRPr sz="3000">
              <a:latin typeface="Comfortaa"/>
              <a:ea typeface="Comfortaa"/>
              <a:cs typeface="Comfortaa"/>
              <a:sym typeface="Comfortaa"/>
            </a:endParaRPr>
          </a:p>
        </p:txBody>
      </p:sp>
      <p:sp>
        <p:nvSpPr>
          <p:cNvPr id="531" name="Google Shape;531;p41"/>
          <p:cNvSpPr/>
          <p:nvPr/>
        </p:nvSpPr>
        <p:spPr>
          <a:xfrm>
            <a:off x="826050" y="6238250"/>
            <a:ext cx="94890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673"/>
              </a:buClr>
              <a:buSzPts val="1200"/>
              <a:buFont typeface="IBM Plex Sans"/>
              <a:buNone/>
            </a:pPr>
            <a:r>
              <a:rPr lang="en-US" sz="1200">
                <a:solidFill>
                  <a:srgbClr val="5F6673"/>
                </a:solidFill>
                <a:latin typeface="Comfortaa"/>
                <a:ea typeface="Comfortaa"/>
                <a:cs typeface="Comfortaa"/>
                <a:sym typeface="Comfortaa"/>
              </a:rPr>
              <a:t>Intel vt-d spec 4.1 (March 2023)</a:t>
            </a:r>
            <a:endParaRPr i="0" sz="1200" u="none" cap="none" strike="noStrike">
              <a:solidFill>
                <a:schemeClr val="dk1"/>
              </a:solidFill>
              <a:latin typeface="Comfortaa"/>
              <a:ea typeface="Comfortaa"/>
              <a:cs typeface="Comfortaa"/>
              <a:sym typeface="Comfortaa"/>
            </a:endParaRPr>
          </a:p>
        </p:txBody>
      </p:sp>
      <p:pic>
        <p:nvPicPr>
          <p:cNvPr id="532" name="Google Shape;532;p41"/>
          <p:cNvPicPr preferRelativeResize="0"/>
          <p:nvPr/>
        </p:nvPicPr>
        <p:blipFill>
          <a:blip r:embed="rId3">
            <a:alphaModFix/>
          </a:blip>
          <a:stretch>
            <a:fillRect/>
          </a:stretch>
        </p:blipFill>
        <p:spPr>
          <a:xfrm>
            <a:off x="812800" y="1699358"/>
            <a:ext cx="9488998" cy="4386485"/>
          </a:xfrm>
          <a:prstGeom prst="rect">
            <a:avLst/>
          </a:prstGeom>
          <a:noFill/>
          <a:ln>
            <a:noFill/>
          </a:ln>
          <a:effectLst>
            <a:outerShdw blurRad="57150" rotWithShape="0" algn="bl" dir="5400000" dist="19050">
              <a:srgbClr val="000000">
                <a:alpha val="50000"/>
              </a:srgbClr>
            </a:outerShdw>
          </a:effectLst>
        </p:spPr>
      </p:pic>
      <p:sp>
        <p:nvSpPr>
          <p:cNvPr id="533" name="Google Shape;533;p41"/>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534" name="Google Shape;534;p41"/>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B24A17"/>
              </a:buClr>
              <a:buSzPts val="1200"/>
              <a:buFont typeface="IBM Plex Mono"/>
              <a:buNone/>
            </a:pPr>
            <a:r>
              <a:rPr lang="en-US" sz="1200">
                <a:solidFill>
                  <a:srgbClr val="B24A17"/>
                </a:solidFill>
                <a:latin typeface="Comfortaa"/>
                <a:ea typeface="Comfortaa"/>
                <a:cs typeface="Comfortaa"/>
                <a:sym typeface="Comfortaa"/>
              </a:rPr>
              <a:t>IV</a:t>
            </a:r>
            <a:r>
              <a:rPr i="0" lang="en-US" sz="1200" u="none" cap="none" strike="noStrike">
                <a:solidFill>
                  <a:srgbClr val="B24A17"/>
                </a:solidFill>
                <a:latin typeface="Comfortaa"/>
                <a:ea typeface="Comfortaa"/>
                <a:cs typeface="Comfortaa"/>
                <a:sym typeface="Comfortaa"/>
              </a:rPr>
              <a:t> · NESTED TRANSLATION</a:t>
            </a:r>
            <a:endParaRPr i="0" sz="1200" u="none" cap="none" strike="noStrike">
              <a:solidFill>
                <a:schemeClr val="dk1"/>
              </a:solidFill>
              <a:latin typeface="Comfortaa"/>
              <a:ea typeface="Comfortaa"/>
              <a:cs typeface="Comfortaa"/>
              <a:sym typeface="Comfortaa"/>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130"/>
        </a:solidFill>
      </p:bgPr>
    </p:bg>
    <p:spTree>
      <p:nvGrpSpPr>
        <p:cNvPr id="539" name="Shape 539"/>
        <p:cNvGrpSpPr/>
        <p:nvPr/>
      </p:nvGrpSpPr>
      <p:grpSpPr>
        <a:xfrm>
          <a:off x="0" y="0"/>
          <a:ext cx="0" cy="0"/>
          <a:chOff x="0" y="0"/>
          <a:chExt cx="0" cy="0"/>
        </a:xfrm>
      </p:grpSpPr>
      <p:sp>
        <p:nvSpPr>
          <p:cNvPr id="540" name="Google Shape;540;p42"/>
          <p:cNvSpPr/>
          <p:nvPr/>
        </p:nvSpPr>
        <p:spPr>
          <a:xfrm>
            <a:off x="812800" y="2075185"/>
            <a:ext cx="10883392"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08A4B"/>
              </a:buClr>
              <a:buSzPts val="1200"/>
              <a:buFont typeface="IBM Plex Mono"/>
              <a:buNone/>
            </a:pPr>
            <a:r>
              <a:rPr i="0" lang="en-US" sz="1200" u="none" cap="none" strike="noStrike">
                <a:solidFill>
                  <a:srgbClr val="F08A4B"/>
                </a:solidFill>
                <a:latin typeface="Comfortaa"/>
                <a:ea typeface="Comfortaa"/>
                <a:cs typeface="Comfortaa"/>
                <a:sym typeface="Comfortaa"/>
              </a:rPr>
              <a:t>THE OPEN PROBLEM</a:t>
            </a:r>
            <a:endParaRPr i="0" sz="1200" u="none" cap="none" strike="noStrike">
              <a:solidFill>
                <a:schemeClr val="dk1"/>
              </a:solidFill>
              <a:latin typeface="Comfortaa"/>
              <a:ea typeface="Comfortaa"/>
              <a:cs typeface="Comfortaa"/>
              <a:sym typeface="Comfortaa"/>
            </a:endParaRPr>
          </a:p>
        </p:txBody>
      </p:sp>
      <p:sp>
        <p:nvSpPr>
          <p:cNvPr id="541" name="Google Shape;541;p42"/>
          <p:cNvSpPr txBox="1"/>
          <p:nvPr>
            <p:ph type="title"/>
          </p:nvPr>
        </p:nvSpPr>
        <p:spPr>
          <a:xfrm>
            <a:off x="812800" y="2644142"/>
            <a:ext cx="10883392" cy="64008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F2EFE8"/>
              </a:buClr>
              <a:buSzPct val="100000"/>
              <a:buFont typeface="IBM Plex Sans"/>
              <a:buNone/>
            </a:pPr>
            <a:r>
              <a:rPr b="1" i="0" lang="en-US" sz="4400">
                <a:solidFill>
                  <a:srgbClr val="F2EFE8"/>
                </a:solidFill>
                <a:latin typeface="Comfortaa"/>
                <a:ea typeface="Comfortaa"/>
                <a:cs typeface="Comfortaa"/>
                <a:sym typeface="Comfortaa"/>
              </a:rPr>
              <a:t>A device cannot wait for a page.</a:t>
            </a:r>
            <a:endParaRPr sz="4400">
              <a:latin typeface="Comfortaa"/>
              <a:ea typeface="Comfortaa"/>
              <a:cs typeface="Comfortaa"/>
              <a:sym typeface="Comfortaa"/>
            </a:endParaRPr>
          </a:p>
        </p:txBody>
      </p:sp>
      <p:sp>
        <p:nvSpPr>
          <p:cNvPr id="542" name="Google Shape;542;p42"/>
          <p:cNvSpPr/>
          <p:nvPr/>
        </p:nvSpPr>
        <p:spPr>
          <a:xfrm>
            <a:off x="812800" y="3614415"/>
            <a:ext cx="10883392" cy="3683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C9C4B8"/>
              </a:buClr>
              <a:buSzPts val="2000"/>
              <a:buFont typeface="IBM Plex Sans"/>
              <a:buNone/>
            </a:pPr>
            <a:r>
              <a:rPr i="0" lang="en-US" sz="2000" u="none" cap="none" strike="noStrike">
                <a:solidFill>
                  <a:srgbClr val="C9C4B8"/>
                </a:solidFill>
                <a:latin typeface="Comfortaa"/>
                <a:ea typeface="Comfortaa"/>
                <a:cs typeface="Comfortaa"/>
                <a:sym typeface="Comfortaa"/>
              </a:rPr>
              <a:t>So the hypervisor pins all of the guest's memory, up front.</a:t>
            </a:r>
            <a:endParaRPr i="0" sz="2000" u="none" cap="none" strike="noStrike">
              <a:solidFill>
                <a:schemeClr val="dk1"/>
              </a:solidFill>
              <a:latin typeface="Comfortaa"/>
              <a:ea typeface="Comfortaa"/>
              <a:cs typeface="Comfortaa"/>
              <a:sym typeface="Comfortaa"/>
            </a:endParaRPr>
          </a:p>
        </p:txBody>
      </p:sp>
      <p:sp>
        <p:nvSpPr>
          <p:cNvPr id="543" name="Google Shape;543;p42"/>
          <p:cNvSpPr/>
          <p:nvPr/>
        </p:nvSpPr>
        <p:spPr>
          <a:xfrm>
            <a:off x="812800" y="4312915"/>
            <a:ext cx="1661372" cy="469900"/>
          </a:xfrm>
          <a:prstGeom prst="roundRect">
            <a:avLst>
              <a:gd fmla="val 50000" name="adj"/>
            </a:avLst>
          </a:prstGeom>
          <a:solidFill>
            <a:srgbClr val="2A3242"/>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F2EFE8"/>
              </a:buClr>
              <a:buSzPts val="1500"/>
              <a:buFont typeface="IBM Plex Sans"/>
              <a:buNone/>
            </a:pPr>
            <a:r>
              <a:rPr i="0" lang="en-US" sz="1500" u="none" cap="none" strike="noStrike">
                <a:solidFill>
                  <a:srgbClr val="F2EFE8"/>
                </a:solidFill>
                <a:latin typeface="Comfortaa"/>
                <a:ea typeface="Comfortaa"/>
                <a:cs typeface="Comfortaa"/>
                <a:sym typeface="Comfortaa"/>
              </a:rPr>
              <a:t>No overcommit</a:t>
            </a:r>
            <a:endParaRPr i="0" sz="1500" u="none" cap="none" strike="noStrike">
              <a:solidFill>
                <a:schemeClr val="dk1"/>
              </a:solidFill>
              <a:latin typeface="Comfortaa"/>
              <a:ea typeface="Comfortaa"/>
              <a:cs typeface="Comfortaa"/>
              <a:sym typeface="Comfortaa"/>
            </a:endParaRPr>
          </a:p>
        </p:txBody>
      </p:sp>
      <p:sp>
        <p:nvSpPr>
          <p:cNvPr id="544" name="Google Shape;544;p42"/>
          <p:cNvSpPr/>
          <p:nvPr/>
        </p:nvSpPr>
        <p:spPr>
          <a:xfrm>
            <a:off x="2626572" y="4312915"/>
            <a:ext cx="1089766" cy="469900"/>
          </a:xfrm>
          <a:prstGeom prst="roundRect">
            <a:avLst>
              <a:gd fmla="val 50000" name="adj"/>
            </a:avLst>
          </a:prstGeom>
          <a:solidFill>
            <a:srgbClr val="2A3242"/>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F2EFE8"/>
              </a:buClr>
              <a:buSzPts val="1500"/>
              <a:buFont typeface="IBM Plex Sans"/>
              <a:buNone/>
            </a:pPr>
            <a:r>
              <a:rPr i="0" lang="en-US" sz="1500" u="none" cap="none" strike="noStrike">
                <a:solidFill>
                  <a:srgbClr val="F2EFE8"/>
                </a:solidFill>
                <a:latin typeface="Comfortaa"/>
                <a:ea typeface="Comfortaa"/>
                <a:cs typeface="Comfortaa"/>
                <a:sym typeface="Comfortaa"/>
              </a:rPr>
              <a:t>No swap</a:t>
            </a:r>
            <a:endParaRPr i="0" sz="1500" u="none" cap="none" strike="noStrike">
              <a:solidFill>
                <a:schemeClr val="dk1"/>
              </a:solidFill>
              <a:latin typeface="Comfortaa"/>
              <a:ea typeface="Comfortaa"/>
              <a:cs typeface="Comfortaa"/>
              <a:sym typeface="Comfortaa"/>
            </a:endParaRPr>
          </a:p>
        </p:txBody>
      </p:sp>
      <p:sp>
        <p:nvSpPr>
          <p:cNvPr id="545" name="Google Shape;545;p42"/>
          <p:cNvSpPr/>
          <p:nvPr/>
        </p:nvSpPr>
        <p:spPr>
          <a:xfrm>
            <a:off x="3868752" y="4312925"/>
            <a:ext cx="1835700" cy="469800"/>
          </a:xfrm>
          <a:prstGeom prst="roundRect">
            <a:avLst>
              <a:gd fmla="val 50000" name="adj"/>
            </a:avLst>
          </a:prstGeom>
          <a:solidFill>
            <a:srgbClr val="2A3242"/>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F2EFE8"/>
              </a:buClr>
              <a:buSzPts val="1500"/>
              <a:buFont typeface="IBM Plex Sans"/>
              <a:buNone/>
            </a:pPr>
            <a:r>
              <a:rPr i="0" lang="en-US" sz="1500" u="none" cap="none" strike="noStrike">
                <a:solidFill>
                  <a:srgbClr val="F2EFE8"/>
                </a:solidFill>
                <a:latin typeface="Comfortaa"/>
                <a:ea typeface="Comfortaa"/>
                <a:cs typeface="Comfortaa"/>
                <a:sym typeface="Comfortaa"/>
              </a:rPr>
              <a:t>No ballooning</a:t>
            </a:r>
            <a:endParaRPr i="0" sz="1500" u="none" cap="none" strike="noStrike">
              <a:solidFill>
                <a:schemeClr val="dk1"/>
              </a:solidFill>
              <a:latin typeface="Comfortaa"/>
              <a:ea typeface="Comfortaa"/>
              <a:cs typeface="Comfortaa"/>
              <a:sym typeface="Comfortaa"/>
            </a:endParaRPr>
          </a:p>
        </p:txBody>
      </p:sp>
      <p:sp>
        <p:nvSpPr>
          <p:cNvPr id="546" name="Google Shape;546;p42"/>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E"/>
        </a:solidFill>
      </p:bgPr>
    </p:bg>
    <p:spTree>
      <p:nvGrpSpPr>
        <p:cNvPr id="551" name="Shape 551"/>
        <p:cNvGrpSpPr/>
        <p:nvPr/>
      </p:nvGrpSpPr>
      <p:grpSpPr>
        <a:xfrm>
          <a:off x="0" y="0"/>
          <a:ext cx="0" cy="0"/>
          <a:chOff x="0" y="0"/>
          <a:chExt cx="0" cy="0"/>
        </a:xfrm>
      </p:grpSpPr>
      <p:sp>
        <p:nvSpPr>
          <p:cNvPr id="552" name="Google Shape;552;p43"/>
          <p:cNvSpPr/>
          <p:nvPr/>
        </p:nvSpPr>
        <p:spPr>
          <a:xfrm>
            <a:off x="812800" y="812800"/>
            <a:ext cx="10883392"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4A17"/>
              </a:buClr>
              <a:buSzPts val="1200"/>
              <a:buFont typeface="IBM Plex Mono"/>
              <a:buNone/>
            </a:pPr>
            <a:r>
              <a:rPr i="0" lang="en-US" sz="1200" u="none" cap="none" strike="noStrike">
                <a:solidFill>
                  <a:srgbClr val="B24A17"/>
                </a:solidFill>
                <a:latin typeface="Comfortaa"/>
                <a:ea typeface="Comfortaa"/>
                <a:cs typeface="Comfortaa"/>
                <a:sym typeface="Comfortaa"/>
              </a:rPr>
              <a:t>04 · WHY IT MATTERS</a:t>
            </a:r>
            <a:endParaRPr i="0" sz="1200" u="none" cap="none" strike="noStrike">
              <a:solidFill>
                <a:schemeClr val="dk1"/>
              </a:solidFill>
              <a:latin typeface="Comfortaa"/>
              <a:ea typeface="Comfortaa"/>
              <a:cs typeface="Comfortaa"/>
              <a:sym typeface="Comfortaa"/>
            </a:endParaRPr>
          </a:p>
        </p:txBody>
      </p:sp>
      <p:sp>
        <p:nvSpPr>
          <p:cNvPr id="553" name="Google Shape;553;p43"/>
          <p:cNvSpPr txBox="1"/>
          <p:nvPr>
            <p:ph type="title"/>
          </p:nvPr>
        </p:nvSpPr>
        <p:spPr>
          <a:xfrm>
            <a:off x="812800" y="1102358"/>
            <a:ext cx="10883392" cy="4445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C2230"/>
              </a:buClr>
              <a:buSzPct val="100000"/>
              <a:buFont typeface="IBM Plex Sans"/>
              <a:buNone/>
            </a:pPr>
            <a:r>
              <a:rPr b="1" i="0" lang="en-US" sz="3000">
                <a:solidFill>
                  <a:srgbClr val="1C2230"/>
                </a:solidFill>
                <a:latin typeface="Comfortaa"/>
                <a:ea typeface="Comfortaa"/>
                <a:cs typeface="Comfortaa"/>
                <a:sym typeface="Comfortaa"/>
              </a:rPr>
              <a:t>A streaming VM is busy three hours a day</a:t>
            </a:r>
            <a:endParaRPr sz="3000">
              <a:latin typeface="Comfortaa"/>
              <a:ea typeface="Comfortaa"/>
              <a:cs typeface="Comfortaa"/>
              <a:sym typeface="Comfortaa"/>
            </a:endParaRPr>
          </a:p>
        </p:txBody>
      </p:sp>
      <p:pic>
        <p:nvPicPr>
          <p:cNvPr descr="Over 24 hours, streaming traffic peaks late in the evening and nearly vanishes in the early morning, while the memory pinned for the passthrough NIC stays flat at 100 percent all day" id="554" name="Google Shape;554;p43"/>
          <p:cNvPicPr preferRelativeResize="0"/>
          <p:nvPr/>
        </p:nvPicPr>
        <p:blipFill rotWithShape="1">
          <a:blip r:embed="rId3">
            <a:alphaModFix/>
          </a:blip>
          <a:srcRect b="-31" l="0" r="0" t="-31"/>
          <a:stretch/>
        </p:blipFill>
        <p:spPr>
          <a:xfrm>
            <a:off x="812800" y="1775458"/>
            <a:ext cx="10566400" cy="2540000"/>
          </a:xfrm>
          <a:prstGeom prst="rect">
            <a:avLst/>
          </a:prstGeom>
          <a:noFill/>
          <a:ln>
            <a:noFill/>
          </a:ln>
        </p:spPr>
      </p:pic>
      <p:cxnSp>
        <p:nvCxnSpPr>
          <p:cNvPr id="555" name="Google Shape;555;p43"/>
          <p:cNvCxnSpPr/>
          <p:nvPr/>
        </p:nvCxnSpPr>
        <p:spPr>
          <a:xfrm>
            <a:off x="831850" y="4569458"/>
            <a:ext cx="0" cy="706120"/>
          </a:xfrm>
          <a:prstGeom prst="straightConnector1">
            <a:avLst/>
          </a:prstGeom>
          <a:noFill/>
          <a:ln cap="flat" cmpd="sng" w="38100">
            <a:solidFill>
              <a:srgbClr val="B24A17"/>
            </a:solidFill>
            <a:prstDash val="solid"/>
            <a:round/>
            <a:headEnd len="sm" w="sm" type="none"/>
            <a:tailEnd len="sm" w="sm" type="none"/>
          </a:ln>
        </p:spPr>
      </p:cxnSp>
      <p:sp>
        <p:nvSpPr>
          <p:cNvPr id="556" name="Google Shape;556;p43"/>
          <p:cNvSpPr/>
          <p:nvPr/>
        </p:nvSpPr>
        <p:spPr>
          <a:xfrm>
            <a:off x="1027642" y="4620258"/>
            <a:ext cx="10662105" cy="6299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230"/>
              </a:buClr>
              <a:buSzPts val="1700"/>
              <a:buFont typeface="IBM Plex Sans"/>
              <a:buNone/>
            </a:pPr>
            <a:r>
              <a:rPr i="0" lang="en-US" sz="1700" u="none" cap="none" strike="noStrike">
                <a:solidFill>
                  <a:srgbClr val="1C2230"/>
                </a:solidFill>
                <a:latin typeface="Comfortaa"/>
                <a:ea typeface="Comfortaa"/>
                <a:cs typeface="Comfortaa"/>
                <a:sym typeface="Comfortaa"/>
              </a:rPr>
              <a:t>Netflix peaks around 9pm and collapses by 4am. The VM's host memory does not: VFIO pinned every page at boot, and it stays resident until shutdown.</a:t>
            </a:r>
            <a:endParaRPr i="0" sz="1700" u="none" cap="none" strike="noStrike">
              <a:solidFill>
                <a:schemeClr val="dk1"/>
              </a:solidFill>
              <a:latin typeface="Comfortaa"/>
              <a:ea typeface="Comfortaa"/>
              <a:cs typeface="Comfortaa"/>
              <a:sym typeface="Comfortaa"/>
            </a:endParaRPr>
          </a:p>
        </p:txBody>
      </p:sp>
      <p:sp>
        <p:nvSpPr>
          <p:cNvPr id="557" name="Google Shape;557;p43"/>
          <p:cNvSpPr/>
          <p:nvPr/>
        </p:nvSpPr>
        <p:spPr>
          <a:xfrm>
            <a:off x="812800" y="6238242"/>
            <a:ext cx="10883392"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673"/>
              </a:buClr>
              <a:buSzPts val="1200"/>
              <a:buFont typeface="IBM Plex Sans"/>
              <a:buNone/>
            </a:pPr>
            <a:r>
              <a:rPr i="0" lang="en-US" sz="1200" u="none" cap="none" strike="noStrike">
                <a:solidFill>
                  <a:srgbClr val="5F6673"/>
                </a:solidFill>
                <a:latin typeface="Comfortaa"/>
                <a:ea typeface="Comfortaa"/>
                <a:cs typeface="Comfortaa"/>
                <a:sym typeface="Comfortaa"/>
              </a:rPr>
              <a:t>Shape is illustrative — replace with your own measurements if you have them</a:t>
            </a:r>
            <a:endParaRPr i="0" sz="1200" u="none" cap="none" strike="noStrike">
              <a:solidFill>
                <a:schemeClr val="dk1"/>
              </a:solidFill>
              <a:latin typeface="Comfortaa"/>
              <a:ea typeface="Comfortaa"/>
              <a:cs typeface="Comfortaa"/>
              <a:sym typeface="Comfortaa"/>
            </a:endParaRPr>
          </a:p>
        </p:txBody>
      </p:sp>
      <p:sp>
        <p:nvSpPr>
          <p:cNvPr id="558" name="Google Shape;558;p43"/>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E"/>
        </a:solidFill>
      </p:bgPr>
    </p:bg>
    <p:spTree>
      <p:nvGrpSpPr>
        <p:cNvPr id="563" name="Shape 563"/>
        <p:cNvGrpSpPr/>
        <p:nvPr/>
      </p:nvGrpSpPr>
      <p:grpSpPr>
        <a:xfrm>
          <a:off x="0" y="0"/>
          <a:ext cx="0" cy="0"/>
          <a:chOff x="0" y="0"/>
          <a:chExt cx="0" cy="0"/>
        </a:xfrm>
      </p:grpSpPr>
      <p:sp>
        <p:nvSpPr>
          <p:cNvPr id="564" name="Google Shape;564;p44"/>
          <p:cNvSpPr txBox="1"/>
          <p:nvPr>
            <p:ph type="title"/>
          </p:nvPr>
        </p:nvSpPr>
        <p:spPr>
          <a:xfrm>
            <a:off x="812800" y="1102358"/>
            <a:ext cx="10883392" cy="4445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C2230"/>
              </a:buClr>
              <a:buSzPct val="100000"/>
              <a:buFont typeface="IBM Plex Sans"/>
              <a:buNone/>
            </a:pPr>
            <a:r>
              <a:rPr b="1" i="0" lang="en-US" sz="3000">
                <a:solidFill>
                  <a:srgbClr val="1C2230"/>
                </a:solidFill>
                <a:latin typeface="Comfortaa"/>
                <a:ea typeface="Comfortaa"/>
                <a:cs typeface="Comfortaa"/>
                <a:sym typeface="Comfortaa"/>
              </a:rPr>
              <a:t>Ways out of pinning</a:t>
            </a:r>
            <a:endParaRPr sz="3000">
              <a:latin typeface="Comfortaa"/>
              <a:ea typeface="Comfortaa"/>
              <a:cs typeface="Comfortaa"/>
              <a:sym typeface="Comfortaa"/>
            </a:endParaRPr>
          </a:p>
        </p:txBody>
      </p:sp>
      <p:sp>
        <p:nvSpPr>
          <p:cNvPr id="565" name="Google Shape;565;p44"/>
          <p:cNvSpPr/>
          <p:nvPr/>
        </p:nvSpPr>
        <p:spPr>
          <a:xfrm>
            <a:off x="815975" y="1829433"/>
            <a:ext cx="5175250" cy="1297093"/>
          </a:xfrm>
          <a:prstGeom prst="roundRect">
            <a:avLst>
              <a:gd fmla="val 7588" name="adj"/>
            </a:avLst>
          </a:prstGeom>
          <a:solidFill>
            <a:srgbClr val="FDFCF9"/>
          </a:solidFill>
          <a:ln cap="flat" cmpd="sng" w="9525">
            <a:solidFill>
              <a:srgbClr val="D9D4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omfortaa"/>
              <a:ea typeface="Comfortaa"/>
              <a:cs typeface="Comfortaa"/>
              <a:sym typeface="Comfortaa"/>
            </a:endParaRPr>
          </a:p>
        </p:txBody>
      </p:sp>
      <p:sp>
        <p:nvSpPr>
          <p:cNvPr id="566" name="Google Shape;566;p44"/>
          <p:cNvSpPr/>
          <p:nvPr/>
        </p:nvSpPr>
        <p:spPr>
          <a:xfrm>
            <a:off x="1046692" y="2060153"/>
            <a:ext cx="4855231" cy="2692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C2230"/>
              </a:buClr>
              <a:buSzPts val="1600"/>
              <a:buFont typeface="IBM Plex Sans"/>
              <a:buNone/>
            </a:pPr>
            <a:r>
              <a:rPr b="1" i="0" lang="en-US" sz="1600" u="none" cap="none" strike="noStrike">
                <a:solidFill>
                  <a:srgbClr val="1C2230"/>
                </a:solidFill>
                <a:latin typeface="Comfortaa"/>
                <a:ea typeface="Comfortaa"/>
                <a:cs typeface="Comfortaa"/>
                <a:sym typeface="Comfortaa"/>
              </a:rPr>
              <a:t>PRI and SVA</a:t>
            </a:r>
            <a:endParaRPr i="0" sz="1600" u="none" cap="none" strike="noStrike">
              <a:solidFill>
                <a:schemeClr val="dk1"/>
              </a:solidFill>
              <a:latin typeface="Comfortaa"/>
              <a:ea typeface="Comfortaa"/>
              <a:cs typeface="Comfortaa"/>
              <a:sym typeface="Comfortaa"/>
            </a:endParaRPr>
          </a:p>
        </p:txBody>
      </p:sp>
      <p:sp>
        <p:nvSpPr>
          <p:cNvPr id="567" name="Google Shape;567;p44"/>
          <p:cNvSpPr/>
          <p:nvPr/>
        </p:nvSpPr>
        <p:spPr>
          <a:xfrm>
            <a:off x="1046692" y="2380196"/>
            <a:ext cx="4855231" cy="54102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1C2230"/>
              </a:buClr>
              <a:buSzPts val="1400"/>
              <a:buFont typeface="IBM Plex Sans"/>
              <a:buNone/>
            </a:pPr>
            <a:r>
              <a:rPr i="0" lang="en-US" sz="1400" u="none" cap="none" strike="noStrike">
                <a:solidFill>
                  <a:srgbClr val="1C2230"/>
                </a:solidFill>
                <a:latin typeface="Comfortaa"/>
                <a:ea typeface="Comfortaa"/>
                <a:cs typeface="Comfortaa"/>
                <a:sym typeface="Comfortaa"/>
              </a:rPr>
              <a:t>Let the OS resolve device faults. Rare in hardware, and too slow for a NIC.</a:t>
            </a:r>
            <a:endParaRPr i="0" sz="1400" u="none" cap="none" strike="noStrike">
              <a:solidFill>
                <a:schemeClr val="dk1"/>
              </a:solidFill>
              <a:latin typeface="Comfortaa"/>
              <a:ea typeface="Comfortaa"/>
              <a:cs typeface="Comfortaa"/>
              <a:sym typeface="Comfortaa"/>
            </a:endParaRPr>
          </a:p>
        </p:txBody>
      </p:sp>
      <p:sp>
        <p:nvSpPr>
          <p:cNvPr id="568" name="Google Shape;568;p44"/>
          <p:cNvSpPr/>
          <p:nvPr/>
        </p:nvSpPr>
        <p:spPr>
          <a:xfrm>
            <a:off x="6200775" y="1829433"/>
            <a:ext cx="5175250" cy="1297093"/>
          </a:xfrm>
          <a:prstGeom prst="roundRect">
            <a:avLst>
              <a:gd fmla="val 7588" name="adj"/>
            </a:avLst>
          </a:prstGeom>
          <a:solidFill>
            <a:srgbClr val="FDFCF9"/>
          </a:solidFill>
          <a:ln cap="flat" cmpd="sng" w="9525">
            <a:solidFill>
              <a:srgbClr val="D9D4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omfortaa"/>
              <a:ea typeface="Comfortaa"/>
              <a:cs typeface="Comfortaa"/>
              <a:sym typeface="Comfortaa"/>
            </a:endParaRPr>
          </a:p>
        </p:txBody>
      </p:sp>
      <p:sp>
        <p:nvSpPr>
          <p:cNvPr id="569" name="Google Shape;569;p44"/>
          <p:cNvSpPr/>
          <p:nvPr/>
        </p:nvSpPr>
        <p:spPr>
          <a:xfrm>
            <a:off x="6431492" y="2060153"/>
            <a:ext cx="4855231" cy="2692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C2230"/>
              </a:buClr>
              <a:buSzPts val="1600"/>
              <a:buFont typeface="IBM Plex Sans"/>
              <a:buNone/>
            </a:pPr>
            <a:r>
              <a:rPr b="1" i="0" lang="en-US" sz="1600" u="none" cap="none" strike="noStrike">
                <a:solidFill>
                  <a:srgbClr val="1C2230"/>
                </a:solidFill>
                <a:latin typeface="Comfortaa"/>
                <a:ea typeface="Comfortaa"/>
                <a:cs typeface="Comfortaa"/>
                <a:sym typeface="Comfortaa"/>
              </a:rPr>
              <a:t>On-demand paging</a:t>
            </a:r>
            <a:endParaRPr i="0" sz="1600" u="none" cap="none" strike="noStrike">
              <a:solidFill>
                <a:schemeClr val="dk1"/>
              </a:solidFill>
              <a:latin typeface="Comfortaa"/>
              <a:ea typeface="Comfortaa"/>
              <a:cs typeface="Comfortaa"/>
              <a:sym typeface="Comfortaa"/>
            </a:endParaRPr>
          </a:p>
        </p:txBody>
      </p:sp>
      <p:sp>
        <p:nvSpPr>
          <p:cNvPr id="570" name="Google Shape;570;p44"/>
          <p:cNvSpPr/>
          <p:nvPr/>
        </p:nvSpPr>
        <p:spPr>
          <a:xfrm>
            <a:off x="6431492" y="2380196"/>
            <a:ext cx="4855231" cy="54102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1C2230"/>
              </a:buClr>
              <a:buSzPts val="1400"/>
              <a:buFont typeface="IBM Plex Sans"/>
              <a:buNone/>
            </a:pPr>
            <a:r>
              <a:rPr i="0" lang="en-US" sz="1400" u="none" cap="none" strike="noStrike">
                <a:solidFill>
                  <a:srgbClr val="1C2230"/>
                </a:solidFill>
                <a:latin typeface="Comfortaa"/>
                <a:ea typeface="Comfortaa"/>
                <a:cs typeface="Comfortaa"/>
                <a:sym typeface="Comfortaa"/>
              </a:rPr>
              <a:t>Some RDMA NICs handle their own faults. Vendor-specific, not a general answer.</a:t>
            </a:r>
            <a:endParaRPr i="0" sz="1400" u="none" cap="none" strike="noStrike">
              <a:solidFill>
                <a:schemeClr val="dk1"/>
              </a:solidFill>
              <a:latin typeface="Comfortaa"/>
              <a:ea typeface="Comfortaa"/>
              <a:cs typeface="Comfortaa"/>
              <a:sym typeface="Comfortaa"/>
            </a:endParaRPr>
          </a:p>
        </p:txBody>
      </p:sp>
      <p:sp>
        <p:nvSpPr>
          <p:cNvPr id="571" name="Google Shape;571;p44"/>
          <p:cNvSpPr/>
          <p:nvPr/>
        </p:nvSpPr>
        <p:spPr>
          <a:xfrm>
            <a:off x="815975" y="3336082"/>
            <a:ext cx="5175250" cy="1318260"/>
          </a:xfrm>
          <a:prstGeom prst="roundRect">
            <a:avLst>
              <a:gd fmla="val 7466" name="adj"/>
            </a:avLst>
          </a:prstGeom>
          <a:solidFill>
            <a:srgbClr val="FDFCF9"/>
          </a:solidFill>
          <a:ln cap="flat" cmpd="sng" w="9525">
            <a:solidFill>
              <a:srgbClr val="D9D4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omfortaa"/>
              <a:ea typeface="Comfortaa"/>
              <a:cs typeface="Comfortaa"/>
              <a:sym typeface="Comfortaa"/>
            </a:endParaRPr>
          </a:p>
        </p:txBody>
      </p:sp>
      <p:sp>
        <p:nvSpPr>
          <p:cNvPr id="572" name="Google Shape;572;p44"/>
          <p:cNvSpPr/>
          <p:nvPr/>
        </p:nvSpPr>
        <p:spPr>
          <a:xfrm>
            <a:off x="1046692" y="3566790"/>
            <a:ext cx="4855231" cy="2692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C2230"/>
              </a:buClr>
              <a:buSzPts val="1600"/>
              <a:buFont typeface="IBM Plex Sans"/>
              <a:buNone/>
            </a:pPr>
            <a:r>
              <a:rPr b="1" i="0" lang="en-US" sz="1600" u="none" cap="none" strike="noStrike">
                <a:solidFill>
                  <a:srgbClr val="1C2230"/>
                </a:solidFill>
                <a:latin typeface="Comfortaa"/>
                <a:ea typeface="Comfortaa"/>
                <a:cs typeface="Comfortaa"/>
                <a:sym typeface="Comfortaa"/>
              </a:rPr>
              <a:t>Selective pinning</a:t>
            </a:r>
            <a:endParaRPr i="0" sz="1600" u="none" cap="none" strike="noStrike">
              <a:solidFill>
                <a:schemeClr val="dk1"/>
              </a:solidFill>
              <a:latin typeface="Comfortaa"/>
              <a:ea typeface="Comfortaa"/>
              <a:cs typeface="Comfortaa"/>
              <a:sym typeface="Comfortaa"/>
            </a:endParaRPr>
          </a:p>
        </p:txBody>
      </p:sp>
      <p:sp>
        <p:nvSpPr>
          <p:cNvPr id="573" name="Google Shape;573;p44"/>
          <p:cNvSpPr/>
          <p:nvPr/>
        </p:nvSpPr>
        <p:spPr>
          <a:xfrm>
            <a:off x="1046692" y="3886833"/>
            <a:ext cx="4855231" cy="54102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1C2230"/>
              </a:buClr>
              <a:buSzPts val="1400"/>
              <a:buFont typeface="IBM Plex Sans"/>
              <a:buNone/>
            </a:pPr>
            <a:r>
              <a:rPr i="0" lang="en-US" sz="1400" u="none" cap="none" strike="noStrike">
                <a:solidFill>
                  <a:srgbClr val="1C2230"/>
                </a:solidFill>
                <a:latin typeface="Comfortaa"/>
                <a:ea typeface="Comfortaa"/>
                <a:cs typeface="Comfortaa"/>
                <a:sym typeface="Comfortaa"/>
              </a:rPr>
              <a:t>Use the guest's own IOMMU to learn which pages are really mapped for DMA, and pin only those.</a:t>
            </a:r>
            <a:endParaRPr i="0" sz="1400" u="none" cap="none" strike="noStrike">
              <a:solidFill>
                <a:schemeClr val="dk1"/>
              </a:solidFill>
              <a:latin typeface="Comfortaa"/>
              <a:ea typeface="Comfortaa"/>
              <a:cs typeface="Comfortaa"/>
              <a:sym typeface="Comfortaa"/>
            </a:endParaRPr>
          </a:p>
        </p:txBody>
      </p:sp>
      <p:sp>
        <p:nvSpPr>
          <p:cNvPr id="574" name="Google Shape;574;p44"/>
          <p:cNvSpPr/>
          <p:nvPr/>
        </p:nvSpPr>
        <p:spPr>
          <a:xfrm>
            <a:off x="6207125" y="3342432"/>
            <a:ext cx="5162550" cy="1305560"/>
          </a:xfrm>
          <a:prstGeom prst="roundRect">
            <a:avLst>
              <a:gd fmla="val 7053" name="adj"/>
            </a:avLst>
          </a:prstGeom>
          <a:solidFill>
            <a:srgbClr val="FDFCF9"/>
          </a:solidFill>
          <a:ln cap="flat" cmpd="sng" w="19050">
            <a:solidFill>
              <a:srgbClr val="B24A1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omfortaa"/>
              <a:ea typeface="Comfortaa"/>
              <a:cs typeface="Comfortaa"/>
              <a:sym typeface="Comfortaa"/>
            </a:endParaRPr>
          </a:p>
        </p:txBody>
      </p:sp>
      <p:sp>
        <p:nvSpPr>
          <p:cNvPr id="575" name="Google Shape;575;p44"/>
          <p:cNvSpPr/>
          <p:nvPr/>
        </p:nvSpPr>
        <p:spPr>
          <a:xfrm>
            <a:off x="6442075" y="3577382"/>
            <a:ext cx="4833430" cy="2692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C2230"/>
              </a:buClr>
              <a:buSzPts val="1600"/>
              <a:buFont typeface="IBM Plex Sans"/>
              <a:buNone/>
            </a:pPr>
            <a:r>
              <a:rPr b="1" i="0" lang="en-US" sz="1600" u="none" cap="none" strike="noStrike">
                <a:solidFill>
                  <a:srgbClr val="1C2230"/>
                </a:solidFill>
                <a:latin typeface="Comfortaa"/>
                <a:ea typeface="Comfortaa"/>
                <a:cs typeface="Comfortaa"/>
                <a:sym typeface="Comfortaa"/>
              </a:rPr>
              <a:t>This is my thesis</a:t>
            </a:r>
            <a:endParaRPr i="0" sz="1600" u="none" cap="none" strike="noStrike">
              <a:solidFill>
                <a:schemeClr val="dk1"/>
              </a:solidFill>
              <a:latin typeface="Comfortaa"/>
              <a:ea typeface="Comfortaa"/>
              <a:cs typeface="Comfortaa"/>
              <a:sym typeface="Comfortaa"/>
            </a:endParaRPr>
          </a:p>
        </p:txBody>
      </p:sp>
      <p:sp>
        <p:nvSpPr>
          <p:cNvPr id="576" name="Google Shape;576;p44"/>
          <p:cNvSpPr/>
          <p:nvPr/>
        </p:nvSpPr>
        <p:spPr>
          <a:xfrm>
            <a:off x="6442075" y="3897424"/>
            <a:ext cx="4833430" cy="54102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1C2230"/>
              </a:buClr>
              <a:buSzPts val="1400"/>
              <a:buFont typeface="IBM Plex Sans"/>
              <a:buNone/>
            </a:pPr>
            <a:r>
              <a:rPr i="0" lang="en-US" sz="1400" u="none" cap="none" strike="noStrike">
                <a:solidFill>
                  <a:srgbClr val="1C2230"/>
                </a:solidFill>
                <a:latin typeface="Comfortaa"/>
                <a:ea typeface="Comfortaa"/>
                <a:cs typeface="Comfortaa"/>
                <a:sym typeface="Comfortaa"/>
              </a:rPr>
              <a:t>Memory overcommit for passthrough VMs through nested IOMMU translation.</a:t>
            </a:r>
            <a:endParaRPr i="0" sz="1400" u="none" cap="none" strike="noStrike">
              <a:solidFill>
                <a:schemeClr val="dk1"/>
              </a:solidFill>
              <a:latin typeface="Comfortaa"/>
              <a:ea typeface="Comfortaa"/>
              <a:cs typeface="Comfortaa"/>
              <a:sym typeface="Comfortaa"/>
            </a:endParaRPr>
          </a:p>
        </p:txBody>
      </p:sp>
      <p:sp>
        <p:nvSpPr>
          <p:cNvPr id="577" name="Google Shape;577;p44"/>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578" name="Google Shape;578;p44"/>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B24A17"/>
              </a:buClr>
              <a:buSzPts val="1200"/>
              <a:buFont typeface="IBM Plex Mono"/>
              <a:buNone/>
            </a:pPr>
            <a:r>
              <a:rPr lang="en-US" sz="1200">
                <a:solidFill>
                  <a:srgbClr val="B24A17"/>
                </a:solidFill>
                <a:latin typeface="Comfortaa"/>
                <a:ea typeface="Comfortaa"/>
                <a:cs typeface="Comfortaa"/>
                <a:sym typeface="Comfortaa"/>
              </a:rPr>
              <a:t>IV</a:t>
            </a:r>
            <a:r>
              <a:rPr i="0" lang="en-US" sz="1200" u="none" cap="none" strike="noStrike">
                <a:solidFill>
                  <a:srgbClr val="B24A17"/>
                </a:solidFill>
                <a:latin typeface="Comfortaa"/>
                <a:ea typeface="Comfortaa"/>
                <a:cs typeface="Comfortaa"/>
                <a:sym typeface="Comfortaa"/>
              </a:rPr>
              <a:t> · NESTED TRANSLATION</a:t>
            </a:r>
            <a:endParaRPr i="0" sz="1200" u="none" cap="none" strike="noStrike">
              <a:solidFill>
                <a:schemeClr val="dk1"/>
              </a:solidFill>
              <a:latin typeface="Comfortaa"/>
              <a:ea typeface="Comfortaa"/>
              <a:cs typeface="Comfortaa"/>
              <a:sym typeface="Comfortaa"/>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E"/>
        </a:solidFill>
      </p:bgPr>
    </p:bg>
    <p:spTree>
      <p:nvGrpSpPr>
        <p:cNvPr id="583" name="Shape 583"/>
        <p:cNvGrpSpPr/>
        <p:nvPr/>
      </p:nvGrpSpPr>
      <p:grpSpPr>
        <a:xfrm>
          <a:off x="0" y="0"/>
          <a:ext cx="0" cy="0"/>
          <a:chOff x="0" y="0"/>
          <a:chExt cx="0" cy="0"/>
        </a:xfrm>
      </p:grpSpPr>
      <p:sp>
        <p:nvSpPr>
          <p:cNvPr id="584" name="Google Shape;584;p45"/>
          <p:cNvSpPr/>
          <p:nvPr/>
        </p:nvSpPr>
        <p:spPr>
          <a:xfrm>
            <a:off x="812800" y="812800"/>
            <a:ext cx="10883392"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4A17"/>
              </a:buClr>
              <a:buSzPts val="1200"/>
              <a:buFont typeface="IBM Plex Mono"/>
              <a:buNone/>
            </a:pPr>
            <a:r>
              <a:rPr i="0" lang="en-US" sz="1200" u="none" cap="none" strike="noStrike">
                <a:solidFill>
                  <a:srgbClr val="B24A17"/>
                </a:solidFill>
                <a:latin typeface="Comfortaa"/>
                <a:ea typeface="Comfortaa"/>
                <a:cs typeface="Comfortaa"/>
                <a:sym typeface="Comfortaa"/>
              </a:rPr>
              <a:t>06 · WRAP-UP</a:t>
            </a:r>
            <a:endParaRPr i="0" sz="1200" u="none" cap="none" strike="noStrike">
              <a:solidFill>
                <a:schemeClr val="dk1"/>
              </a:solidFill>
              <a:latin typeface="Comfortaa"/>
              <a:ea typeface="Comfortaa"/>
              <a:cs typeface="Comfortaa"/>
              <a:sym typeface="Comfortaa"/>
            </a:endParaRPr>
          </a:p>
        </p:txBody>
      </p:sp>
      <p:sp>
        <p:nvSpPr>
          <p:cNvPr id="585" name="Google Shape;585;p45"/>
          <p:cNvSpPr txBox="1"/>
          <p:nvPr>
            <p:ph type="title"/>
          </p:nvPr>
        </p:nvSpPr>
        <p:spPr>
          <a:xfrm>
            <a:off x="812800" y="1102358"/>
            <a:ext cx="10883392" cy="4445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C2230"/>
              </a:buClr>
              <a:buSzPct val="100000"/>
              <a:buFont typeface="IBM Plex Sans"/>
              <a:buNone/>
            </a:pPr>
            <a:r>
              <a:rPr b="1" i="0" lang="en-US" sz="3000">
                <a:solidFill>
                  <a:srgbClr val="1C2230"/>
                </a:solidFill>
                <a:latin typeface="Comfortaa"/>
                <a:ea typeface="Comfortaa"/>
                <a:cs typeface="Comfortaa"/>
                <a:sym typeface="Comfortaa"/>
              </a:rPr>
              <a:t>Three things to keep</a:t>
            </a:r>
            <a:endParaRPr sz="3000">
              <a:latin typeface="Comfortaa"/>
              <a:ea typeface="Comfortaa"/>
              <a:cs typeface="Comfortaa"/>
              <a:sym typeface="Comfortaa"/>
            </a:endParaRPr>
          </a:p>
        </p:txBody>
      </p:sp>
      <p:sp>
        <p:nvSpPr>
          <p:cNvPr id="586" name="Google Shape;586;p45"/>
          <p:cNvSpPr/>
          <p:nvPr/>
        </p:nvSpPr>
        <p:spPr>
          <a:xfrm>
            <a:off x="812800" y="1877058"/>
            <a:ext cx="457200" cy="5232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4A17"/>
              </a:buClr>
              <a:buSzPts val="2800"/>
              <a:buFont typeface="IBM Plex Sans"/>
              <a:buNone/>
            </a:pPr>
            <a:r>
              <a:rPr b="1" i="0" lang="en-US" sz="2800" u="none" cap="none" strike="noStrike">
                <a:solidFill>
                  <a:srgbClr val="B24A17"/>
                </a:solidFill>
                <a:latin typeface="Comfortaa"/>
                <a:ea typeface="Comfortaa"/>
                <a:cs typeface="Comfortaa"/>
                <a:sym typeface="Comfortaa"/>
              </a:rPr>
              <a:t>1</a:t>
            </a:r>
            <a:endParaRPr i="0" sz="2800" u="none" cap="none" strike="noStrike">
              <a:solidFill>
                <a:schemeClr val="dk1"/>
              </a:solidFill>
              <a:latin typeface="Comfortaa"/>
              <a:ea typeface="Comfortaa"/>
              <a:cs typeface="Comfortaa"/>
              <a:sym typeface="Comfortaa"/>
            </a:endParaRPr>
          </a:p>
        </p:txBody>
      </p:sp>
      <p:sp>
        <p:nvSpPr>
          <p:cNvPr id="587" name="Google Shape;587;p45"/>
          <p:cNvSpPr/>
          <p:nvPr/>
        </p:nvSpPr>
        <p:spPr>
          <a:xfrm>
            <a:off x="1422400" y="1877058"/>
            <a:ext cx="10769600" cy="3454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230"/>
              </a:buClr>
              <a:buSzPts val="1800"/>
              <a:buFont typeface="IBM Plex Sans"/>
              <a:buNone/>
            </a:pPr>
            <a:r>
              <a:rPr i="0" lang="en-US" sz="1800" u="none" cap="none" strike="noStrike">
                <a:solidFill>
                  <a:srgbClr val="1C2230"/>
                </a:solidFill>
                <a:latin typeface="Comfortaa"/>
                <a:ea typeface="Comfortaa"/>
                <a:cs typeface="Comfortaa"/>
                <a:sym typeface="Comfortaa"/>
              </a:rPr>
              <a:t>DMA is what makes line rate possible, and it hands the device direct access to physical memory.</a:t>
            </a:r>
            <a:endParaRPr i="0" sz="1800" u="none" cap="none" strike="noStrike">
              <a:solidFill>
                <a:schemeClr val="dk1"/>
              </a:solidFill>
              <a:latin typeface="Comfortaa"/>
              <a:ea typeface="Comfortaa"/>
              <a:cs typeface="Comfortaa"/>
              <a:sym typeface="Comfortaa"/>
            </a:endParaRPr>
          </a:p>
        </p:txBody>
      </p:sp>
      <p:sp>
        <p:nvSpPr>
          <p:cNvPr id="588" name="Google Shape;588;p45"/>
          <p:cNvSpPr/>
          <p:nvPr/>
        </p:nvSpPr>
        <p:spPr>
          <a:xfrm>
            <a:off x="812800" y="2578100"/>
            <a:ext cx="457200" cy="5232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4A17"/>
              </a:buClr>
              <a:buSzPts val="2800"/>
              <a:buFont typeface="IBM Plex Sans"/>
              <a:buNone/>
            </a:pPr>
            <a:r>
              <a:rPr b="1" i="0" lang="en-US" sz="2800" u="none" cap="none" strike="noStrike">
                <a:solidFill>
                  <a:srgbClr val="B24A17"/>
                </a:solidFill>
                <a:latin typeface="Comfortaa"/>
                <a:ea typeface="Comfortaa"/>
                <a:cs typeface="Comfortaa"/>
                <a:sym typeface="Comfortaa"/>
              </a:rPr>
              <a:t>2</a:t>
            </a:r>
            <a:endParaRPr i="0" sz="2800" u="none" cap="none" strike="noStrike">
              <a:solidFill>
                <a:schemeClr val="dk1"/>
              </a:solidFill>
              <a:latin typeface="Comfortaa"/>
              <a:ea typeface="Comfortaa"/>
              <a:cs typeface="Comfortaa"/>
              <a:sym typeface="Comfortaa"/>
            </a:endParaRPr>
          </a:p>
        </p:txBody>
      </p:sp>
      <p:sp>
        <p:nvSpPr>
          <p:cNvPr id="589" name="Google Shape;589;p45"/>
          <p:cNvSpPr/>
          <p:nvPr/>
        </p:nvSpPr>
        <p:spPr>
          <a:xfrm>
            <a:off x="1422400" y="2578100"/>
            <a:ext cx="10769600" cy="3454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230"/>
              </a:buClr>
              <a:buSzPts val="1800"/>
              <a:buFont typeface="IBM Plex Sans"/>
              <a:buNone/>
            </a:pPr>
            <a:r>
              <a:rPr i="0" lang="en-US" sz="1800" u="none" cap="none" strike="noStrike">
                <a:solidFill>
                  <a:srgbClr val="1C2230"/>
                </a:solidFill>
                <a:latin typeface="Comfortaa"/>
                <a:ea typeface="Comfortaa"/>
                <a:cs typeface="Comfortaa"/>
                <a:sym typeface="Comfortaa"/>
              </a:rPr>
              <a:t>The IOMMU makes that access translatable and isolable; its cost lives in invalidations and walks.</a:t>
            </a:r>
            <a:endParaRPr i="0" sz="1800" u="none" cap="none" strike="noStrike">
              <a:solidFill>
                <a:schemeClr val="dk1"/>
              </a:solidFill>
              <a:latin typeface="Comfortaa"/>
              <a:ea typeface="Comfortaa"/>
              <a:cs typeface="Comfortaa"/>
              <a:sym typeface="Comfortaa"/>
            </a:endParaRPr>
          </a:p>
        </p:txBody>
      </p:sp>
      <p:sp>
        <p:nvSpPr>
          <p:cNvPr id="590" name="Google Shape;590;p45"/>
          <p:cNvSpPr/>
          <p:nvPr/>
        </p:nvSpPr>
        <p:spPr>
          <a:xfrm>
            <a:off x="812800" y="3279142"/>
            <a:ext cx="457200" cy="5232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4A17"/>
              </a:buClr>
              <a:buSzPts val="2800"/>
              <a:buFont typeface="IBM Plex Sans"/>
              <a:buNone/>
            </a:pPr>
            <a:r>
              <a:rPr b="1" i="0" lang="en-US" sz="2800" u="none" cap="none" strike="noStrike">
                <a:solidFill>
                  <a:srgbClr val="B24A17"/>
                </a:solidFill>
                <a:latin typeface="Comfortaa"/>
                <a:ea typeface="Comfortaa"/>
                <a:cs typeface="Comfortaa"/>
                <a:sym typeface="Comfortaa"/>
              </a:rPr>
              <a:t>3</a:t>
            </a:r>
            <a:endParaRPr i="0" sz="2800" u="none" cap="none" strike="noStrike">
              <a:solidFill>
                <a:schemeClr val="dk1"/>
              </a:solidFill>
              <a:latin typeface="Comfortaa"/>
              <a:ea typeface="Comfortaa"/>
              <a:cs typeface="Comfortaa"/>
              <a:sym typeface="Comfortaa"/>
            </a:endParaRPr>
          </a:p>
        </p:txBody>
      </p:sp>
      <p:sp>
        <p:nvSpPr>
          <p:cNvPr id="591" name="Google Shape;591;p45"/>
          <p:cNvSpPr/>
          <p:nvPr/>
        </p:nvSpPr>
        <p:spPr>
          <a:xfrm>
            <a:off x="1422400" y="3279142"/>
            <a:ext cx="10255504" cy="6654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C2230"/>
              </a:buClr>
              <a:buSzPts val="1800"/>
              <a:buFont typeface="IBM Plex Sans"/>
              <a:buNone/>
            </a:pPr>
            <a:r>
              <a:rPr i="0" lang="en-US" sz="1800" u="none" cap="none" strike="noStrike">
                <a:solidFill>
                  <a:srgbClr val="1C2230"/>
                </a:solidFill>
                <a:latin typeface="Comfortaa"/>
                <a:ea typeface="Comfortaa"/>
                <a:cs typeface="Comfortaa"/>
                <a:sym typeface="Comfortaa"/>
              </a:rPr>
              <a:t>The more directly a device is given to a VM, the faster it runs</a:t>
            </a:r>
            <a:r>
              <a:rPr lang="en-US" sz="1800">
                <a:solidFill>
                  <a:srgbClr val="1C2230"/>
                </a:solidFill>
                <a:latin typeface="Comfortaa"/>
                <a:ea typeface="Comfortaa"/>
                <a:cs typeface="Comfortaa"/>
                <a:sym typeface="Comfortaa"/>
              </a:rPr>
              <a:t> </a:t>
            </a:r>
            <a:r>
              <a:rPr i="0" lang="en-US" sz="1800" u="none" cap="none" strike="noStrike">
                <a:solidFill>
                  <a:srgbClr val="1C2230"/>
                </a:solidFill>
                <a:latin typeface="Comfortaa"/>
                <a:ea typeface="Comfortaa"/>
                <a:cs typeface="Comfortaa"/>
                <a:sym typeface="Comfortaa"/>
              </a:rPr>
              <a:t>and the less the host can manage that VM's memory.</a:t>
            </a:r>
            <a:endParaRPr i="0" sz="1800" u="none" cap="none" strike="noStrike">
              <a:solidFill>
                <a:schemeClr val="dk1"/>
              </a:solidFill>
              <a:latin typeface="Comfortaa"/>
              <a:ea typeface="Comfortaa"/>
              <a:cs typeface="Comfortaa"/>
              <a:sym typeface="Comfortaa"/>
            </a:endParaRPr>
          </a:p>
        </p:txBody>
      </p:sp>
      <p:sp>
        <p:nvSpPr>
          <p:cNvPr id="592" name="Google Shape;592;p45"/>
          <p:cNvSpPr/>
          <p:nvPr/>
        </p:nvSpPr>
        <p:spPr>
          <a:xfrm>
            <a:off x="812800" y="6238242"/>
            <a:ext cx="10883392"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673"/>
              </a:buClr>
              <a:buSzPts val="1200"/>
              <a:buFont typeface="IBM Plex Sans"/>
              <a:buNone/>
            </a:pPr>
            <a:r>
              <a:rPr i="0" lang="en-US" sz="1200" u="none" cap="none" strike="noStrike">
                <a:solidFill>
                  <a:srgbClr val="5F6673"/>
                </a:solidFill>
                <a:latin typeface="Comfortaa"/>
                <a:ea typeface="Comfortaa"/>
                <a:cs typeface="Comfortaa"/>
                <a:sym typeface="Comfortaa"/>
              </a:rPr>
              <a:t>M2 · Device virtualization</a:t>
            </a:r>
            <a:endParaRPr i="0" sz="1200" u="none" cap="none" strike="noStrike">
              <a:solidFill>
                <a:schemeClr val="dk1"/>
              </a:solidFill>
              <a:latin typeface="Comfortaa"/>
              <a:ea typeface="Comfortaa"/>
              <a:cs typeface="Comfortaa"/>
              <a:sym typeface="Comfortaa"/>
            </a:endParaRPr>
          </a:p>
        </p:txBody>
      </p:sp>
      <p:sp>
        <p:nvSpPr>
          <p:cNvPr id="593" name="Google Shape;593;p45"/>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130"/>
        </a:solidFill>
      </p:bgPr>
    </p:bg>
    <p:spTree>
      <p:nvGrpSpPr>
        <p:cNvPr id="598" name="Shape 598"/>
        <p:cNvGrpSpPr/>
        <p:nvPr/>
      </p:nvGrpSpPr>
      <p:grpSpPr>
        <a:xfrm>
          <a:off x="0" y="0"/>
          <a:ext cx="0" cy="0"/>
          <a:chOff x="0" y="0"/>
          <a:chExt cx="0" cy="0"/>
        </a:xfrm>
      </p:grpSpPr>
      <p:sp>
        <p:nvSpPr>
          <p:cNvPr id="599" name="Google Shape;599;p46"/>
          <p:cNvSpPr txBox="1"/>
          <p:nvPr>
            <p:ph type="title"/>
          </p:nvPr>
        </p:nvSpPr>
        <p:spPr>
          <a:xfrm>
            <a:off x="812800" y="812800"/>
            <a:ext cx="10883392" cy="665480"/>
          </a:xfrm>
          <a:prstGeom prst="rect">
            <a:avLst/>
          </a:prstGeom>
          <a:noFill/>
          <a:ln>
            <a:noFill/>
          </a:ln>
        </p:spPr>
        <p:txBody>
          <a:bodyPr anchorCtr="0" anchor="t" bIns="0" lIns="0" spcFirstLastPara="1" rIns="0" wrap="square" tIns="0">
            <a:normAutofit fontScale="90000"/>
          </a:bodyPr>
          <a:lstStyle/>
          <a:p>
            <a:pPr indent="0" lvl="0" marL="0" rtl="0" algn="l">
              <a:lnSpc>
                <a:spcPct val="104999"/>
              </a:lnSpc>
              <a:spcBef>
                <a:spcPts val="0"/>
              </a:spcBef>
              <a:spcAft>
                <a:spcPts val="0"/>
              </a:spcAft>
              <a:buClr>
                <a:srgbClr val="F2EFE8"/>
              </a:buClr>
              <a:buSzPct val="100000"/>
              <a:buFont typeface="IBM Plex Sans"/>
              <a:buNone/>
            </a:pPr>
            <a:r>
              <a:rPr b="1" i="0" lang="en-US" sz="4800">
                <a:solidFill>
                  <a:srgbClr val="F2EFE8"/>
                </a:solidFill>
                <a:latin typeface="Comfortaa"/>
                <a:ea typeface="Comfortaa"/>
                <a:cs typeface="Comfortaa"/>
                <a:sym typeface="Comfortaa"/>
              </a:rPr>
              <a:t>Questions</a:t>
            </a:r>
            <a:endParaRPr sz="4800">
              <a:latin typeface="Comfortaa"/>
              <a:ea typeface="Comfortaa"/>
              <a:cs typeface="Comfortaa"/>
              <a:sym typeface="Comfortaa"/>
            </a:endParaRPr>
          </a:p>
        </p:txBody>
      </p:sp>
      <p:sp>
        <p:nvSpPr>
          <p:cNvPr id="600" name="Google Shape;600;p46"/>
          <p:cNvSpPr/>
          <p:nvPr/>
        </p:nvSpPr>
        <p:spPr>
          <a:xfrm>
            <a:off x="812800" y="2778125"/>
            <a:ext cx="10883392"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08A4B"/>
              </a:buClr>
              <a:buSzPts val="1200"/>
              <a:buFont typeface="IBM Plex Mono"/>
              <a:buNone/>
            </a:pPr>
            <a:r>
              <a:rPr i="0" lang="en-US" sz="1200" u="none" cap="none" strike="noStrike">
                <a:solidFill>
                  <a:srgbClr val="F08A4B"/>
                </a:solidFill>
                <a:latin typeface="Comfortaa"/>
                <a:ea typeface="Comfortaa"/>
                <a:cs typeface="Comfortaa"/>
                <a:sym typeface="Comfortaa"/>
              </a:rPr>
              <a:t>GOING FURTHER</a:t>
            </a:r>
            <a:endParaRPr i="0" sz="1200" u="none" cap="none" strike="noStrike">
              <a:solidFill>
                <a:schemeClr val="dk1"/>
              </a:solidFill>
              <a:latin typeface="Comfortaa"/>
              <a:ea typeface="Comfortaa"/>
              <a:cs typeface="Comfortaa"/>
              <a:sym typeface="Comfortaa"/>
            </a:endParaRPr>
          </a:p>
        </p:txBody>
      </p:sp>
      <p:sp>
        <p:nvSpPr>
          <p:cNvPr id="601" name="Google Shape;601;p46"/>
          <p:cNvSpPr/>
          <p:nvPr/>
        </p:nvSpPr>
        <p:spPr>
          <a:xfrm>
            <a:off x="891032" y="3093083"/>
            <a:ext cx="10797540" cy="1403350"/>
          </a:xfrm>
          <a:prstGeom prst="rect">
            <a:avLst/>
          </a:prstGeom>
          <a:noFill/>
          <a:ln>
            <a:noFill/>
          </a:ln>
        </p:spPr>
        <p:txBody>
          <a:bodyPr anchorCtr="0" anchor="t" bIns="0" lIns="0" spcFirstLastPara="1" rIns="0" wrap="square" tIns="0">
            <a:noAutofit/>
          </a:bodyPr>
          <a:lstStyle/>
          <a:p>
            <a:pPr indent="-175768" lvl="0" marL="175768" marR="0" rtl="0" algn="l">
              <a:lnSpc>
                <a:spcPct val="155000"/>
              </a:lnSpc>
              <a:spcBef>
                <a:spcPts val="0"/>
              </a:spcBef>
              <a:spcAft>
                <a:spcPts val="0"/>
              </a:spcAft>
              <a:buClr>
                <a:srgbClr val="C9C4B8"/>
              </a:buClr>
              <a:buSzPts val="1400"/>
              <a:buFont typeface="Comfortaa"/>
              <a:buChar char="•"/>
            </a:pPr>
            <a:r>
              <a:rPr i="0" lang="en-US" sz="1400" u="none" cap="none" strike="noStrike">
                <a:solidFill>
                  <a:srgbClr val="C9C4B8"/>
                </a:solidFill>
                <a:latin typeface="Comfortaa"/>
                <a:ea typeface="Comfortaa"/>
                <a:cs typeface="Comfortaa"/>
                <a:sym typeface="Comfortaa"/>
              </a:rPr>
              <a:t>Intel, Virtualization Technology for Directed I/O, Architecture Specification</a:t>
            </a:r>
            <a:endParaRPr i="0" sz="1400" u="none" cap="none" strike="noStrike">
              <a:solidFill>
                <a:srgbClr val="C9C4B8"/>
              </a:solidFill>
              <a:latin typeface="Comfortaa"/>
              <a:ea typeface="Comfortaa"/>
              <a:cs typeface="Comfortaa"/>
              <a:sym typeface="Comfortaa"/>
            </a:endParaRPr>
          </a:p>
          <a:p>
            <a:pPr indent="-175768" lvl="0" marL="175768" marR="0" rtl="0" algn="l">
              <a:lnSpc>
                <a:spcPct val="155000"/>
              </a:lnSpc>
              <a:spcBef>
                <a:spcPts val="0"/>
              </a:spcBef>
              <a:spcAft>
                <a:spcPts val="0"/>
              </a:spcAft>
              <a:buClr>
                <a:srgbClr val="C9C4B8"/>
              </a:buClr>
              <a:buSzPts val="1400"/>
              <a:buFont typeface="Comfortaa"/>
              <a:buChar char="•"/>
            </a:pPr>
            <a:r>
              <a:rPr lang="en-US">
                <a:solidFill>
                  <a:srgbClr val="C9C4B8"/>
                </a:solidFill>
                <a:latin typeface="Comfortaa"/>
                <a:ea typeface="Comfortaa"/>
                <a:cs typeface="Comfortaa"/>
                <a:sym typeface="Comfortaa"/>
              </a:rPr>
              <a:t>Tang et al DMA cache: Using on-chip storage to architecturally separate I/O data from CPU data for improving I/O performance, HPCA-16 2010</a:t>
            </a:r>
            <a:endParaRPr>
              <a:solidFill>
                <a:srgbClr val="C9C4B8"/>
              </a:solidFill>
              <a:latin typeface="Comfortaa"/>
              <a:ea typeface="Comfortaa"/>
              <a:cs typeface="Comfortaa"/>
              <a:sym typeface="Comfortaa"/>
            </a:endParaRPr>
          </a:p>
          <a:p>
            <a:pPr indent="-175768" lvl="0" marL="175768" marR="0" rtl="0" algn="l">
              <a:lnSpc>
                <a:spcPct val="155000"/>
              </a:lnSpc>
              <a:spcBef>
                <a:spcPts val="0"/>
              </a:spcBef>
              <a:spcAft>
                <a:spcPts val="0"/>
              </a:spcAft>
              <a:buClr>
                <a:srgbClr val="C9C4B8"/>
              </a:buClr>
              <a:buSzPts val="1400"/>
              <a:buFont typeface="Comfortaa"/>
              <a:buChar char="•"/>
            </a:pPr>
            <a:r>
              <a:rPr i="0" lang="en-US" sz="1400" u="none" cap="none" strike="noStrike">
                <a:solidFill>
                  <a:srgbClr val="C9C4B8"/>
                </a:solidFill>
                <a:latin typeface="Comfortaa"/>
                <a:ea typeface="Comfortaa"/>
                <a:cs typeface="Comfortaa"/>
                <a:sym typeface="Comfortaa"/>
              </a:rPr>
              <a:t>Ben-Yehuda et al., Utilizing IOMMUs for Virtualization in Linux and Xen, OLS 2006</a:t>
            </a:r>
            <a:endParaRPr i="0" sz="1400" u="none" cap="none" strike="noStrike">
              <a:solidFill>
                <a:schemeClr val="dk1"/>
              </a:solidFill>
              <a:latin typeface="Comfortaa"/>
              <a:ea typeface="Comfortaa"/>
              <a:cs typeface="Comfortaa"/>
              <a:sym typeface="Comfortaa"/>
            </a:endParaRPr>
          </a:p>
          <a:p>
            <a:pPr indent="-175768" lvl="0" marL="175768" marR="0" rtl="0" algn="l">
              <a:lnSpc>
                <a:spcPct val="155000"/>
              </a:lnSpc>
              <a:spcBef>
                <a:spcPts val="0"/>
              </a:spcBef>
              <a:spcAft>
                <a:spcPts val="0"/>
              </a:spcAft>
              <a:buClr>
                <a:srgbClr val="C9C4B8"/>
              </a:buClr>
              <a:buSzPts val="1400"/>
              <a:buFont typeface="Comfortaa"/>
              <a:buChar char="•"/>
            </a:pPr>
            <a:r>
              <a:rPr i="0" lang="en-US" sz="1400" u="none" cap="none" strike="noStrike">
                <a:solidFill>
                  <a:srgbClr val="C9C4B8"/>
                </a:solidFill>
                <a:latin typeface="Comfortaa"/>
                <a:ea typeface="Comfortaa"/>
                <a:cs typeface="Comfortaa"/>
                <a:sym typeface="Comfortaa"/>
              </a:rPr>
              <a:t>Amit et al., vIOMMU: Efficient IOMMU Emulation, USENIX ATC 2011</a:t>
            </a:r>
            <a:endParaRPr i="0" sz="1400" u="none" cap="none" strike="noStrike">
              <a:solidFill>
                <a:schemeClr val="dk1"/>
              </a:solidFill>
              <a:latin typeface="Comfortaa"/>
              <a:ea typeface="Comfortaa"/>
              <a:cs typeface="Comfortaa"/>
              <a:sym typeface="Comfortaa"/>
            </a:endParaRPr>
          </a:p>
          <a:p>
            <a:pPr indent="-175768" lvl="0" marL="175768" marR="0" rtl="0" algn="l">
              <a:lnSpc>
                <a:spcPct val="155000"/>
              </a:lnSpc>
              <a:spcBef>
                <a:spcPts val="0"/>
              </a:spcBef>
              <a:spcAft>
                <a:spcPts val="0"/>
              </a:spcAft>
              <a:buClr>
                <a:srgbClr val="C9C4B8"/>
              </a:buClr>
              <a:buSzPts val="1400"/>
              <a:buFont typeface="Comfortaa"/>
              <a:buChar char="•"/>
            </a:pPr>
            <a:r>
              <a:rPr i="0" lang="en-US" sz="1400" u="none" cap="none" strike="noStrike">
                <a:solidFill>
                  <a:srgbClr val="C9C4B8"/>
                </a:solidFill>
                <a:latin typeface="Comfortaa"/>
                <a:ea typeface="Comfortaa"/>
                <a:cs typeface="Comfortaa"/>
                <a:sym typeface="Comfortaa"/>
              </a:rPr>
              <a:t>Markuze et al., True IOMMU Protection from DMA Attacks, ASPLOS 2016</a:t>
            </a:r>
            <a:endParaRPr i="0" sz="1400" u="none" cap="none" strike="noStrike">
              <a:solidFill>
                <a:schemeClr val="dk1"/>
              </a:solidFill>
              <a:latin typeface="Comfortaa"/>
              <a:ea typeface="Comfortaa"/>
              <a:cs typeface="Comfortaa"/>
              <a:sym typeface="Comfortaa"/>
            </a:endParaRPr>
          </a:p>
          <a:p>
            <a:pPr indent="-175768" lvl="0" marL="175768" marR="0" rtl="0" algn="l">
              <a:lnSpc>
                <a:spcPct val="155000"/>
              </a:lnSpc>
              <a:spcBef>
                <a:spcPts val="0"/>
              </a:spcBef>
              <a:spcAft>
                <a:spcPts val="0"/>
              </a:spcAft>
              <a:buClr>
                <a:srgbClr val="C9C4B8"/>
              </a:buClr>
              <a:buSzPts val="1400"/>
              <a:buFont typeface="Comfortaa"/>
              <a:buChar char="•"/>
            </a:pPr>
            <a:r>
              <a:rPr i="0" lang="en-US" sz="1400" u="none" cap="none" strike="noStrike">
                <a:solidFill>
                  <a:srgbClr val="C9C4B8"/>
                </a:solidFill>
                <a:latin typeface="Comfortaa"/>
                <a:ea typeface="Comfortaa"/>
                <a:cs typeface="Comfortaa"/>
                <a:sym typeface="Comfortaa"/>
              </a:rPr>
              <a:t>Linux: Documentation/driver-api/vfio.rst, Documentation/userspace-api/iommufd.rst</a:t>
            </a:r>
            <a:endParaRPr i="0" sz="1400" u="none" cap="none" strike="noStrike">
              <a:solidFill>
                <a:schemeClr val="dk1"/>
              </a:solidFill>
              <a:latin typeface="Comfortaa"/>
              <a:ea typeface="Comfortaa"/>
              <a:cs typeface="Comfortaa"/>
              <a:sym typeface="Comfortaa"/>
            </a:endParaRPr>
          </a:p>
        </p:txBody>
      </p:sp>
      <p:sp>
        <p:nvSpPr>
          <p:cNvPr id="602" name="Google Shape;602;p46"/>
          <p:cNvSpPr/>
          <p:nvPr/>
        </p:nvSpPr>
        <p:spPr>
          <a:xfrm>
            <a:off x="812800" y="5796285"/>
            <a:ext cx="10883392" cy="2743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9C4B8"/>
              </a:buClr>
              <a:buSzPts val="1400"/>
              <a:buFont typeface="IBM Plex Sans"/>
              <a:buNone/>
            </a:pPr>
            <a:r>
              <a:rPr i="0" lang="en-US" sz="1400" u="none" cap="none" strike="noStrike">
                <a:solidFill>
                  <a:srgbClr val="C9C4B8"/>
                </a:solidFill>
                <a:latin typeface="Comfortaa"/>
                <a:ea typeface="Comfortaa"/>
                <a:cs typeface="Comfortaa"/>
                <a:sym typeface="Comfortaa"/>
              </a:rPr>
              <a:t>Luc </a:t>
            </a:r>
            <a:r>
              <a:rPr lang="en-US">
                <a:solidFill>
                  <a:srgbClr val="C9C4B8"/>
                </a:solidFill>
                <a:latin typeface="Comfortaa"/>
                <a:ea typeface="Comfortaa"/>
                <a:cs typeface="Comfortaa"/>
                <a:sym typeface="Comfortaa"/>
              </a:rPr>
              <a:t>MAHOP</a:t>
            </a:r>
            <a:r>
              <a:rPr i="0" lang="en-US" sz="1400" u="none" cap="none" strike="noStrike">
                <a:solidFill>
                  <a:srgbClr val="C9C4B8"/>
                </a:solidFill>
                <a:latin typeface="Comfortaa"/>
                <a:ea typeface="Comfortaa"/>
                <a:cs typeface="Comfortaa"/>
                <a:sym typeface="Comfortaa"/>
              </a:rPr>
              <a:t> · </a:t>
            </a:r>
            <a:r>
              <a:rPr lang="en-US">
                <a:solidFill>
                  <a:srgbClr val="C9C4B8"/>
                </a:solidFill>
                <a:latin typeface="Comfortaa"/>
                <a:ea typeface="Comfortaa"/>
                <a:cs typeface="Comfortaa"/>
                <a:sym typeface="Comfortaa"/>
              </a:rPr>
              <a:t>mahopmaj@univ-grenoble-alpes.fr</a:t>
            </a:r>
            <a:endParaRPr i="0" sz="1400" u="none" cap="none" strike="noStrike">
              <a:solidFill>
                <a:schemeClr val="dk1"/>
              </a:solidFill>
              <a:latin typeface="Comfortaa"/>
              <a:ea typeface="Comfortaa"/>
              <a:cs typeface="Comfortaa"/>
              <a:sym typeface="Comfortaa"/>
            </a:endParaRPr>
          </a:p>
        </p:txBody>
      </p:sp>
      <p:sp>
        <p:nvSpPr>
          <p:cNvPr id="603" name="Google Shape;603;p46"/>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E"/>
        </a:solidFill>
      </p:bgPr>
    </p:bg>
    <p:spTree>
      <p:nvGrpSpPr>
        <p:cNvPr id="608" name="Shape 608"/>
        <p:cNvGrpSpPr/>
        <p:nvPr/>
      </p:nvGrpSpPr>
      <p:grpSpPr>
        <a:xfrm>
          <a:off x="0" y="0"/>
          <a:ext cx="0" cy="0"/>
          <a:chOff x="0" y="0"/>
          <a:chExt cx="0" cy="0"/>
        </a:xfrm>
      </p:grpSpPr>
      <p:sp>
        <p:nvSpPr>
          <p:cNvPr id="609" name="Google Shape;609;p47"/>
          <p:cNvSpPr/>
          <p:nvPr/>
        </p:nvSpPr>
        <p:spPr>
          <a:xfrm>
            <a:off x="812800" y="812800"/>
            <a:ext cx="10883392"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4A17"/>
              </a:buClr>
              <a:buSzPts val="1200"/>
              <a:buFont typeface="IBM Plex Mono"/>
              <a:buNone/>
            </a:pPr>
            <a:r>
              <a:rPr i="0" lang="en-US" sz="1200" u="none" cap="none" strike="noStrike">
                <a:solidFill>
                  <a:srgbClr val="B24A17"/>
                </a:solidFill>
                <a:latin typeface="Comfortaa"/>
                <a:ea typeface="Comfortaa"/>
                <a:cs typeface="Comfortaa"/>
                <a:sym typeface="Comfortaa"/>
              </a:rPr>
              <a:t>05 · LIVE DEMO</a:t>
            </a:r>
            <a:endParaRPr i="0" sz="1200" u="none" cap="none" strike="noStrike">
              <a:solidFill>
                <a:schemeClr val="dk1"/>
              </a:solidFill>
              <a:latin typeface="Comfortaa"/>
              <a:ea typeface="Comfortaa"/>
              <a:cs typeface="Comfortaa"/>
              <a:sym typeface="Comfortaa"/>
            </a:endParaRPr>
          </a:p>
        </p:txBody>
      </p:sp>
      <p:sp>
        <p:nvSpPr>
          <p:cNvPr id="610" name="Google Shape;610;p47"/>
          <p:cNvSpPr txBox="1"/>
          <p:nvPr>
            <p:ph type="title"/>
          </p:nvPr>
        </p:nvSpPr>
        <p:spPr>
          <a:xfrm>
            <a:off x="812800" y="1102358"/>
            <a:ext cx="10883392" cy="4445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C2230"/>
              </a:buClr>
              <a:buSzPct val="100000"/>
              <a:buFont typeface="IBM Plex Sans"/>
              <a:buNone/>
            </a:pPr>
            <a:r>
              <a:rPr b="1" i="0" lang="en-US" sz="3000">
                <a:solidFill>
                  <a:srgbClr val="1C2230"/>
                </a:solidFill>
                <a:latin typeface="Comfortaa"/>
                <a:ea typeface="Comfortaa"/>
                <a:cs typeface="Comfortaa"/>
                <a:sym typeface="Comfortaa"/>
              </a:rPr>
              <a:t>What it looks like on a real machine</a:t>
            </a:r>
            <a:endParaRPr sz="3000">
              <a:latin typeface="Comfortaa"/>
              <a:ea typeface="Comfortaa"/>
              <a:cs typeface="Comfortaa"/>
              <a:sym typeface="Comfortaa"/>
            </a:endParaRPr>
          </a:p>
        </p:txBody>
      </p:sp>
      <p:sp>
        <p:nvSpPr>
          <p:cNvPr id="611" name="Google Shape;611;p47"/>
          <p:cNvSpPr/>
          <p:nvPr/>
        </p:nvSpPr>
        <p:spPr>
          <a:xfrm>
            <a:off x="812800" y="1877058"/>
            <a:ext cx="10566400" cy="2321560"/>
          </a:xfrm>
          <a:prstGeom prst="roundRect">
            <a:avLst>
              <a:gd fmla="val 3282" name="adj"/>
            </a:avLst>
          </a:prstGeom>
          <a:solidFill>
            <a:srgbClr val="1A2130"/>
          </a:solidFill>
          <a:ln>
            <a:noFill/>
          </a:ln>
        </p:spPr>
        <p:txBody>
          <a:bodyPr anchorCtr="0" anchor="t" bIns="206275" lIns="231675" spcFirstLastPara="1" rIns="0" wrap="square" tIns="231675">
            <a:noAutofit/>
          </a:bodyPr>
          <a:lstStyle/>
          <a:p>
            <a:pPr indent="0" lvl="0" marL="0" marR="0" rtl="0" algn="l">
              <a:lnSpc>
                <a:spcPct val="170000"/>
              </a:lnSpc>
              <a:spcBef>
                <a:spcPts val="0"/>
              </a:spcBef>
              <a:spcAft>
                <a:spcPts val="0"/>
              </a:spcAft>
              <a:buClr>
                <a:srgbClr val="F2EFE8"/>
              </a:buClr>
              <a:buSzPts val="1400"/>
              <a:buFont typeface="IBM Plex Mono"/>
              <a:buNone/>
            </a:pPr>
            <a:r>
              <a:rPr i="0" lang="en-US" sz="1400" u="none" cap="none" strike="noStrike">
                <a:solidFill>
                  <a:srgbClr val="F2EFE8"/>
                </a:solidFill>
                <a:latin typeface="Comfortaa"/>
                <a:ea typeface="Comfortaa"/>
                <a:cs typeface="Comfortaa"/>
                <a:sym typeface="Comfortaa"/>
              </a:rPr>
              <a:t>$ dmesg | grep -i -e DMAR -e IOMMU</a:t>
            </a:r>
            <a:endParaRPr i="0" sz="1400" u="none" cap="none" strike="noStrike">
              <a:solidFill>
                <a:schemeClr val="dk1"/>
              </a:solidFill>
              <a:latin typeface="Comfortaa"/>
              <a:ea typeface="Comfortaa"/>
              <a:cs typeface="Comfortaa"/>
              <a:sym typeface="Comfortaa"/>
            </a:endParaRPr>
          </a:p>
          <a:p>
            <a:pPr indent="0" lvl="0" marL="0" marR="0" rtl="0" algn="l">
              <a:lnSpc>
                <a:spcPct val="170000"/>
              </a:lnSpc>
              <a:spcBef>
                <a:spcPts val="0"/>
              </a:spcBef>
              <a:spcAft>
                <a:spcPts val="0"/>
              </a:spcAft>
              <a:buClr>
                <a:srgbClr val="F2EFE8"/>
              </a:buClr>
              <a:buSzPts val="1400"/>
              <a:buFont typeface="IBM Plex Mono"/>
              <a:buNone/>
            </a:pPr>
            <a:r>
              <a:rPr i="0" lang="en-US" sz="1400" u="none" cap="none" strike="noStrike">
                <a:solidFill>
                  <a:srgbClr val="F2EFE8"/>
                </a:solidFill>
                <a:latin typeface="Comfortaa"/>
                <a:ea typeface="Comfortaa"/>
                <a:cs typeface="Comfortaa"/>
                <a:sym typeface="Comfortaa"/>
              </a:rPr>
              <a:t>$ ls /sys/kernel/iommu_groups/*/devices</a:t>
            </a:r>
            <a:endParaRPr i="0" sz="1400" u="none" cap="none" strike="noStrike">
              <a:solidFill>
                <a:schemeClr val="dk1"/>
              </a:solidFill>
              <a:latin typeface="Comfortaa"/>
              <a:ea typeface="Comfortaa"/>
              <a:cs typeface="Comfortaa"/>
              <a:sym typeface="Comfortaa"/>
            </a:endParaRPr>
          </a:p>
          <a:p>
            <a:pPr indent="0" lvl="0" marL="0" marR="0" rtl="0" algn="l">
              <a:lnSpc>
                <a:spcPct val="170000"/>
              </a:lnSpc>
              <a:spcBef>
                <a:spcPts val="0"/>
              </a:spcBef>
              <a:spcAft>
                <a:spcPts val="0"/>
              </a:spcAft>
              <a:buClr>
                <a:srgbClr val="F2EFE8"/>
              </a:buClr>
              <a:buSzPts val="1400"/>
              <a:buFont typeface="IBM Plex Mono"/>
              <a:buNone/>
            </a:pPr>
            <a:r>
              <a:rPr i="0" lang="en-US" sz="1400" u="none" cap="none" strike="noStrike">
                <a:solidFill>
                  <a:srgbClr val="F2EFE8"/>
                </a:solidFill>
                <a:latin typeface="Comfortaa"/>
                <a:ea typeface="Comfortaa"/>
                <a:cs typeface="Comfortaa"/>
                <a:sym typeface="Comfortaa"/>
              </a:rPr>
              <a:t>$ cat /sys/kernel/iommu_groups/*/type</a:t>
            </a:r>
            <a:endParaRPr i="0" sz="1400" u="none" cap="none" strike="noStrike">
              <a:solidFill>
                <a:schemeClr val="dk1"/>
              </a:solidFill>
              <a:latin typeface="Comfortaa"/>
              <a:ea typeface="Comfortaa"/>
              <a:cs typeface="Comfortaa"/>
              <a:sym typeface="Comfortaa"/>
            </a:endParaRPr>
          </a:p>
          <a:p>
            <a:pPr indent="0" lvl="0" marL="0" marR="0" rtl="0" algn="l">
              <a:lnSpc>
                <a:spcPct val="170000"/>
              </a:lnSpc>
              <a:spcBef>
                <a:spcPts val="0"/>
              </a:spcBef>
              <a:spcAft>
                <a:spcPts val="0"/>
              </a:spcAft>
              <a:buClr>
                <a:srgbClr val="F2EFE8"/>
              </a:buClr>
              <a:buSzPts val="1400"/>
              <a:buFont typeface="IBM Plex Mono"/>
              <a:buNone/>
            </a:pPr>
            <a:r>
              <a:rPr i="0" lang="en-US" sz="1400" u="none" cap="none" strike="noStrike">
                <a:solidFill>
                  <a:srgbClr val="F2EFE8"/>
                </a:solidFill>
                <a:latin typeface="Comfortaa"/>
                <a:ea typeface="Comfortaa"/>
                <a:cs typeface="Comfortaa"/>
                <a:sym typeface="Comfortaa"/>
              </a:rPr>
              <a:t>$ lspci -k -s [BDF]</a:t>
            </a:r>
            <a:endParaRPr i="0" sz="1400" u="none" cap="none" strike="noStrike">
              <a:solidFill>
                <a:schemeClr val="dk1"/>
              </a:solidFill>
              <a:latin typeface="Comfortaa"/>
              <a:ea typeface="Comfortaa"/>
              <a:cs typeface="Comfortaa"/>
              <a:sym typeface="Comfortaa"/>
            </a:endParaRPr>
          </a:p>
          <a:p>
            <a:pPr indent="0" lvl="0" marL="0" marR="0" rtl="0" algn="l">
              <a:lnSpc>
                <a:spcPct val="170000"/>
              </a:lnSpc>
              <a:spcBef>
                <a:spcPts val="0"/>
              </a:spcBef>
              <a:spcAft>
                <a:spcPts val="0"/>
              </a:spcAft>
              <a:buClr>
                <a:srgbClr val="F2EFE8"/>
              </a:buClr>
              <a:buSzPts val="1400"/>
              <a:buFont typeface="IBM Plex Mono"/>
              <a:buNone/>
            </a:pPr>
            <a:r>
              <a:rPr i="0" lang="en-US" sz="1400" u="none" cap="none" strike="noStrike">
                <a:solidFill>
                  <a:srgbClr val="F2EFE8"/>
                </a:solidFill>
                <a:latin typeface="Comfortaa"/>
                <a:ea typeface="Comfortaa"/>
                <a:cs typeface="Comfortaa"/>
                <a:sym typeface="Comfortaa"/>
              </a:rPr>
              <a:t>$ qemu-system-x86_64 ... -device intel-iommu,caching-mode=on</a:t>
            </a:r>
            <a:endParaRPr i="0" sz="1400" u="none" cap="none" strike="noStrike">
              <a:solidFill>
                <a:schemeClr val="dk1"/>
              </a:solidFill>
              <a:latin typeface="Comfortaa"/>
              <a:ea typeface="Comfortaa"/>
              <a:cs typeface="Comfortaa"/>
              <a:sym typeface="Comfortaa"/>
            </a:endParaRPr>
          </a:p>
          <a:p>
            <a:pPr indent="0" lvl="0" marL="0" marR="0" rtl="0" algn="l">
              <a:lnSpc>
                <a:spcPct val="170000"/>
              </a:lnSpc>
              <a:spcBef>
                <a:spcPts val="0"/>
              </a:spcBef>
              <a:spcAft>
                <a:spcPts val="0"/>
              </a:spcAft>
              <a:buClr>
                <a:srgbClr val="F2EFE8"/>
              </a:buClr>
              <a:buSzPts val="1400"/>
              <a:buFont typeface="IBM Plex Mono"/>
              <a:buNone/>
            </a:pPr>
            <a:r>
              <a:rPr i="0" lang="en-US" sz="1400" u="none" cap="none" strike="noStrike">
                <a:solidFill>
                  <a:srgbClr val="F2EFE8"/>
                </a:solidFill>
                <a:latin typeface="Comfortaa"/>
                <a:ea typeface="Comfortaa"/>
                <a:cs typeface="Comfortaa"/>
                <a:sym typeface="Comfortaa"/>
              </a:rPr>
              <a:t>$ perf kvm stat live</a:t>
            </a:r>
            <a:endParaRPr i="0" sz="1400" u="none" cap="none" strike="noStrike">
              <a:solidFill>
                <a:schemeClr val="dk1"/>
              </a:solidFill>
              <a:latin typeface="Comfortaa"/>
              <a:ea typeface="Comfortaa"/>
              <a:cs typeface="Comfortaa"/>
              <a:sym typeface="Comfortaa"/>
            </a:endParaRPr>
          </a:p>
        </p:txBody>
      </p:sp>
      <p:sp>
        <p:nvSpPr>
          <p:cNvPr id="612" name="Google Shape;612;p47"/>
          <p:cNvSpPr/>
          <p:nvPr/>
        </p:nvSpPr>
        <p:spPr>
          <a:xfrm>
            <a:off x="812800" y="6238242"/>
            <a:ext cx="10883392"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673"/>
              </a:buClr>
              <a:buSzPts val="1200"/>
              <a:buFont typeface="IBM Plex Sans"/>
              <a:buNone/>
            </a:pPr>
            <a:r>
              <a:rPr i="0" lang="en-US" sz="1200" u="none" cap="none" strike="noStrike">
                <a:solidFill>
                  <a:srgbClr val="5F6673"/>
                </a:solidFill>
                <a:latin typeface="Comfortaa"/>
                <a:ea typeface="Comfortaa"/>
                <a:cs typeface="Comfortaa"/>
                <a:sym typeface="Comfortaa"/>
              </a:rPr>
              <a:t>Test this beforehand: QEMU tracing needs a build with a trace backend</a:t>
            </a:r>
            <a:endParaRPr i="0" sz="1200" u="none" cap="none" strike="noStrike">
              <a:solidFill>
                <a:schemeClr val="dk1"/>
              </a:solidFill>
              <a:latin typeface="Comfortaa"/>
              <a:ea typeface="Comfortaa"/>
              <a:cs typeface="Comfortaa"/>
              <a:sym typeface="Comfortaa"/>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E"/>
        </a:solidFill>
      </p:bgPr>
    </p:bg>
    <p:spTree>
      <p:nvGrpSpPr>
        <p:cNvPr id="617" name="Shape 617"/>
        <p:cNvGrpSpPr/>
        <p:nvPr/>
      </p:nvGrpSpPr>
      <p:grpSpPr>
        <a:xfrm>
          <a:off x="0" y="0"/>
          <a:ext cx="0" cy="0"/>
          <a:chOff x="0" y="0"/>
          <a:chExt cx="0" cy="0"/>
        </a:xfrm>
      </p:grpSpPr>
      <p:sp>
        <p:nvSpPr>
          <p:cNvPr id="618" name="Google Shape;618;p48"/>
          <p:cNvSpPr/>
          <p:nvPr/>
        </p:nvSpPr>
        <p:spPr>
          <a:xfrm>
            <a:off x="812800" y="812800"/>
            <a:ext cx="10883392"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4A17"/>
              </a:buClr>
              <a:buSzPts val="1200"/>
              <a:buFont typeface="IBM Plex Mono"/>
              <a:buNone/>
            </a:pPr>
            <a:r>
              <a:rPr i="0" lang="en-US" sz="1200" u="none" cap="none" strike="noStrike">
                <a:solidFill>
                  <a:srgbClr val="B24A17"/>
                </a:solidFill>
                <a:latin typeface="Comfortaa"/>
                <a:ea typeface="Comfortaa"/>
                <a:cs typeface="Comfortaa"/>
                <a:sym typeface="Comfortaa"/>
              </a:rPr>
              <a:t>05 · EXERCISE · 8 MINUTES</a:t>
            </a:r>
            <a:endParaRPr i="0" sz="1200" u="none" cap="none" strike="noStrike">
              <a:solidFill>
                <a:schemeClr val="dk1"/>
              </a:solidFill>
              <a:latin typeface="Comfortaa"/>
              <a:ea typeface="Comfortaa"/>
              <a:cs typeface="Comfortaa"/>
              <a:sym typeface="Comfortaa"/>
            </a:endParaRPr>
          </a:p>
        </p:txBody>
      </p:sp>
      <p:sp>
        <p:nvSpPr>
          <p:cNvPr id="619" name="Google Shape;619;p48"/>
          <p:cNvSpPr txBox="1"/>
          <p:nvPr>
            <p:ph type="title"/>
          </p:nvPr>
        </p:nvSpPr>
        <p:spPr>
          <a:xfrm>
            <a:off x="812800" y="1102358"/>
            <a:ext cx="10883392" cy="4445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C2230"/>
              </a:buClr>
              <a:buSzPct val="100000"/>
              <a:buFont typeface="IBM Plex Sans"/>
              <a:buNone/>
            </a:pPr>
            <a:r>
              <a:rPr b="1" i="0" lang="en-US" sz="3000">
                <a:solidFill>
                  <a:srgbClr val="1C2230"/>
                </a:solidFill>
                <a:latin typeface="Comfortaa"/>
                <a:ea typeface="Comfortaa"/>
                <a:cs typeface="Comfortaa"/>
                <a:sym typeface="Comfortaa"/>
              </a:rPr>
              <a:t>What a 2D walk costs</a:t>
            </a:r>
            <a:endParaRPr sz="3000">
              <a:latin typeface="Comfortaa"/>
              <a:ea typeface="Comfortaa"/>
              <a:cs typeface="Comfortaa"/>
              <a:sym typeface="Comfortaa"/>
            </a:endParaRPr>
          </a:p>
        </p:txBody>
      </p:sp>
      <p:sp>
        <p:nvSpPr>
          <p:cNvPr id="620" name="Google Shape;620;p48"/>
          <p:cNvSpPr/>
          <p:nvPr/>
        </p:nvSpPr>
        <p:spPr>
          <a:xfrm>
            <a:off x="815975" y="1880233"/>
            <a:ext cx="3803650" cy="1657773"/>
          </a:xfrm>
          <a:prstGeom prst="roundRect">
            <a:avLst>
              <a:gd fmla="val 5937" name="adj"/>
            </a:avLst>
          </a:prstGeom>
          <a:solidFill>
            <a:srgbClr val="FDFCF9"/>
          </a:solidFill>
          <a:ln cap="flat" cmpd="sng" w="9525">
            <a:solidFill>
              <a:srgbClr val="D9D4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omfortaa"/>
              <a:ea typeface="Comfortaa"/>
              <a:cs typeface="Comfortaa"/>
              <a:sym typeface="Comfortaa"/>
            </a:endParaRPr>
          </a:p>
        </p:txBody>
      </p:sp>
      <p:sp>
        <p:nvSpPr>
          <p:cNvPr id="621" name="Google Shape;621;p48"/>
          <p:cNvSpPr/>
          <p:nvPr/>
        </p:nvSpPr>
        <p:spPr>
          <a:xfrm>
            <a:off x="1072092" y="2136353"/>
            <a:ext cx="3390159" cy="2692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C2230"/>
              </a:buClr>
              <a:buSzPts val="1600"/>
              <a:buFont typeface="IBM Plex Sans"/>
              <a:buNone/>
            </a:pPr>
            <a:r>
              <a:rPr b="1" i="0" lang="en-US" sz="1600" u="none" cap="none" strike="noStrike">
                <a:solidFill>
                  <a:srgbClr val="1C2230"/>
                </a:solidFill>
                <a:latin typeface="Comfortaa"/>
                <a:ea typeface="Comfortaa"/>
                <a:cs typeface="Comfortaa"/>
                <a:sym typeface="Comfortaa"/>
              </a:rPr>
              <a:t>Setup</a:t>
            </a:r>
            <a:endParaRPr i="0" sz="1600" u="none" cap="none" strike="noStrike">
              <a:solidFill>
                <a:schemeClr val="dk1"/>
              </a:solidFill>
              <a:latin typeface="Comfortaa"/>
              <a:ea typeface="Comfortaa"/>
              <a:cs typeface="Comfortaa"/>
              <a:sym typeface="Comfortaa"/>
            </a:endParaRPr>
          </a:p>
        </p:txBody>
      </p:sp>
      <p:sp>
        <p:nvSpPr>
          <p:cNvPr id="622" name="Google Shape;622;p48"/>
          <p:cNvSpPr/>
          <p:nvPr/>
        </p:nvSpPr>
        <p:spPr>
          <a:xfrm>
            <a:off x="1150324" y="2481796"/>
            <a:ext cx="3304307" cy="825500"/>
          </a:xfrm>
          <a:prstGeom prst="rect">
            <a:avLst/>
          </a:prstGeom>
          <a:noFill/>
          <a:ln>
            <a:noFill/>
          </a:ln>
        </p:spPr>
        <p:txBody>
          <a:bodyPr anchorCtr="0" anchor="t" bIns="0" lIns="0" spcFirstLastPara="1" rIns="0" wrap="square" tIns="0">
            <a:noAutofit/>
          </a:bodyPr>
          <a:lstStyle/>
          <a:p>
            <a:pPr indent="-175768" lvl="0" marL="175768" marR="0" rtl="0" algn="l">
              <a:lnSpc>
                <a:spcPct val="150000"/>
              </a:lnSpc>
              <a:spcBef>
                <a:spcPts val="0"/>
              </a:spcBef>
              <a:spcAft>
                <a:spcPts val="0"/>
              </a:spcAft>
              <a:buClr>
                <a:srgbClr val="1C2230"/>
              </a:buClr>
              <a:buSzPts val="1400"/>
              <a:buFont typeface="Comfortaa"/>
              <a:buChar char="•"/>
            </a:pPr>
            <a:r>
              <a:rPr i="0" lang="en-US" sz="1400" u="none" cap="none" strike="noStrike">
                <a:solidFill>
                  <a:srgbClr val="1C2230"/>
                </a:solidFill>
                <a:latin typeface="Comfortaa"/>
                <a:ea typeface="Comfortaa"/>
                <a:cs typeface="Comfortaa"/>
                <a:sym typeface="Comfortaa"/>
              </a:rPr>
              <a:t>Guest: 4 levels, IOVA → GPA</a:t>
            </a:r>
            <a:endParaRPr i="0" sz="1400" u="none" cap="none" strike="noStrike">
              <a:solidFill>
                <a:schemeClr val="dk1"/>
              </a:solidFill>
              <a:latin typeface="Comfortaa"/>
              <a:ea typeface="Comfortaa"/>
              <a:cs typeface="Comfortaa"/>
              <a:sym typeface="Comfortaa"/>
            </a:endParaRPr>
          </a:p>
          <a:p>
            <a:pPr indent="-175768" lvl="0" marL="175768" marR="0" rtl="0" algn="l">
              <a:lnSpc>
                <a:spcPct val="150000"/>
              </a:lnSpc>
              <a:spcBef>
                <a:spcPts val="0"/>
              </a:spcBef>
              <a:spcAft>
                <a:spcPts val="0"/>
              </a:spcAft>
              <a:buClr>
                <a:srgbClr val="1C2230"/>
              </a:buClr>
              <a:buSzPts val="1400"/>
              <a:buFont typeface="Comfortaa"/>
              <a:buChar char="•"/>
            </a:pPr>
            <a:r>
              <a:rPr i="0" lang="en-US" sz="1400" u="none" cap="none" strike="noStrike">
                <a:solidFill>
                  <a:srgbClr val="1C2230"/>
                </a:solidFill>
                <a:latin typeface="Comfortaa"/>
                <a:ea typeface="Comfortaa"/>
                <a:cs typeface="Comfortaa"/>
                <a:sym typeface="Comfortaa"/>
              </a:rPr>
              <a:t>Host: 4 levels, GPA → HPA</a:t>
            </a:r>
            <a:endParaRPr i="0" sz="1400" u="none" cap="none" strike="noStrike">
              <a:solidFill>
                <a:schemeClr val="dk1"/>
              </a:solidFill>
              <a:latin typeface="Comfortaa"/>
              <a:ea typeface="Comfortaa"/>
              <a:cs typeface="Comfortaa"/>
              <a:sym typeface="Comfortaa"/>
            </a:endParaRPr>
          </a:p>
          <a:p>
            <a:pPr indent="-175768" lvl="0" marL="175768" marR="0" rtl="0" algn="l">
              <a:lnSpc>
                <a:spcPct val="150000"/>
              </a:lnSpc>
              <a:spcBef>
                <a:spcPts val="0"/>
              </a:spcBef>
              <a:spcAft>
                <a:spcPts val="0"/>
              </a:spcAft>
              <a:buClr>
                <a:srgbClr val="1C2230"/>
              </a:buClr>
              <a:buSzPts val="1400"/>
              <a:buFont typeface="Comfortaa"/>
              <a:buChar char="•"/>
            </a:pPr>
            <a:r>
              <a:rPr i="0" lang="en-US" sz="1400" u="none" cap="none" strike="noStrike">
                <a:solidFill>
                  <a:srgbClr val="1C2230"/>
                </a:solidFill>
                <a:latin typeface="Comfortaa"/>
                <a:ea typeface="Comfortaa"/>
                <a:cs typeface="Comfortaa"/>
                <a:sym typeface="Comfortaa"/>
              </a:rPr>
              <a:t>Empty IOTLB, no walk cache</a:t>
            </a:r>
            <a:endParaRPr i="0" sz="1400" u="none" cap="none" strike="noStrike">
              <a:solidFill>
                <a:schemeClr val="dk1"/>
              </a:solidFill>
              <a:latin typeface="Comfortaa"/>
              <a:ea typeface="Comfortaa"/>
              <a:cs typeface="Comfortaa"/>
              <a:sym typeface="Comfortaa"/>
            </a:endParaRPr>
          </a:p>
        </p:txBody>
      </p:sp>
      <p:sp>
        <p:nvSpPr>
          <p:cNvPr id="623" name="Google Shape;623;p48"/>
          <p:cNvSpPr/>
          <p:nvPr/>
        </p:nvSpPr>
        <p:spPr>
          <a:xfrm>
            <a:off x="4956493" y="1877058"/>
            <a:ext cx="6608635" cy="1689523"/>
          </a:xfrm>
          <a:prstGeom prst="rect">
            <a:avLst/>
          </a:prstGeom>
          <a:noFill/>
          <a:ln>
            <a:noFill/>
          </a:ln>
        </p:spPr>
        <p:txBody>
          <a:bodyPr anchorCtr="0" anchor="t" bIns="0" lIns="0" spcFirstLastPara="1" rIns="0" wrap="square" tIns="0">
            <a:noAutofit/>
          </a:bodyPr>
          <a:lstStyle/>
          <a:p>
            <a:pPr indent="-225107" lvl="0" marL="225107" marR="0" rtl="0" algn="l">
              <a:lnSpc>
                <a:spcPct val="150000"/>
              </a:lnSpc>
              <a:spcBef>
                <a:spcPts val="0"/>
              </a:spcBef>
              <a:spcAft>
                <a:spcPts val="0"/>
              </a:spcAft>
              <a:buClr>
                <a:srgbClr val="1C2230"/>
              </a:buClr>
              <a:buSzPts val="1600"/>
              <a:buFont typeface="Comfortaa"/>
              <a:buAutoNum type="arabicPeriod"/>
            </a:pPr>
            <a:r>
              <a:rPr i="0" lang="en-US" sz="1600" u="none" cap="none" strike="noStrike">
                <a:solidFill>
                  <a:srgbClr val="1C2230"/>
                </a:solidFill>
                <a:latin typeface="Comfortaa"/>
                <a:ea typeface="Comfortaa"/>
                <a:cs typeface="Comfortaa"/>
                <a:sym typeface="Comfortaa"/>
              </a:rPr>
              <a:t>How many memory accesses to translate one IOVA?</a:t>
            </a:r>
            <a:endParaRPr i="0" sz="1600" u="none" cap="none" strike="noStrike">
              <a:solidFill>
                <a:schemeClr val="dk1"/>
              </a:solidFill>
              <a:latin typeface="Comfortaa"/>
              <a:ea typeface="Comfortaa"/>
              <a:cs typeface="Comfortaa"/>
              <a:sym typeface="Comfortaa"/>
            </a:endParaRPr>
          </a:p>
          <a:p>
            <a:pPr indent="-225107" lvl="0" marL="225107" marR="0" rtl="0" algn="l">
              <a:lnSpc>
                <a:spcPct val="150000"/>
              </a:lnSpc>
              <a:spcBef>
                <a:spcPts val="0"/>
              </a:spcBef>
              <a:spcAft>
                <a:spcPts val="0"/>
              </a:spcAft>
              <a:buClr>
                <a:srgbClr val="1C2230"/>
              </a:buClr>
              <a:buSzPts val="1600"/>
              <a:buFont typeface="Comfortaa"/>
              <a:buAutoNum type="arabicPeriod"/>
            </a:pPr>
            <a:r>
              <a:rPr i="0" lang="en-US" sz="1600" u="none" cap="none" strike="noStrike">
                <a:solidFill>
                  <a:srgbClr val="1C2230"/>
                </a:solidFill>
                <a:latin typeface="Comfortaa"/>
                <a:ea typeface="Comfortaa"/>
                <a:cs typeface="Comfortaa"/>
                <a:sym typeface="Comfortaa"/>
              </a:rPr>
              <a:t>Same question with 2 MB pages on the host side.</a:t>
            </a:r>
            <a:endParaRPr i="0" sz="1600" u="none" cap="none" strike="noStrike">
              <a:solidFill>
                <a:schemeClr val="dk1"/>
              </a:solidFill>
              <a:latin typeface="Comfortaa"/>
              <a:ea typeface="Comfortaa"/>
              <a:cs typeface="Comfortaa"/>
              <a:sym typeface="Comfortaa"/>
            </a:endParaRPr>
          </a:p>
          <a:p>
            <a:pPr indent="-225107" lvl="0" marL="225107" marR="0" rtl="0" algn="l">
              <a:lnSpc>
                <a:spcPct val="150000"/>
              </a:lnSpc>
              <a:spcBef>
                <a:spcPts val="0"/>
              </a:spcBef>
              <a:spcAft>
                <a:spcPts val="0"/>
              </a:spcAft>
              <a:buClr>
                <a:srgbClr val="1C2230"/>
              </a:buClr>
              <a:buSzPts val="1600"/>
              <a:buFont typeface="Comfortaa"/>
              <a:buAutoNum type="arabicPeriod"/>
            </a:pPr>
            <a:r>
              <a:rPr i="0" lang="en-US" sz="1600" u="none" cap="none" strike="noStrike">
                <a:solidFill>
                  <a:srgbClr val="1C2230"/>
                </a:solidFill>
                <a:latin typeface="Comfortaa"/>
                <a:ea typeface="Comfortaa"/>
                <a:cs typeface="Comfortaa"/>
                <a:sym typeface="Comfortaa"/>
              </a:rPr>
              <a:t>Why does an IOTLB miss hurt a NIC more than a TLB miss hurts a CPU?</a:t>
            </a:r>
            <a:endParaRPr i="0" sz="1600" u="none" cap="none" strike="noStrike">
              <a:solidFill>
                <a:schemeClr val="dk1"/>
              </a:solidFill>
              <a:latin typeface="Comfortaa"/>
              <a:ea typeface="Comfortaa"/>
              <a:cs typeface="Comfortaa"/>
              <a:sym typeface="Comfortaa"/>
            </a:endParaRPr>
          </a:p>
        </p:txBody>
      </p:sp>
      <p:sp>
        <p:nvSpPr>
          <p:cNvPr id="624" name="Google Shape;624;p48"/>
          <p:cNvSpPr/>
          <p:nvPr/>
        </p:nvSpPr>
        <p:spPr>
          <a:xfrm>
            <a:off x="812800" y="6238242"/>
            <a:ext cx="10883392"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673"/>
              </a:buClr>
              <a:buSzPts val="1200"/>
              <a:buFont typeface="IBM Plex Sans"/>
              <a:buNone/>
            </a:pPr>
            <a:r>
              <a:rPr i="0" lang="en-US" sz="1200" u="none" cap="none" strike="noStrike">
                <a:solidFill>
                  <a:srgbClr val="5F6673"/>
                </a:solidFill>
                <a:latin typeface="Comfortaa"/>
                <a:ea typeface="Comfortaa"/>
                <a:cs typeface="Comfortaa"/>
                <a:sym typeface="Comfortaa"/>
              </a:rPr>
              <a:t>Hint for 1: every guest table pointer is a GPA</a:t>
            </a:r>
            <a:endParaRPr i="0" sz="1200" u="none" cap="none" strike="noStrike">
              <a:solidFill>
                <a:schemeClr val="dk1"/>
              </a:solidFill>
              <a:latin typeface="Comfortaa"/>
              <a:ea typeface="Comfortaa"/>
              <a:cs typeface="Comfortaa"/>
              <a:sym typeface="Comfortaa"/>
            </a:endParaRPr>
          </a:p>
        </p:txBody>
      </p:sp>
    </p:spTree>
  </p:cSld>
  <p:clrMapOvr>
    <a:masterClrMapping/>
  </p:clrMapOvr>
</p:sld>
</file>

<file path=ppt/theme/theme1.xml><?xml version="1.0" encoding="utf-8"?>
<a:theme xmlns:a="http://schemas.openxmlformats.org/drawingml/2006/main" xmlns:r="http://schemas.openxmlformats.org/officeDocument/2006/relationships" name="Device Virtualization: DMA, IOMMU and Address Translation">
  <a:themeElements>
    <a:clrScheme name="Device Virtualization: DMA, IOMMU and Address Translation">
      <a:dk1>
        <a:srgbClr val="1C2230"/>
      </a:dk1>
      <a:lt1>
        <a:srgbClr val="F5F3EE"/>
      </a:lt1>
      <a:dk2>
        <a:srgbClr val="525660"/>
      </a:dk2>
      <a:lt2>
        <a:srgbClr val="DFDEDB"/>
      </a:lt2>
      <a:accent1>
        <a:srgbClr val="B24A17"/>
      </a:accent1>
      <a:accent2>
        <a:srgbClr val="F08A4B"/>
      </a:accent2>
      <a:accent3>
        <a:srgbClr val="5F6673"/>
      </a:accent3>
      <a:accent4>
        <a:srgbClr val="C9C4B8"/>
      </a:accent4>
      <a:accent5>
        <a:srgbClr val="9AA0A6"/>
      </a:accent5>
      <a:accent6>
        <a:srgbClr val="73767C"/>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vice Virtualization: DMA, IOMMU and Address Translation">
  <a:themeElements>
    <a:clrScheme name="Device Virtualization: DMA, IOMMU and Address Translation">
      <a:dk1>
        <a:srgbClr val="1C2230"/>
      </a:dk1>
      <a:lt1>
        <a:srgbClr val="F5F3EE"/>
      </a:lt1>
      <a:dk2>
        <a:srgbClr val="525660"/>
      </a:dk2>
      <a:lt2>
        <a:srgbClr val="DFDEDB"/>
      </a:lt2>
      <a:accent1>
        <a:srgbClr val="B24A17"/>
      </a:accent1>
      <a:accent2>
        <a:srgbClr val="F08A4B"/>
      </a:accent2>
      <a:accent3>
        <a:srgbClr val="5F6673"/>
      </a:accent3>
      <a:accent4>
        <a:srgbClr val="C9C4B8"/>
      </a:accent4>
      <a:accent5>
        <a:srgbClr val="9AA0A6"/>
      </a:accent5>
      <a:accent6>
        <a:srgbClr val="73767C"/>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